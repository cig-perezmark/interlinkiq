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6"/>
  </p:notesMasterIdLst>
  <p:sldIdLst>
    <p:sldId id="256" r:id="rId2"/>
    <p:sldId id="261" r:id="rId3"/>
    <p:sldId id="354" r:id="rId4"/>
    <p:sldId id="357" r:id="rId5"/>
    <p:sldId id="296" r:id="rId6"/>
    <p:sldId id="359" r:id="rId7"/>
    <p:sldId id="358" r:id="rId8"/>
    <p:sldId id="360" r:id="rId9"/>
    <p:sldId id="375" r:id="rId10"/>
    <p:sldId id="361" r:id="rId11"/>
    <p:sldId id="376" r:id="rId12"/>
    <p:sldId id="362" r:id="rId13"/>
    <p:sldId id="363" r:id="rId14"/>
    <p:sldId id="377" r:id="rId1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87BBE2-F8AB-4FFC-AB9A-B3BEF387CB69}">
  <a:tblStyle styleId="{7287BBE2-F8AB-4FFC-AB9A-B3BEF387CB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78" autoAdjust="0"/>
  </p:normalViewPr>
  <p:slideViewPr>
    <p:cSldViewPr snapToGrid="0">
      <p:cViewPr varScale="1">
        <p:scale>
          <a:sx n="89" d="100"/>
          <a:sy n="89" d="100"/>
        </p:scale>
        <p:origin x="84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099731c88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7099731c88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8243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1932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3449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5745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9183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2642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733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9151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31566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986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8456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2384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 rot="1084339">
            <a:off x="-2572063" y="3352662"/>
            <a:ext cx="5960266" cy="4112640"/>
          </a:xfrm>
          <a:custGeom>
            <a:avLst/>
            <a:gdLst/>
            <a:ahLst/>
            <a:cxnLst/>
            <a:rect l="l" t="t" r="r" b="b"/>
            <a:pathLst>
              <a:path w="11928886" h="8231043" extrusionOk="0">
                <a:moveTo>
                  <a:pt x="0" y="0"/>
                </a:moveTo>
                <a:lnTo>
                  <a:pt x="11928886" y="0"/>
                </a:lnTo>
                <a:lnTo>
                  <a:pt x="11928886" y="8231043"/>
                </a:lnTo>
                <a:lnTo>
                  <a:pt x="0" y="8231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 rot="137437" flipH="1">
            <a:off x="7650251" y="197886"/>
            <a:ext cx="3367394" cy="2736773"/>
          </a:xfrm>
          <a:custGeom>
            <a:avLst/>
            <a:gdLst/>
            <a:ahLst/>
            <a:cxnLst/>
            <a:rect l="l" t="t" r="r" b="b"/>
            <a:pathLst>
              <a:path w="6729406" h="5469172" extrusionOk="0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25"/>
          <p:cNvSpPr txBox="1"/>
          <p:nvPr/>
        </p:nvSpPr>
        <p:spPr>
          <a:xfrm>
            <a:off x="1604300" y="532125"/>
            <a:ext cx="8217900" cy="25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004AAD"/>
              </a:solidFill>
              <a:highlight>
                <a:srgbClr val="00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4549" y="2571749"/>
            <a:ext cx="4615175" cy="171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5250" y="532126"/>
            <a:ext cx="5144146" cy="171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/>
        </p:nvSpPr>
        <p:spPr>
          <a:xfrm>
            <a:off x="2463994" y="2146350"/>
            <a:ext cx="3677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Powered by</a:t>
            </a:r>
            <a:endParaRPr sz="2500"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SCOPE</a:t>
            </a: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65287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QMS Format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1193233"/>
            <a:ext cx="7957031" cy="332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Page Layout and 1</a:t>
            </a:r>
            <a:r>
              <a:rPr lang="en-US" sz="1600" b="1" baseline="30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st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Page Header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6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1600" b="1" baseline="30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nd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Page Header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6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Components</a:t>
            </a:r>
          </a:p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PH" sz="20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PH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	Content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PH" sz="16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	Change</a:t>
            </a:r>
            <a:r>
              <a:rPr lang="en-PH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History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PH" sz="16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	Standard Worksheet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PART 1</a:t>
            </a:r>
            <a:endParaRPr lang="en-PH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1488236"/>
            <a:ext cx="76356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2234182"/>
            <a:ext cx="836181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3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Page Layout and 1</a:t>
            </a:r>
            <a:r>
              <a:rPr lang="en-US" sz="3200" baseline="30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st</a:t>
            </a:r>
            <a:r>
              <a:rPr lang="en-US" sz="3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Page Header</a:t>
            </a:r>
            <a:endParaRPr lang="en-US" sz="3200" b="0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82568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PAGE LAYOUT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7A4FDD-5F3D-23D3-D498-BF35F338C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93099"/>
              </p:ext>
            </p:extLst>
          </p:nvPr>
        </p:nvGraphicFramePr>
        <p:xfrm>
          <a:off x="1337310" y="1011213"/>
          <a:ext cx="6732270" cy="29515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23210">
                  <a:extLst>
                    <a:ext uri="{9D8B030D-6E8A-4147-A177-3AD203B41FA5}">
                      <a16:colId xmlns:a16="http://schemas.microsoft.com/office/drawing/2014/main" val="1413055731"/>
                    </a:ext>
                  </a:extLst>
                </a:gridCol>
                <a:gridCol w="3909060">
                  <a:extLst>
                    <a:ext uri="{9D8B030D-6E8A-4147-A177-3AD203B41FA5}">
                      <a16:colId xmlns:a16="http://schemas.microsoft.com/office/drawing/2014/main" val="3758146270"/>
                    </a:ext>
                  </a:extLst>
                </a:gridCol>
              </a:tblGrid>
              <a:tr h="587502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Font style, size and color</a:t>
                      </a:r>
                      <a:endParaRPr lang="en-PH" sz="16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Arial, 11 (for header);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Arial, 10 (for the body), Justify;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Black text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848169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Line Spacing</a:t>
                      </a:r>
                      <a:endParaRPr lang="en-PH" sz="16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Before and after: 0”;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1.15 spacing</a:t>
                      </a:r>
                      <a:endParaRPr lang="en-PH" sz="16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898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Paper Size</a:t>
                      </a:r>
                      <a:endParaRPr lang="en-PH" sz="16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8.5” x 11” (US Letter)</a:t>
                      </a:r>
                      <a:endParaRPr lang="en-US" sz="16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413487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Page Margins</a:t>
                      </a:r>
                      <a:endParaRPr lang="en-PH" sz="16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Top, sides, bottom 0.75”</a:t>
                      </a:r>
                      <a:endParaRPr lang="en-US" sz="16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997253"/>
                  </a:ext>
                </a:extLst>
              </a:tr>
              <a:tr h="367420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PH" sz="16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Header/Footer Margins</a:t>
                      </a:r>
                      <a:endParaRPr lang="en-PH" sz="16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PH" sz="1600" u="none" strike="noStrike" dirty="0">
                          <a:solidFill>
                            <a:schemeClr val="bg2"/>
                          </a:solidFill>
                          <a:effectLst/>
                          <a:highlight>
                            <a:srgbClr val="FFFFFF"/>
                          </a:highlight>
                          <a:latin typeface="Montserrat" panose="00000500000000000000" pitchFamily="2" charset="0"/>
                        </a:rPr>
                        <a:t> 0.5”</a:t>
                      </a:r>
                      <a:endParaRPr lang="en-PH" sz="1600" b="0" i="0" u="none" strike="noStrike" dirty="0">
                        <a:solidFill>
                          <a:schemeClr val="bg2"/>
                        </a:solidFill>
                        <a:effectLst/>
                        <a:highlight>
                          <a:srgbClr val="FFFFFF"/>
                        </a:highlight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019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66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906657"/>
            <a:ext cx="8523522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50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Copy and paste the CIG PX header template inside the header section.</a:t>
            </a:r>
          </a:p>
          <a:p>
            <a:pPr marL="457200" marR="0" lvl="0" indent="-450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Table Tools &gt; Layout &gt; AutoFit window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1ST PAGE HEADER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7AAE1E-E02F-E552-2B9D-C854F26BC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625" y="1737623"/>
            <a:ext cx="5256750" cy="309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132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110484" y="915241"/>
            <a:ext cx="3307086" cy="364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Company Logo: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Not altered/warped.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Should fit in the box.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Title: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Based on the standard or regulation used.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Doc. No.: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Company Initials-QMS-XXX.PX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Company Name and Address: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Based on the legal Enterprise details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1ST PAGE HEADER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97109-6040-6919-9ED8-8678879821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231" y="1040970"/>
            <a:ext cx="5215705" cy="2670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Google Shape;201;p11">
            <a:extLst>
              <a:ext uri="{FF2B5EF4-FFF2-40B4-BE49-F238E27FC236}">
                <a16:creationId xmlns:a16="http://schemas.microsoft.com/office/drawing/2014/main" id="{AB347714-4E31-17C6-5684-3EC359659629}"/>
              </a:ext>
            </a:extLst>
          </p:cNvPr>
          <p:cNvSpPr txBox="1"/>
          <p:nvPr/>
        </p:nvSpPr>
        <p:spPr>
          <a:xfrm>
            <a:off x="3712844" y="3719844"/>
            <a:ext cx="5320672" cy="1384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Page Number: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Insert &gt; Page Number &gt; Current Position &gt; Set to "Page X of Y"</a:t>
            </a: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6. Department: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Compliance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B6310C-3E65-97B0-75D1-763A34AF7835}"/>
              </a:ext>
            </a:extLst>
          </p:cNvPr>
          <p:cNvSpPr/>
          <p:nvPr/>
        </p:nvSpPr>
        <p:spPr>
          <a:xfrm>
            <a:off x="3712844" y="1040969"/>
            <a:ext cx="5220000" cy="756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39932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110484" y="915241"/>
            <a:ext cx="3307086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Originated by: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Name: </a:t>
            </a:r>
            <a:r>
              <a:rPr lang="en-US" sz="1200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Arnel</a:t>
            </a: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Ryan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Signature: </a:t>
            </a:r>
            <a:r>
              <a:rPr lang="en-US" sz="1200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Arnel's</a:t>
            </a: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electronic signature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Title: PCQI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Date: Current date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Reviewed by: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Based on the designated personnel of the Enterprise.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Approved by: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Based on the designated personnel of the Enterprise.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1ST PAGE HEADER</a:t>
            </a:r>
          </a:p>
        </p:txBody>
      </p:sp>
      <p:sp>
        <p:nvSpPr>
          <p:cNvPr id="8" name="Google Shape;201;p11">
            <a:extLst>
              <a:ext uri="{FF2B5EF4-FFF2-40B4-BE49-F238E27FC236}">
                <a16:creationId xmlns:a16="http://schemas.microsoft.com/office/drawing/2014/main" id="{AB347714-4E31-17C6-5684-3EC359659629}"/>
              </a:ext>
            </a:extLst>
          </p:cNvPr>
          <p:cNvSpPr txBox="1"/>
          <p:nvPr/>
        </p:nvSpPr>
        <p:spPr>
          <a:xfrm>
            <a:off x="3712844" y="3799854"/>
            <a:ext cx="5320672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Date: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Format in YYYYMMDD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8AF9A7-A3E9-9F64-C9BB-16F9C4877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050" y="1019696"/>
            <a:ext cx="5237784" cy="267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A2BB957-EC68-BD87-5F81-1712D366450B}"/>
              </a:ext>
            </a:extLst>
          </p:cNvPr>
          <p:cNvSpPr/>
          <p:nvPr/>
        </p:nvSpPr>
        <p:spPr>
          <a:xfrm>
            <a:off x="4217670" y="1749628"/>
            <a:ext cx="4772324" cy="15422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49046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110484" y="915241"/>
            <a:ext cx="3581406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Originated by: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u="sng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Document Originator – FS/QA/QC Personnel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Creates or revises documents.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Ensures the implementation of document control systems.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c) Identifies the need for new documents or modifications to existing approved versions.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10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Reviewed by: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u="sng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Reviewer – QMS Management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Reviews documents or their revisions for accuracy and implementation.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Recommends final approval, disapproval, or revision of documents.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c) Ensures resources are available to meet the requirements specified in the documents.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1ST PAGE HEADER</a:t>
            </a:r>
          </a:p>
        </p:txBody>
      </p:sp>
      <p:sp>
        <p:nvSpPr>
          <p:cNvPr id="8" name="Google Shape;201;p11">
            <a:extLst>
              <a:ext uri="{FF2B5EF4-FFF2-40B4-BE49-F238E27FC236}">
                <a16:creationId xmlns:a16="http://schemas.microsoft.com/office/drawing/2014/main" id="{AB347714-4E31-17C6-5684-3EC359659629}"/>
              </a:ext>
            </a:extLst>
          </p:cNvPr>
          <p:cNvSpPr txBox="1"/>
          <p:nvPr/>
        </p:nvSpPr>
        <p:spPr>
          <a:xfrm>
            <a:off x="4109078" y="2823569"/>
            <a:ext cx="4793164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Approved by: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u="sng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Approver – Senior Management/Company Officer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Holds final approval authority.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Represents the company's acceptance of liability.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c) Ensures funds and resources are available to meet the requirements specified in the documents.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8AF9A7-A3E9-9F64-C9BB-16F9C48778D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489" t="27325" b="15796"/>
          <a:stretch/>
        </p:blipFill>
        <p:spPr>
          <a:xfrm>
            <a:off x="4091940" y="1063828"/>
            <a:ext cx="4793164" cy="15193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6728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110484" y="984691"/>
            <a:ext cx="3307086" cy="3208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Originated by: (FS/QA/QC)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Reviewed by: (QMS Mgmt.)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Approved by: (C-Level Mgmt.)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Revision Date: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Font: Bold, Align Center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Table Layout: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Align Center (text is horizontally and vertically centered within the cell)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1ST PAGE HEADER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59FF4C-1EA8-05BB-5150-71FA5634E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348" y="1134617"/>
            <a:ext cx="5224144" cy="267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A2BB957-EC68-BD87-5F81-1712D366450B}"/>
              </a:ext>
            </a:extLst>
          </p:cNvPr>
          <p:cNvSpPr/>
          <p:nvPr/>
        </p:nvSpPr>
        <p:spPr>
          <a:xfrm>
            <a:off x="4073150" y="1858389"/>
            <a:ext cx="1044000" cy="190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6300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110484" y="778081"/>
            <a:ext cx="3307086" cy="445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Revision Date:</a:t>
            </a:r>
            <a:endParaRPr lang="en-US" sz="1000" u="sng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"Originated by" and "Revision Date" should be the same.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Revision Date = Current Date.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5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Effective Date: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The date the document is signed and approved.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5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Publication Date: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The date the document is published and distributed to initiate training.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5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Implementation Date: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The date the document is distributed and the training is completed.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1ST PAGE HEADER</a:t>
            </a:r>
          </a:p>
        </p:txBody>
      </p:sp>
      <p:sp>
        <p:nvSpPr>
          <p:cNvPr id="8" name="Google Shape;201;p11">
            <a:extLst>
              <a:ext uri="{FF2B5EF4-FFF2-40B4-BE49-F238E27FC236}">
                <a16:creationId xmlns:a16="http://schemas.microsoft.com/office/drawing/2014/main" id="{AB347714-4E31-17C6-5684-3EC359659629}"/>
              </a:ext>
            </a:extLst>
          </p:cNvPr>
          <p:cNvSpPr txBox="1"/>
          <p:nvPr/>
        </p:nvSpPr>
        <p:spPr>
          <a:xfrm>
            <a:off x="3646170" y="3981751"/>
            <a:ext cx="4793164" cy="106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Supersedes: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ORIGINAL – initial issuance of the document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Last Revision Date – for nth number of revision/s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FD785B-127F-6949-2780-8906A5C1F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155" y="995270"/>
            <a:ext cx="5231389" cy="267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47374E-54EB-AB5A-4B53-2E601A2917CC}"/>
              </a:ext>
            </a:extLst>
          </p:cNvPr>
          <p:cNvSpPr/>
          <p:nvPr/>
        </p:nvSpPr>
        <p:spPr>
          <a:xfrm>
            <a:off x="4215764" y="3235529"/>
            <a:ext cx="4752000" cy="396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24020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110484" y="1042566"/>
            <a:ext cx="3307086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Table Layout: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Align Top Left (text is aligned to the top left corner of the cell)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1ST PAGE HEADER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4C7FC1-D46E-508F-C265-C426BB8F4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870" y="1149516"/>
            <a:ext cx="5231100" cy="267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A2BB957-EC68-BD87-5F81-1712D366450B}"/>
              </a:ext>
            </a:extLst>
          </p:cNvPr>
          <p:cNvSpPr/>
          <p:nvPr/>
        </p:nvSpPr>
        <p:spPr>
          <a:xfrm>
            <a:off x="5084820" y="1137939"/>
            <a:ext cx="3744000" cy="266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88796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PART 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lang="en-PH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1488236"/>
            <a:ext cx="76356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2234182"/>
            <a:ext cx="836181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3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3200" baseline="30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nd</a:t>
            </a:r>
            <a:r>
              <a:rPr lang="en-US" sz="3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Page Header</a:t>
            </a:r>
            <a:endParaRPr lang="en-US" sz="3200" b="0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55206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110484" y="915241"/>
            <a:ext cx="3307086" cy="364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Company Logo: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Not altered/warped.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Should fit in the box.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Title: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Based on the standard or regulation used.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Doc. No.: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Company Initials-QMS-XXX.PX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Company Name and Address: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Based on the legal Enterprise details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2ND PAGE HEADER</a:t>
            </a:r>
          </a:p>
        </p:txBody>
      </p:sp>
      <p:sp>
        <p:nvSpPr>
          <p:cNvPr id="8" name="Google Shape;201;p11">
            <a:extLst>
              <a:ext uri="{FF2B5EF4-FFF2-40B4-BE49-F238E27FC236}">
                <a16:creationId xmlns:a16="http://schemas.microsoft.com/office/drawing/2014/main" id="{AB347714-4E31-17C6-5684-3EC359659629}"/>
              </a:ext>
            </a:extLst>
          </p:cNvPr>
          <p:cNvSpPr txBox="1"/>
          <p:nvPr/>
        </p:nvSpPr>
        <p:spPr>
          <a:xfrm>
            <a:off x="3712844" y="2245374"/>
            <a:ext cx="5320672" cy="154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Page Number: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Insert &gt; Page Number &gt; Current Position &gt; Set to "Page X of Y“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6. Dept.: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Compliance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4CF6FE-8E92-0719-C924-F9EB6BF83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850" y="1111706"/>
            <a:ext cx="5299139" cy="90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5875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110484" y="1262482"/>
            <a:ext cx="3307086" cy="1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Logo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Align Center (image is horizontally and vertically centered within the cell.)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Image set at ‘In line with text’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2ND PAGE 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4CF6FE-8E92-0719-C924-F9EB6BF83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850" y="1111706"/>
            <a:ext cx="5299139" cy="90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Google Shape;201;p11">
            <a:extLst>
              <a:ext uri="{FF2B5EF4-FFF2-40B4-BE49-F238E27FC236}">
                <a16:creationId xmlns:a16="http://schemas.microsoft.com/office/drawing/2014/main" id="{1FC7AA39-61C5-6B5C-8409-22D7BB88768A}"/>
              </a:ext>
            </a:extLst>
          </p:cNvPr>
          <p:cNvSpPr txBox="1"/>
          <p:nvPr/>
        </p:nvSpPr>
        <p:spPr>
          <a:xfrm>
            <a:off x="4653325" y="2045973"/>
            <a:ext cx="3307086" cy="263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Title:</a:t>
            </a:r>
          </a:p>
          <a:p>
            <a:pPr marL="6350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Doc. No.:</a:t>
            </a:r>
          </a:p>
          <a:p>
            <a:pPr marL="6350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Name and Address</a:t>
            </a:r>
          </a:p>
          <a:p>
            <a:pPr marL="6350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Page Number</a:t>
            </a:r>
          </a:p>
          <a:p>
            <a:pPr marL="6350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Dept.: </a:t>
            </a: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(abbreviation)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Table Layout: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Align Top Left (text is aligned to the top left corner of the cell)</a:t>
            </a:r>
          </a:p>
        </p:txBody>
      </p:sp>
    </p:spTree>
    <p:extLst>
      <p:ext uri="{BB962C8B-B14F-4D97-AF65-F5344CB8AC3E}">
        <p14:creationId xmlns:p14="http://schemas.microsoft.com/office/powerpoint/2010/main" val="2845673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790</Words>
  <Application>Microsoft Office PowerPoint</Application>
  <PresentationFormat>On-screen Show (16:9)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Consultare Inc. Group</dc:creator>
  <cp:lastModifiedBy>HP</cp:lastModifiedBy>
  <cp:revision>31</cp:revision>
  <dcterms:modified xsi:type="dcterms:W3CDTF">2024-08-02T02:49:39Z</dcterms:modified>
</cp:coreProperties>
</file>