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66" r:id="rId4"/>
    <p:sldId id="269" r:id="rId5"/>
    <p:sldId id="270" r:id="rId6"/>
    <p:sldId id="271" r:id="rId7"/>
    <p:sldId id="267" r:id="rId8"/>
    <p:sldId id="272" r:id="rId9"/>
    <p:sldId id="274" r:id="rId10"/>
    <p:sldId id="276"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 id="292" r:id="rId27"/>
  </p:sldIdLst>
  <p:sldSz cx="18288000" cy="10287000"/>
  <p:notesSz cx="6858000" cy="9144000"/>
  <p:embeddedFontLst>
    <p:embeddedFont>
      <p:font typeface="Barlow" pitchFamily="2" charset="77"/>
      <p:regular r:id="rId29"/>
      <p:bold r:id="rId30"/>
      <p:italic r:id="rId31"/>
      <p:boldItalic r:id="rId32"/>
    </p:embeddedFont>
    <p:embeddedFont>
      <p:font typeface="Montserrat" pitchFamily="2" charset="77"/>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i9IVGB3E3YdX/lPula9OOnJIw1L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94597"/>
  </p:normalViewPr>
  <p:slideViewPr>
    <p:cSldViewPr snapToGrid="0">
      <p:cViewPr varScale="1">
        <p:scale>
          <a:sx n="76" d="100"/>
          <a:sy n="76" d="100"/>
        </p:scale>
        <p:origin x="760" y="10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0C377E14-5AA4-F44E-27B9-D0D9ECC6CF2E}"/>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FF19BE8-1703-7A90-41D6-D811C390D4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1F99DDC5-2BBF-A0AF-1A4A-B090148FC4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93656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B3509CC-2909-25E3-198A-7FBAE9023B88}"/>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3A7C6F53-3DB9-ADAB-4D1B-5D6A7F40BF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D2935C2B-448D-8AD8-C6B5-2A3505A769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637764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1FE5EFB6-A474-1B32-8E00-8F9C3F0342CF}"/>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1C58BBD-0002-79A5-8712-5945C3DF7E2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920815A3-0D30-8525-314B-34953FED95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4042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68121FBF-1703-6E42-9EB3-1EF4E6AB69E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3D84B26-665A-7894-366E-5D2192A73E2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BB3DE023-DFC5-1DAF-D797-0370449740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567536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E3CF236-7325-318A-ADF6-91E51FB33354}"/>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2C21E873-1465-96D3-4EDC-FB8FA82C0D1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2314E266-D84C-434D-5002-7AA73B6E56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57152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69BC20D8-0D24-656D-DA13-2E91A13BCC5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A4D75AA-0610-8B9E-C672-417330D49E9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6AA6BD2F-21B9-4D0B-EFE6-D98CF44BEC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3168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7CD9420-43B2-E372-B44F-25A2C36E4FB8}"/>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566C645-DB7D-F850-D0B6-87CE6AB451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06DB429B-B878-77FF-B948-61CD13CFA4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42464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6EECC27-DA94-1F7D-62BC-B0E203BC862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2A10DE21-E089-CF23-746E-79E2B61D749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970092A1-FA67-9BB8-1CB2-359D99A80C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72842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66B307D-8415-8C2D-AE7B-21C6766D5D6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AF8B3E33-B149-96D2-6341-5DDD8566447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C738FAF0-7895-3B5D-F859-B198755F03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794204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24EAF40-32A4-9E9D-EEB1-117557502F6E}"/>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BE9C1263-D719-EC90-613E-53823507175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BC2ED216-F622-6CDC-11EA-0F0C72A31F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6737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CCCAB205-FD4E-6ABA-3950-FD65E5BA3217}"/>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CFD4EAA5-7AE1-1191-1E16-4A663A0BD7F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B82C8B8C-261F-B198-FABF-B3636EB4CD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52065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63D07FCD-DCF0-8F7F-BBDF-315C1C6C0D5C}"/>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FB939FD-3B34-06FA-0E32-0DC940F079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17A2A251-A1E8-02D9-AAF6-66C6FFD2D9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12221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11711620-5F96-67EC-F1DA-F985D1502FEC}"/>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5C9B203-4755-C30A-E26E-B14EC5221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ACE75F3A-2EA4-2F36-7518-EDFE0B96F4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893883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E4F89561-9691-A84F-4D0C-9CEFF20E5C5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5BF0691D-448A-7FF4-0332-CC6E4E67D91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E3B07689-6825-E6C2-4528-6A8828EAF3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954775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6F89649-72BF-61AC-5A44-73CD9D2E9D9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A04824DC-2F1A-5667-FDC9-54CF35BD2C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FE92F2A6-C80D-CC20-CA63-BD58B8E0BF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48148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9C95919-350A-9C5E-55AE-D8B0F874FB94}"/>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BEC37248-2A8C-2BAC-8DF3-03401473FD1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E64EBC95-FCBC-7461-CBB3-37F7F063C3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7334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4F87AD2-CFC9-6AC8-FDC1-FE0FFD682530}"/>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2A761E6-57CB-6E44-4A41-4E639F50389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7DAAD540-5295-3BCE-6186-ECAA5273C3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867089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7EAC62C-CBE0-1B2C-71B7-B31436C8B1EE}"/>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B623C53C-2B93-C28A-C378-726F49E3306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C1B95758-C007-B76C-0A55-44F38671BB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914102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E2D27A4-AACF-B0A9-2194-273D552E8F6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83AFB2C-E4AE-E5C1-B337-DBC43153D2A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E7B78FC9-B432-2456-34C6-DFA69341C9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4004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38126E8C-0D70-A62F-16C2-8DA862E4DF29}"/>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25040A21-53AB-523F-E8DF-47A18C2CCA6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9EE6D921-81D9-9EAC-384D-42DFB68162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66275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29CF059-2502-DCB2-3F32-0ABE200CF78F}"/>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B1BA9C3A-1016-4C93-1062-E426641AF0C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53AE3DA0-708B-0C39-2F61-8ED7B373C9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11913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CC491936-D866-5429-9577-75E4ED48A1EF}"/>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1AA63340-B5C5-C685-3DF7-8E93D101DA0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9B17AF9C-B6D6-3607-37FE-636363E513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20895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12D1646-BE28-B398-3B07-CB66D05F79FE}"/>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BE3EFDC-75AF-12A4-D162-B69C9209BC2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0F616D6C-97C1-19F9-6D5F-57E1BA94B2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973684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B97D255-4EA1-06F2-9CA6-471FB12088E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E3CD5347-EEC1-9BB0-CB23-18011CB150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a:extLst>
              <a:ext uri="{FF2B5EF4-FFF2-40B4-BE49-F238E27FC236}">
                <a16:creationId xmlns:a16="http://schemas.microsoft.com/office/drawing/2014/main" id="{76C9C5E9-7639-D8AA-713B-2DBFD721D8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08755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4" name="Google Shape;24;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2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2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2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2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2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4"/>
          <p:cNvSpPr>
            <a:spLocks noGrp="1"/>
          </p:cNvSpPr>
          <p:nvPr>
            <p:ph type="pic" idx="2"/>
          </p:nvPr>
        </p:nvSpPr>
        <p:spPr>
          <a:xfrm>
            <a:off x="1792288" y="612775"/>
            <a:ext cx="5486400" cy="4114800"/>
          </a:xfrm>
          <a:prstGeom prst="rect">
            <a:avLst/>
          </a:prstGeom>
          <a:noFill/>
          <a:ln>
            <a:noFill/>
          </a:ln>
        </p:spPr>
      </p:sp>
      <p:sp>
        <p:nvSpPr>
          <p:cNvPr id="64" name="Google Shape;64;p2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rot="-1111642">
            <a:off x="11936403" y="1068703"/>
            <a:ext cx="10443683" cy="8487866"/>
          </a:xfrm>
          <a:custGeom>
            <a:avLst/>
            <a:gdLst/>
            <a:ahLst/>
            <a:cxnLst/>
            <a:rect l="l" t="t" r="r" b="b"/>
            <a:pathLst>
              <a:path w="10443683" h="8487866" extrusionOk="0">
                <a:moveTo>
                  <a:pt x="0" y="0"/>
                </a:moveTo>
                <a:lnTo>
                  <a:pt x="10443683" y="0"/>
                </a:lnTo>
                <a:lnTo>
                  <a:pt x="10443683" y="8487866"/>
                </a:lnTo>
                <a:lnTo>
                  <a:pt x="0" y="8487866"/>
                </a:lnTo>
                <a:lnTo>
                  <a:pt x="0" y="0"/>
                </a:lnTo>
                <a:close/>
              </a:path>
            </a:pathLst>
          </a:custGeom>
          <a:blipFill rotWithShape="1">
            <a:blip r:embed="rId3">
              <a:alphaModFix amt="50000"/>
            </a:blip>
            <a:stretch>
              <a:fillRect/>
            </a:stretch>
          </a:blipFill>
          <a:ln>
            <a:noFill/>
          </a:ln>
        </p:spPr>
        <p:txBody>
          <a:bodyPr/>
          <a:lstStyle/>
          <a:p>
            <a:endParaRPr lang="en-US"/>
          </a:p>
        </p:txBody>
      </p:sp>
      <p:sp>
        <p:nvSpPr>
          <p:cNvPr id="85" name="Google Shape;85;p1"/>
          <p:cNvSpPr/>
          <p:nvPr/>
        </p:nvSpPr>
        <p:spPr>
          <a:xfrm>
            <a:off x="4318441" y="9258300"/>
            <a:ext cx="9727319" cy="3106962"/>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4">
              <a:alphaModFix/>
            </a:blip>
            <a:stretch>
              <a:fillRect/>
            </a:stretch>
          </a:blipFill>
          <a:ln>
            <a:noFill/>
          </a:ln>
        </p:spPr>
        <p:txBody>
          <a:bodyPr/>
          <a:lstStyle/>
          <a:p>
            <a:endParaRPr lang="en-US"/>
          </a:p>
        </p:txBody>
      </p:sp>
      <p:sp>
        <p:nvSpPr>
          <p:cNvPr id="86" name="Google Shape;86;p1"/>
          <p:cNvSpPr txBox="1"/>
          <p:nvPr/>
        </p:nvSpPr>
        <p:spPr>
          <a:xfrm>
            <a:off x="6375026" y="8351591"/>
            <a:ext cx="3200400" cy="39882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n-US" sz="2499" b="0" i="0" u="none" strike="noStrike" cap="none">
                <a:solidFill>
                  <a:srgbClr val="2E2E2E"/>
                </a:solidFill>
                <a:latin typeface="Montserrat"/>
                <a:ea typeface="Montserrat"/>
                <a:cs typeface="Montserrat"/>
                <a:sym typeface="Montserrat"/>
              </a:rPr>
              <a:t>Established 2013</a:t>
            </a:r>
            <a:endParaRPr sz="1400" b="0" i="0" u="none" strike="noStrike" cap="none">
              <a:solidFill>
                <a:srgbClr val="000000"/>
              </a:solidFill>
              <a:latin typeface="Arial"/>
              <a:ea typeface="Arial"/>
              <a:cs typeface="Arial"/>
              <a:sym typeface="Arial"/>
            </a:endParaRPr>
          </a:p>
        </p:txBody>
      </p:sp>
      <p:grpSp>
        <p:nvGrpSpPr>
          <p:cNvPr id="87" name="Google Shape;87;p1"/>
          <p:cNvGrpSpPr/>
          <p:nvPr/>
        </p:nvGrpSpPr>
        <p:grpSpPr>
          <a:xfrm>
            <a:off x="0" y="1281242"/>
            <a:ext cx="19005175" cy="2913049"/>
            <a:chOff x="0" y="1281242"/>
            <a:chExt cx="19005175" cy="2913049"/>
          </a:xfrm>
        </p:grpSpPr>
        <p:sp>
          <p:nvSpPr>
            <p:cNvPr id="88" name="Google Shape;88;p1"/>
            <p:cNvSpPr txBox="1"/>
            <p:nvPr/>
          </p:nvSpPr>
          <p:spPr>
            <a:xfrm>
              <a:off x="2774575" y="1578190"/>
              <a:ext cx="16230600" cy="1092900"/>
            </a:xfrm>
            <a:prstGeom prst="rect">
              <a:avLst/>
            </a:prstGeom>
            <a:noFill/>
            <a:ln>
              <a:noFill/>
            </a:ln>
          </p:spPr>
          <p:txBody>
            <a:bodyPr spcFirstLastPara="1" wrap="square" lIns="0" tIns="0" rIns="0" bIns="0" anchor="t" anchorCtr="0">
              <a:spAutoFit/>
            </a:bodyPr>
            <a:lstStyle/>
            <a:p>
              <a:pPr marL="0" marR="0" lvl="0" indent="0" algn="l" rtl="0">
                <a:lnSpc>
                  <a:spcPct val="149075"/>
                </a:lnSpc>
                <a:spcBef>
                  <a:spcPts val="0"/>
                </a:spcBef>
                <a:spcAft>
                  <a:spcPts val="0"/>
                </a:spcAft>
                <a:buClr>
                  <a:srgbClr val="000000"/>
                </a:buClr>
                <a:buSzPts val="7000"/>
                <a:buFont typeface="Arial"/>
                <a:buNone/>
              </a:pPr>
              <a:r>
                <a:rPr lang="en-US" sz="7000" b="1" i="0" u="none" strike="noStrike" cap="none" dirty="0">
                  <a:solidFill>
                    <a:srgbClr val="004AAD"/>
                  </a:solidFill>
                  <a:latin typeface="Barlow"/>
                  <a:ea typeface="Barlow"/>
                  <a:cs typeface="Barlow"/>
                  <a:sym typeface="Barlow"/>
                </a:rPr>
                <a:t>CONSULTARE INC. GROUP</a:t>
              </a:r>
              <a:r>
                <a:rPr lang="en-US" sz="7100" b="1" i="0" u="none" strike="noStrike" cap="none" dirty="0">
                  <a:solidFill>
                    <a:srgbClr val="004AAD"/>
                  </a:solidFill>
                  <a:latin typeface="Montserrat"/>
                  <a:ea typeface="Montserrat"/>
                  <a:cs typeface="Montserrat"/>
                  <a:sym typeface="Montserrat"/>
                </a:rPr>
                <a:t> </a:t>
              </a:r>
              <a:endParaRPr sz="500" b="0" i="0" u="none" strike="noStrike" cap="none" dirty="0">
                <a:solidFill>
                  <a:srgbClr val="000000"/>
                </a:solidFill>
                <a:latin typeface="Arial"/>
                <a:ea typeface="Arial"/>
                <a:cs typeface="Arial"/>
                <a:sym typeface="Arial"/>
              </a:endParaRPr>
            </a:p>
          </p:txBody>
        </p:sp>
        <p:sp>
          <p:nvSpPr>
            <p:cNvPr id="89" name="Google Shape;89;p1"/>
            <p:cNvSpPr txBox="1"/>
            <p:nvPr/>
          </p:nvSpPr>
          <p:spPr>
            <a:xfrm>
              <a:off x="2774576" y="2480546"/>
              <a:ext cx="13601700" cy="1077600"/>
            </a:xfrm>
            <a:prstGeom prst="rect">
              <a:avLst/>
            </a:prstGeom>
            <a:noFill/>
            <a:ln>
              <a:noFill/>
            </a:ln>
          </p:spPr>
          <p:txBody>
            <a:bodyPr spcFirstLastPara="1" wrap="square" lIns="0" tIns="0" rIns="0" bIns="0" anchor="t" anchorCtr="0">
              <a:spAutoFit/>
            </a:bodyPr>
            <a:lstStyle/>
            <a:p>
              <a:pPr marL="0" marR="0" lvl="0" indent="0" algn="l" rtl="0">
                <a:lnSpc>
                  <a:spcPct val="149075"/>
                </a:lnSpc>
                <a:spcBef>
                  <a:spcPts val="0"/>
                </a:spcBef>
                <a:spcAft>
                  <a:spcPts val="0"/>
                </a:spcAft>
                <a:buClr>
                  <a:srgbClr val="000000"/>
                </a:buClr>
                <a:buSzPts val="7000"/>
                <a:buFont typeface="Arial"/>
                <a:buNone/>
              </a:pPr>
              <a:r>
                <a:rPr lang="en-US" sz="7000" b="1" i="0" u="none" strike="noStrike" cap="none" dirty="0">
                  <a:solidFill>
                    <a:srgbClr val="00B0F0"/>
                  </a:solidFill>
                  <a:latin typeface="Barlow"/>
                  <a:ea typeface="Barlow"/>
                  <a:cs typeface="Barlow"/>
                  <a:sym typeface="Barlow"/>
                </a:rPr>
                <a:t>A Compliance Co.</a:t>
              </a:r>
              <a:endParaRPr sz="400" b="0" i="0" u="none" strike="noStrike" cap="none" dirty="0">
                <a:solidFill>
                  <a:srgbClr val="000000"/>
                </a:solidFill>
                <a:latin typeface="Barlow"/>
                <a:ea typeface="Barlow"/>
                <a:cs typeface="Barlow"/>
                <a:sym typeface="Barlow"/>
              </a:endParaRPr>
            </a:p>
          </p:txBody>
        </p:sp>
        <p:pic>
          <p:nvPicPr>
            <p:cNvPr id="90" name="Google Shape;90;p1"/>
            <p:cNvPicPr preferRelativeResize="0"/>
            <p:nvPr/>
          </p:nvPicPr>
          <p:blipFill rotWithShape="1">
            <a:blip r:embed="rId5">
              <a:alphaModFix/>
            </a:blip>
            <a:srcRect r="67343"/>
            <a:stretch/>
          </p:blipFill>
          <p:spPr>
            <a:xfrm>
              <a:off x="0" y="1281242"/>
              <a:ext cx="2926976" cy="2913049"/>
            </a:xfrm>
            <a:prstGeom prst="rect">
              <a:avLst/>
            </a:prstGeom>
            <a:noFill/>
            <a:ln>
              <a:noFill/>
            </a:ln>
          </p:spPr>
        </p:pic>
      </p:grpSp>
      <p:sp>
        <p:nvSpPr>
          <p:cNvPr id="91" name="Google Shape;91;p1"/>
          <p:cNvSpPr txBox="1"/>
          <p:nvPr/>
        </p:nvSpPr>
        <p:spPr>
          <a:xfrm>
            <a:off x="2194382" y="5096647"/>
            <a:ext cx="12599493" cy="1551194"/>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499"/>
              <a:buFont typeface="Arial"/>
              <a:buNone/>
            </a:pPr>
            <a:r>
              <a:rPr lang="en-US" sz="7200" b="1" i="0" u="none" strike="noStrike" cap="none" dirty="0">
                <a:solidFill>
                  <a:schemeClr val="bg2">
                    <a:lumMod val="75000"/>
                  </a:schemeClr>
                </a:solidFill>
                <a:latin typeface="Songti SC" panose="02010600040101010101" pitchFamily="2" charset="-122"/>
                <a:ea typeface="Songti SC" panose="02010600040101010101" pitchFamily="2" charset="-122"/>
                <a:sym typeface="Arial"/>
              </a:rPr>
              <a:t>ALL ABOUT AUDIT</a:t>
            </a:r>
            <a:endParaRPr sz="7200" b="1" i="0" u="none" strike="noStrike" cap="none" dirty="0">
              <a:solidFill>
                <a:schemeClr val="bg2">
                  <a:lumMod val="75000"/>
                </a:schemeClr>
              </a:solidFill>
              <a:latin typeface="Songti SC" panose="02010600040101010101" pitchFamily="2" charset="-122"/>
              <a:ea typeface="Songti SC" panose="02010600040101010101" pitchFamily="2" charset="-122"/>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i="0" u="none" strike="noStrike" cap="none" dirty="0">
                <a:solidFill>
                  <a:srgbClr val="004AAD"/>
                </a:solidFill>
                <a:latin typeface="Montserrat"/>
                <a:sym typeface="Montserrat"/>
              </a:rPr>
              <a:t>WHAT IS AN AUDIT?</a:t>
            </a:r>
            <a:endParaRPr sz="4000" b="0" i="0" u="none" strike="noStrike" cap="none" dirty="0">
              <a:solidFill>
                <a:srgbClr val="000000"/>
              </a:solidFill>
              <a:latin typeface="Arial"/>
              <a:ea typeface="Arial"/>
              <a:cs typeface="Arial"/>
              <a:sym typeface="Arial"/>
            </a:endParaRPr>
          </a:p>
        </p:txBody>
      </p:sp>
      <p:sp>
        <p:nvSpPr>
          <p:cNvPr id="97" name="Google Shape;97;p2"/>
          <p:cNvSpPr txBox="1"/>
          <p:nvPr/>
        </p:nvSpPr>
        <p:spPr>
          <a:xfrm>
            <a:off x="801297" y="2316123"/>
            <a:ext cx="14269369" cy="6204776"/>
          </a:xfrm>
          <a:prstGeom prst="rect">
            <a:avLst/>
          </a:prstGeom>
          <a:noFill/>
          <a:ln>
            <a:noFill/>
          </a:ln>
        </p:spPr>
        <p:txBody>
          <a:bodyPr spcFirstLastPara="1" wrap="square" lIns="0" tIns="0" rIns="0" bIns="0" anchor="t" anchorCtr="0">
            <a:spAutoFit/>
          </a:bodyPr>
          <a:lstStyle/>
          <a:p>
            <a:pPr marL="342900" marR="0" lvl="0" indent="-342900" algn="l" rtl="0">
              <a:lnSpc>
                <a:spcPct val="160024"/>
              </a:lnSpc>
              <a:spcBef>
                <a:spcPts val="0"/>
              </a:spcBef>
              <a:spcAft>
                <a:spcPts val="0"/>
              </a:spcAft>
              <a:buClr>
                <a:srgbClr val="2E2E2E"/>
              </a:buClr>
              <a:buSzPts val="4899"/>
              <a:buFont typeface="Arial" panose="020B0604020202020204" pitchFamily="34" charset="0"/>
              <a:buChar char="•"/>
            </a:pPr>
            <a:r>
              <a:rPr lang="en-US" sz="2800" b="0" i="0" dirty="0">
                <a:solidFill>
                  <a:srgbClr val="0D0D0D"/>
                </a:solidFill>
                <a:effectLst/>
                <a:latin typeface="+mn-lt"/>
                <a:ea typeface="Songti SC" panose="02010600040101010101" pitchFamily="2" charset="-122"/>
                <a:cs typeface="Courier New" panose="02070309020205020404" pitchFamily="49" charset="0"/>
              </a:rPr>
              <a:t>An audit is a systematic examination, assessment, or review of an organization's processes, systems, operations, or financial records to verify compliance with established standards, regulations, policies, or best practices.</a:t>
            </a:r>
          </a:p>
          <a:p>
            <a:pPr marL="342900" marR="0" lvl="0" indent="-342900" algn="l" rtl="0">
              <a:lnSpc>
                <a:spcPct val="160024"/>
              </a:lnSpc>
              <a:spcBef>
                <a:spcPts val="0"/>
              </a:spcBef>
              <a:spcAft>
                <a:spcPts val="0"/>
              </a:spcAft>
              <a:buClr>
                <a:srgbClr val="2E2E2E"/>
              </a:buClr>
              <a:buSzPts val="4899"/>
              <a:buFont typeface="Arial" panose="020B0604020202020204" pitchFamily="34" charset="0"/>
              <a:buChar char="•"/>
            </a:pPr>
            <a:r>
              <a:rPr lang="en-US" sz="2800" dirty="0">
                <a:solidFill>
                  <a:srgbClr val="0D0D0D"/>
                </a:solidFill>
                <a:latin typeface="+mn-lt"/>
                <a:ea typeface="Songti SC" panose="02010600040101010101" pitchFamily="2" charset="-122"/>
                <a:cs typeface="Courier New" panose="02070309020205020404" pitchFamily="49" charset="0"/>
              </a:rPr>
              <a:t>P</a:t>
            </a:r>
            <a:r>
              <a:rPr lang="en-US" sz="2800" b="0" i="0" dirty="0">
                <a:solidFill>
                  <a:srgbClr val="0D0D0D"/>
                </a:solidFill>
                <a:effectLst/>
                <a:latin typeface="+mn-lt"/>
                <a:ea typeface="Songti SC" panose="02010600040101010101" pitchFamily="2" charset="-122"/>
                <a:cs typeface="Courier New" panose="02070309020205020404" pitchFamily="49" charset="0"/>
              </a:rPr>
              <a:t>urpose of an audit is to provide independent assurance that the organization's activities are being conducted effectively, efficiently, and in accordance with applicable requirements.</a:t>
            </a:r>
          </a:p>
          <a:p>
            <a:pPr marL="342900" marR="0" lvl="0" indent="-342900" algn="l" rtl="0">
              <a:lnSpc>
                <a:spcPct val="160024"/>
              </a:lnSpc>
              <a:spcBef>
                <a:spcPts val="0"/>
              </a:spcBef>
              <a:spcAft>
                <a:spcPts val="0"/>
              </a:spcAft>
              <a:buClr>
                <a:srgbClr val="2E2E2E"/>
              </a:buClr>
              <a:buSzPts val="4899"/>
              <a:buFont typeface="Arial" panose="020B0604020202020204" pitchFamily="34" charset="0"/>
              <a:buChar char="•"/>
            </a:pPr>
            <a:r>
              <a:rPr lang="en-US" sz="2800" dirty="0">
                <a:solidFill>
                  <a:srgbClr val="0D0D0D"/>
                </a:solidFill>
                <a:latin typeface="+mn-lt"/>
                <a:ea typeface="Songti SC" panose="02010600040101010101" pitchFamily="2" charset="-122"/>
                <a:cs typeface="Courier New" panose="02070309020205020404" pitchFamily="49" charset="0"/>
              </a:rPr>
              <a:t>C</a:t>
            </a:r>
            <a:r>
              <a:rPr lang="en-US" sz="2800" b="0" i="0" dirty="0">
                <a:solidFill>
                  <a:srgbClr val="0D0D0D"/>
                </a:solidFill>
                <a:effectLst/>
                <a:latin typeface="+mn-lt"/>
                <a:ea typeface="Songti SC" panose="02010600040101010101" pitchFamily="2" charset="-122"/>
                <a:cs typeface="Courier New" panose="02070309020205020404" pitchFamily="49" charset="0"/>
              </a:rPr>
              <a:t>onducted by qualified professionals known as auditors, who follow established audit </a:t>
            </a:r>
            <a:r>
              <a:rPr lang="en-US" sz="2800" b="0" i="0" dirty="0">
                <a:solidFill>
                  <a:srgbClr val="0D0D0D"/>
                </a:solidFill>
                <a:effectLst/>
                <a:latin typeface="+mn-lt"/>
                <a:cs typeface="Courier New" panose="02070309020205020404" pitchFamily="49" charset="0"/>
              </a:rPr>
              <a:t>methodologies and procedures to evaluate the organization's performance, identify areas for improvement, and provide recommendations for corrective actions.</a:t>
            </a:r>
            <a:endParaRPr sz="2800" dirty="0">
              <a:solidFill>
                <a:srgbClr val="2E2E2E"/>
              </a:solidFill>
              <a:latin typeface="+mn-lt"/>
              <a:ea typeface="Montserrat"/>
              <a:cs typeface="Courier New" panose="02070309020205020404" pitchFamily="49" charset="0"/>
              <a:sym typeface="Montserrat"/>
            </a:endParaRPr>
          </a:p>
        </p:txBody>
      </p:sp>
      <p:sp>
        <p:nvSpPr>
          <p:cNvPr id="98" name="Google Shape;98;p2"/>
          <p:cNvSpPr/>
          <p:nvPr/>
        </p:nvSpPr>
        <p:spPr>
          <a:xfrm rot="-1625759">
            <a:off x="10795296" y="-762086"/>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a:p>
        </p:txBody>
      </p:sp>
      <p:grpSp>
        <p:nvGrpSpPr>
          <p:cNvPr id="99" name="Google Shape;99;p2"/>
          <p:cNvGrpSpPr/>
          <p:nvPr/>
        </p:nvGrpSpPr>
        <p:grpSpPr>
          <a:xfrm>
            <a:off x="13648198" y="7743450"/>
            <a:ext cx="4131089" cy="1885470"/>
            <a:chOff x="11353800" y="6149040"/>
            <a:chExt cx="4131089" cy="1885470"/>
          </a:xfrm>
        </p:grpSpPr>
        <p:pic>
          <p:nvPicPr>
            <p:cNvPr id="100" name="Google Shape;100;p2" descr="A close up of a sign&#10;&#10;Description automatically generated"/>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86ADD7E-DDF1-5410-7C5D-52E4A1F0030C}"/>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B636CE88-FBDC-F5B9-F70E-0B33742F9CFA}"/>
              </a:ext>
            </a:extLst>
          </p:cNvPr>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i="0" u="none" strike="noStrike" cap="none" dirty="0">
                <a:solidFill>
                  <a:srgbClr val="004AAD"/>
                </a:solidFill>
                <a:latin typeface="Montserrat"/>
                <a:sym typeface="Montserrat"/>
              </a:rPr>
              <a:t>WHAT IS AN AUDIT BASED ON ISO 9000:2015</a:t>
            </a:r>
            <a:endParaRPr sz="4000" b="0" i="0" u="none" strike="noStrike" cap="none" dirty="0">
              <a:solidFill>
                <a:srgbClr val="000000"/>
              </a:solidFill>
              <a:latin typeface="Arial"/>
              <a:ea typeface="Arial"/>
              <a:cs typeface="Arial"/>
              <a:sym typeface="Arial"/>
            </a:endParaRPr>
          </a:p>
        </p:txBody>
      </p:sp>
      <p:sp>
        <p:nvSpPr>
          <p:cNvPr id="97" name="Google Shape;97;p2">
            <a:extLst>
              <a:ext uri="{FF2B5EF4-FFF2-40B4-BE49-F238E27FC236}">
                <a16:creationId xmlns:a16="http://schemas.microsoft.com/office/drawing/2014/main" id="{B116A133-5E09-DD6B-A775-F4B10365F65C}"/>
              </a:ext>
            </a:extLst>
          </p:cNvPr>
          <p:cNvSpPr txBox="1"/>
          <p:nvPr/>
        </p:nvSpPr>
        <p:spPr>
          <a:xfrm>
            <a:off x="801298" y="2316123"/>
            <a:ext cx="12846900" cy="3447098"/>
          </a:xfrm>
          <a:prstGeom prst="rect">
            <a:avLst/>
          </a:prstGeom>
          <a:noFill/>
          <a:ln>
            <a:noFill/>
          </a:ln>
        </p:spPr>
        <p:txBody>
          <a:bodyPr spcFirstLastPara="1" wrap="square" lIns="0" tIns="0" rIns="0" bIns="0" anchor="t" anchorCtr="0">
            <a:spAutoFit/>
          </a:bodyPr>
          <a:lstStyle/>
          <a:p>
            <a:pPr marL="342900" marR="0" lvl="0" indent="-342900" algn="l" rtl="0">
              <a:lnSpc>
                <a:spcPct val="160024"/>
              </a:lnSpc>
              <a:spcBef>
                <a:spcPts val="0"/>
              </a:spcBef>
              <a:spcAft>
                <a:spcPts val="0"/>
              </a:spcAft>
              <a:buClr>
                <a:srgbClr val="2E2E2E"/>
              </a:buClr>
              <a:buSzPts val="4899"/>
              <a:buFont typeface="Arial" panose="020B0604020202020204" pitchFamily="34" charset="0"/>
              <a:buChar char="•"/>
            </a:pPr>
            <a:r>
              <a:rPr lang="en-US" sz="2800" b="0" i="0" dirty="0">
                <a:solidFill>
                  <a:srgbClr val="0D0D0D"/>
                </a:solidFill>
                <a:effectLst/>
                <a:latin typeface="+mn-lt"/>
              </a:rPr>
              <a:t>An audit based on ISO 9000:2015 standards refers to a quality management system (QMS) audit conducted according to the requirements outlined in the ISO 9000 family of standards, specifically ISO 9001:2015. ISO 9000 is a set of international standards that provide guidelines for establishing, implementing, maintaining, and continually improving a quality management system.</a:t>
            </a:r>
            <a:endParaRPr sz="2800" dirty="0">
              <a:solidFill>
                <a:srgbClr val="2E2E2E"/>
              </a:solidFill>
              <a:latin typeface="+mn-lt"/>
              <a:ea typeface="Montserrat"/>
              <a:cs typeface="Courier New" panose="02070309020205020404" pitchFamily="49" charset="0"/>
              <a:sym typeface="Montserrat"/>
            </a:endParaRPr>
          </a:p>
        </p:txBody>
      </p:sp>
      <p:sp>
        <p:nvSpPr>
          <p:cNvPr id="98" name="Google Shape;98;p2">
            <a:extLst>
              <a:ext uri="{FF2B5EF4-FFF2-40B4-BE49-F238E27FC236}">
                <a16:creationId xmlns:a16="http://schemas.microsoft.com/office/drawing/2014/main" id="{090AB965-319E-258B-4253-CA58D201CB56}"/>
              </a:ext>
            </a:extLst>
          </p:cNvPr>
          <p:cNvSpPr/>
          <p:nvPr/>
        </p:nvSpPr>
        <p:spPr>
          <a:xfrm rot="-1625759">
            <a:off x="11066231" y="-1620350"/>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a:p>
        </p:txBody>
      </p:sp>
      <p:grpSp>
        <p:nvGrpSpPr>
          <p:cNvPr id="99" name="Google Shape;99;p2">
            <a:extLst>
              <a:ext uri="{FF2B5EF4-FFF2-40B4-BE49-F238E27FC236}">
                <a16:creationId xmlns:a16="http://schemas.microsoft.com/office/drawing/2014/main" id="{EF8C5441-E7C5-B589-946C-7A55A0A99797}"/>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079CE7E0-CE37-A2B6-12C5-435BBE8A5F39}"/>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08E93DA6-B674-9092-FE5B-52CFAE25C255}"/>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2DC88101-DBD9-7135-7AC3-297E0B0D2597}"/>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3961654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79A444CF-4532-3067-EB58-FB0789F641AF}"/>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2D7495D9-7154-65F0-8269-F09CF32579F3}"/>
              </a:ext>
            </a:extLst>
          </p:cNvPr>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i="0" u="none" strike="noStrike" cap="none" dirty="0">
                <a:solidFill>
                  <a:srgbClr val="004AAD"/>
                </a:solidFill>
                <a:latin typeface="Montserrat"/>
                <a:sym typeface="Montserrat"/>
              </a:rPr>
              <a:t>AUDIT PROCESS</a:t>
            </a:r>
            <a:endParaRPr sz="4000" b="0" i="0" u="none" strike="noStrike" cap="none" dirty="0">
              <a:solidFill>
                <a:srgbClr val="000000"/>
              </a:solidFill>
              <a:latin typeface="Arial"/>
              <a:ea typeface="Arial"/>
              <a:cs typeface="Arial"/>
              <a:sym typeface="Arial"/>
            </a:endParaRPr>
          </a:p>
        </p:txBody>
      </p:sp>
      <p:sp>
        <p:nvSpPr>
          <p:cNvPr id="97" name="Google Shape;97;p2">
            <a:extLst>
              <a:ext uri="{FF2B5EF4-FFF2-40B4-BE49-F238E27FC236}">
                <a16:creationId xmlns:a16="http://schemas.microsoft.com/office/drawing/2014/main" id="{E05EAAE0-DE57-6951-2FE2-5D784BF69DB7}"/>
              </a:ext>
            </a:extLst>
          </p:cNvPr>
          <p:cNvSpPr txBox="1"/>
          <p:nvPr/>
        </p:nvSpPr>
        <p:spPr>
          <a:xfrm>
            <a:off x="801298" y="2316123"/>
            <a:ext cx="12846900" cy="7411260"/>
          </a:xfrm>
          <a:prstGeom prst="rect">
            <a:avLst/>
          </a:prstGeom>
          <a:noFill/>
          <a:ln>
            <a:noFill/>
          </a:ln>
        </p:spPr>
        <p:txBody>
          <a:bodyPr spcFirstLastPara="1" wrap="square" lIns="0" tIns="0" rIns="0" bIns="0" anchor="t" anchorCtr="0">
            <a:spAutoFit/>
          </a:bodyPr>
          <a:lstStyle/>
          <a:p>
            <a:pPr algn="l"/>
            <a:r>
              <a:rPr lang="en-US" sz="2800" b="1" i="0" dirty="0">
                <a:solidFill>
                  <a:srgbClr val="0D0D0D"/>
                </a:solidFill>
                <a:effectLst/>
                <a:latin typeface="+mn-lt"/>
              </a:rPr>
              <a:t>1. Audit Preparation</a:t>
            </a:r>
            <a:r>
              <a:rPr lang="en-US" sz="2800" b="0" i="0" dirty="0">
                <a:solidFill>
                  <a:srgbClr val="0D0D0D"/>
                </a:solidFill>
                <a:effectLst/>
                <a:latin typeface="+mn-lt"/>
              </a:rPr>
              <a:t>:</a:t>
            </a:r>
          </a:p>
          <a:p>
            <a:pPr algn="l">
              <a:buFont typeface="Arial" panose="020B0604020202020204" pitchFamily="34" charset="0"/>
              <a:buChar char="•"/>
            </a:pPr>
            <a:r>
              <a:rPr lang="en-US" sz="2800" b="0" i="0" dirty="0">
                <a:solidFill>
                  <a:srgbClr val="0D0D0D"/>
                </a:solidFill>
                <a:effectLst/>
                <a:latin typeface="+mn-lt"/>
              </a:rPr>
              <a:t>Define the scope and objectives of the audit.</a:t>
            </a:r>
          </a:p>
          <a:p>
            <a:pPr algn="l">
              <a:buFont typeface="Arial" panose="020B0604020202020204" pitchFamily="34" charset="0"/>
              <a:buChar char="•"/>
            </a:pPr>
            <a:r>
              <a:rPr lang="en-US" sz="2800" b="0" i="0" dirty="0">
                <a:solidFill>
                  <a:srgbClr val="0D0D0D"/>
                </a:solidFill>
                <a:effectLst/>
                <a:latin typeface="+mn-lt"/>
              </a:rPr>
              <a:t>Identify the processes, departments, or areas within the organization to be audited.</a:t>
            </a:r>
          </a:p>
          <a:p>
            <a:pPr algn="l">
              <a:buFont typeface="Arial" panose="020B0604020202020204" pitchFamily="34" charset="0"/>
              <a:buChar char="•"/>
            </a:pPr>
            <a:r>
              <a:rPr lang="en-US" sz="2800" b="0" i="0" dirty="0">
                <a:solidFill>
                  <a:srgbClr val="0D0D0D"/>
                </a:solidFill>
                <a:effectLst/>
                <a:latin typeface="+mn-lt"/>
              </a:rPr>
              <a:t>Select qualified auditors with expertise in ISO 9001:2015 and audit methodologies.</a:t>
            </a:r>
          </a:p>
          <a:p>
            <a:pPr algn="l">
              <a:buFont typeface="Arial" panose="020B0604020202020204" pitchFamily="34" charset="0"/>
              <a:buChar char="•"/>
            </a:pPr>
            <a:r>
              <a:rPr lang="en-US" sz="2800" b="0" i="0" dirty="0">
                <a:solidFill>
                  <a:srgbClr val="0D0D0D"/>
                </a:solidFill>
                <a:effectLst/>
                <a:latin typeface="+mn-lt"/>
              </a:rPr>
              <a:t>Schedule the audit, ensuring that key personnel and resources are availab</a:t>
            </a:r>
            <a:r>
              <a:rPr lang="en-US" sz="2800" dirty="0">
                <a:solidFill>
                  <a:srgbClr val="0D0D0D"/>
                </a:solidFill>
                <a:latin typeface="+mn-lt"/>
              </a:rPr>
              <a:t>le</a:t>
            </a:r>
            <a:endParaRPr lang="en-US" sz="2800" b="0" i="0" dirty="0">
              <a:solidFill>
                <a:srgbClr val="0D0D0D"/>
              </a:solidFill>
              <a:effectLst/>
              <a:latin typeface="+mn-lt"/>
            </a:endParaRPr>
          </a:p>
          <a:p>
            <a:pPr marL="342900" marR="0" lvl="0" indent="-342900" algn="l" rtl="0">
              <a:lnSpc>
                <a:spcPct val="160024"/>
              </a:lnSpc>
              <a:spcBef>
                <a:spcPts val="0"/>
              </a:spcBef>
              <a:spcAft>
                <a:spcPts val="0"/>
              </a:spcAft>
              <a:buClr>
                <a:srgbClr val="2E2E2E"/>
              </a:buClr>
              <a:buSzPts val="4899"/>
              <a:buFont typeface="Arial" panose="020B0604020202020204" pitchFamily="34" charset="0"/>
              <a:buChar char="•"/>
            </a:pPr>
            <a:endParaRPr lang="en-US" sz="2800" dirty="0">
              <a:solidFill>
                <a:srgbClr val="2E2E2E"/>
              </a:solidFill>
              <a:latin typeface="+mn-lt"/>
              <a:ea typeface="Montserrat"/>
              <a:cs typeface="Courier New" panose="02070309020205020404" pitchFamily="49" charset="0"/>
              <a:sym typeface="Montserrat"/>
            </a:endParaRPr>
          </a:p>
          <a:p>
            <a:pPr algn="l"/>
            <a:r>
              <a:rPr lang="en-US" sz="2800" b="1" i="0" dirty="0">
                <a:solidFill>
                  <a:srgbClr val="0D0D0D"/>
                </a:solidFill>
                <a:effectLst/>
                <a:latin typeface="+mn-lt"/>
              </a:rPr>
              <a:t>2. Audit Planning</a:t>
            </a:r>
            <a:r>
              <a:rPr lang="en-US" sz="2800" b="0" i="0" dirty="0">
                <a:solidFill>
                  <a:srgbClr val="0D0D0D"/>
                </a:solidFill>
                <a:effectLst/>
                <a:latin typeface="+mn-lt"/>
              </a:rPr>
              <a:t>:</a:t>
            </a:r>
          </a:p>
          <a:p>
            <a:pPr algn="l">
              <a:buFont typeface="Arial" panose="020B0604020202020204" pitchFamily="34" charset="0"/>
              <a:buChar char="•"/>
            </a:pPr>
            <a:r>
              <a:rPr lang="en-US" sz="2800" b="0" i="0" dirty="0">
                <a:solidFill>
                  <a:srgbClr val="0D0D0D"/>
                </a:solidFill>
                <a:effectLst/>
                <a:latin typeface="+mn-lt"/>
              </a:rPr>
              <a:t>Develop an audit plan outlining the audit approach, criteria, methodology, and schedule.</a:t>
            </a:r>
          </a:p>
          <a:p>
            <a:pPr algn="l">
              <a:buFont typeface="Arial" panose="020B0604020202020204" pitchFamily="34" charset="0"/>
              <a:buChar char="•"/>
            </a:pPr>
            <a:r>
              <a:rPr lang="en-US" sz="2800" b="0" i="0" dirty="0">
                <a:solidFill>
                  <a:srgbClr val="0D0D0D"/>
                </a:solidFill>
                <a:effectLst/>
                <a:latin typeface="+mn-lt"/>
              </a:rPr>
              <a:t>Review relevant documentation, including the organization's quality manual, procedures, work instructions, and records.</a:t>
            </a:r>
          </a:p>
          <a:p>
            <a:pPr algn="l">
              <a:buFont typeface="Arial" panose="020B0604020202020204" pitchFamily="34" charset="0"/>
              <a:buChar char="•"/>
            </a:pPr>
            <a:r>
              <a:rPr lang="en-US" sz="2800" b="0" i="0" dirty="0">
                <a:solidFill>
                  <a:srgbClr val="0D0D0D"/>
                </a:solidFill>
                <a:effectLst/>
                <a:latin typeface="+mn-lt"/>
              </a:rPr>
              <a:t>Determine audit criteria based on ISO 9001:2015 requirements and organizational objectives.</a:t>
            </a:r>
          </a:p>
          <a:p>
            <a:pPr marR="0" lvl="0" algn="l" rtl="0">
              <a:lnSpc>
                <a:spcPct val="160024"/>
              </a:lnSpc>
              <a:spcBef>
                <a:spcPts val="0"/>
              </a:spcBef>
              <a:spcAft>
                <a:spcPts val="0"/>
              </a:spcAft>
              <a:buClr>
                <a:srgbClr val="2E2E2E"/>
              </a:buClr>
              <a:buSzPts val="4899"/>
            </a:pPr>
            <a:endParaRPr sz="2800" dirty="0">
              <a:solidFill>
                <a:srgbClr val="2E2E2E"/>
              </a:solidFill>
              <a:latin typeface="+mn-lt"/>
              <a:ea typeface="Montserrat"/>
              <a:cs typeface="Courier New" panose="02070309020205020404" pitchFamily="49" charset="0"/>
              <a:sym typeface="Montserrat"/>
            </a:endParaRPr>
          </a:p>
        </p:txBody>
      </p:sp>
      <p:sp>
        <p:nvSpPr>
          <p:cNvPr id="98" name="Google Shape;98;p2">
            <a:extLst>
              <a:ext uri="{FF2B5EF4-FFF2-40B4-BE49-F238E27FC236}">
                <a16:creationId xmlns:a16="http://schemas.microsoft.com/office/drawing/2014/main" id="{B4219500-A570-A7BA-D27A-7280D3EA97EF}"/>
              </a:ext>
            </a:extLst>
          </p:cNvPr>
          <p:cNvSpPr/>
          <p:nvPr/>
        </p:nvSpPr>
        <p:spPr>
          <a:xfrm rot="-1625759">
            <a:off x="11288108" y="-2596656"/>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656532BD-981A-12D7-72C1-AB17A91B92B8}"/>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9732222D-66F3-FC91-5085-CFB0A7E60DF8}"/>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D7ECBA99-1C24-5808-E377-E749475F70AE}"/>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A33F6713-4FB7-782C-3934-E271E0C837A5}"/>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486590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E7ED378-75CB-1296-C556-CE6D2591C625}"/>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7E2CC166-BA3D-A9EF-E211-92F39CC30750}"/>
              </a:ext>
            </a:extLst>
          </p:cNvPr>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i="0" u="none" strike="noStrike" cap="none" dirty="0">
                <a:solidFill>
                  <a:srgbClr val="004AAD"/>
                </a:solidFill>
                <a:latin typeface="Montserrat"/>
                <a:sym typeface="Montserrat"/>
              </a:rPr>
              <a:t>AUDIT PROCESS</a:t>
            </a:r>
            <a:endParaRPr sz="4000" b="0" i="0" u="none" strike="noStrike" cap="none" dirty="0">
              <a:solidFill>
                <a:srgbClr val="000000"/>
              </a:solidFill>
              <a:latin typeface="Arial"/>
              <a:ea typeface="Arial"/>
              <a:cs typeface="Arial"/>
              <a:sym typeface="Arial"/>
            </a:endParaRPr>
          </a:p>
        </p:txBody>
      </p:sp>
      <p:sp>
        <p:nvSpPr>
          <p:cNvPr id="97" name="Google Shape;97;p2">
            <a:extLst>
              <a:ext uri="{FF2B5EF4-FFF2-40B4-BE49-F238E27FC236}">
                <a16:creationId xmlns:a16="http://schemas.microsoft.com/office/drawing/2014/main" id="{E49503F6-E4B8-C090-43B7-3945FC42966D}"/>
              </a:ext>
            </a:extLst>
          </p:cNvPr>
          <p:cNvSpPr txBox="1"/>
          <p:nvPr/>
        </p:nvSpPr>
        <p:spPr>
          <a:xfrm>
            <a:off x="801297" y="2316123"/>
            <a:ext cx="14624969" cy="7325082"/>
          </a:xfrm>
          <a:prstGeom prst="rect">
            <a:avLst/>
          </a:prstGeom>
          <a:noFill/>
          <a:ln>
            <a:noFill/>
          </a:ln>
        </p:spPr>
        <p:txBody>
          <a:bodyPr spcFirstLastPara="1" wrap="square" lIns="0" tIns="0" rIns="0" bIns="0" anchor="t" anchorCtr="0">
            <a:spAutoFit/>
          </a:bodyPr>
          <a:lstStyle/>
          <a:p>
            <a:pPr algn="l"/>
            <a:r>
              <a:rPr lang="en-US" sz="2800" b="1" i="0" dirty="0">
                <a:solidFill>
                  <a:srgbClr val="0D0D0D"/>
                </a:solidFill>
                <a:effectLst/>
                <a:latin typeface="+mn-lt"/>
              </a:rPr>
              <a:t>3. Audit Execution</a:t>
            </a:r>
            <a:r>
              <a:rPr lang="en-US" sz="2800" b="0" i="0" dirty="0">
                <a:solidFill>
                  <a:srgbClr val="0D0D0D"/>
                </a:solidFill>
                <a:effectLst/>
                <a:latin typeface="+mn-lt"/>
              </a:rPr>
              <a:t>:</a:t>
            </a:r>
          </a:p>
          <a:p>
            <a:pPr algn="l">
              <a:buFont typeface="Arial" panose="020B0604020202020204" pitchFamily="34" charset="0"/>
              <a:buChar char="•"/>
            </a:pPr>
            <a:r>
              <a:rPr lang="en-US" sz="2800" b="0" i="0" dirty="0">
                <a:solidFill>
                  <a:srgbClr val="0D0D0D"/>
                </a:solidFill>
                <a:effectLst/>
                <a:latin typeface="+mn-lt"/>
              </a:rPr>
              <a:t>Conduct on-site or remote audits, depending on the organization's location and circumstances.</a:t>
            </a:r>
          </a:p>
          <a:p>
            <a:pPr algn="l">
              <a:buFont typeface="Arial" panose="020B0604020202020204" pitchFamily="34" charset="0"/>
              <a:buChar char="•"/>
            </a:pPr>
            <a:r>
              <a:rPr lang="en-US" sz="2800" b="0" i="0" dirty="0">
                <a:solidFill>
                  <a:srgbClr val="0D0D0D"/>
                </a:solidFill>
                <a:effectLst/>
                <a:latin typeface="+mn-lt"/>
              </a:rPr>
              <a:t>Perform interviews with personnel to assess their understanding of quality management principles and adherence to QMS requirements.</a:t>
            </a:r>
          </a:p>
          <a:p>
            <a:pPr algn="l">
              <a:buFont typeface="Arial" panose="020B0604020202020204" pitchFamily="34" charset="0"/>
              <a:buChar char="•"/>
            </a:pPr>
            <a:r>
              <a:rPr lang="en-US" sz="2800" b="0" i="0" dirty="0">
                <a:solidFill>
                  <a:srgbClr val="0D0D0D"/>
                </a:solidFill>
                <a:effectLst/>
                <a:latin typeface="+mn-lt"/>
              </a:rPr>
              <a:t>Review documentation and records to verify compliance with ISO 9001:2015 standards.</a:t>
            </a:r>
          </a:p>
          <a:p>
            <a:pPr algn="l">
              <a:buFont typeface="Arial" panose="020B0604020202020204" pitchFamily="34" charset="0"/>
              <a:buChar char="•"/>
            </a:pPr>
            <a:r>
              <a:rPr lang="en-US" sz="2800" b="0" i="0" dirty="0">
                <a:solidFill>
                  <a:srgbClr val="0D0D0D"/>
                </a:solidFill>
                <a:effectLst/>
                <a:latin typeface="+mn-lt"/>
              </a:rPr>
              <a:t>Collect evidence to support audit findings and observations.</a:t>
            </a:r>
          </a:p>
          <a:p>
            <a:pPr algn="l">
              <a:buFont typeface="Arial" panose="020B0604020202020204" pitchFamily="34" charset="0"/>
              <a:buChar char="•"/>
            </a:pPr>
            <a:endParaRPr lang="en-US" sz="2800" dirty="0">
              <a:solidFill>
                <a:srgbClr val="0D0D0D"/>
              </a:solidFill>
              <a:latin typeface="Söhne"/>
            </a:endParaRPr>
          </a:p>
          <a:p>
            <a:pPr algn="l"/>
            <a:r>
              <a:rPr lang="en-US" sz="2800" b="1" i="0" dirty="0">
                <a:solidFill>
                  <a:srgbClr val="0D0D0D"/>
                </a:solidFill>
                <a:effectLst/>
                <a:latin typeface="+mn-lt"/>
              </a:rPr>
              <a:t>4. Audit Reporting</a:t>
            </a:r>
            <a:r>
              <a:rPr lang="en-US" sz="2800" b="0" i="0" dirty="0">
                <a:solidFill>
                  <a:srgbClr val="0D0D0D"/>
                </a:solidFill>
                <a:effectLst/>
                <a:latin typeface="+mn-lt"/>
              </a:rPr>
              <a:t>:</a:t>
            </a:r>
          </a:p>
          <a:p>
            <a:pPr algn="l">
              <a:buFont typeface="Arial" panose="020B0604020202020204" pitchFamily="34" charset="0"/>
              <a:buChar char="•"/>
            </a:pPr>
            <a:r>
              <a:rPr lang="en-US" sz="2800" b="0" i="0" dirty="0">
                <a:solidFill>
                  <a:srgbClr val="0D0D0D"/>
                </a:solidFill>
                <a:effectLst/>
                <a:latin typeface="+mn-lt"/>
              </a:rPr>
              <a:t>Document audit findings, observations, and non-conformities in an audit report.</a:t>
            </a:r>
          </a:p>
          <a:p>
            <a:pPr algn="l">
              <a:buFont typeface="Arial" panose="020B0604020202020204" pitchFamily="34" charset="0"/>
              <a:buChar char="•"/>
            </a:pPr>
            <a:r>
              <a:rPr lang="en-US" sz="2800" b="0" i="0" dirty="0">
                <a:solidFill>
                  <a:srgbClr val="0D0D0D"/>
                </a:solidFill>
                <a:effectLst/>
                <a:latin typeface="+mn-lt"/>
              </a:rPr>
              <a:t>Classify non-conformities based on their severity and impact on the QMS.</a:t>
            </a:r>
          </a:p>
          <a:p>
            <a:pPr algn="l">
              <a:buFont typeface="Arial" panose="020B0604020202020204" pitchFamily="34" charset="0"/>
              <a:buChar char="•"/>
            </a:pPr>
            <a:r>
              <a:rPr lang="en-US" sz="2800" b="0" i="0" dirty="0">
                <a:solidFill>
                  <a:srgbClr val="0D0D0D"/>
                </a:solidFill>
                <a:effectLst/>
                <a:latin typeface="+mn-lt"/>
              </a:rPr>
              <a:t>Provide recommendations for corrective actions to address identified non-conformities and improve QMS effectiveness.</a:t>
            </a:r>
          </a:p>
          <a:p>
            <a:pPr algn="l">
              <a:buFont typeface="Arial" panose="020B0604020202020204" pitchFamily="34" charset="0"/>
              <a:buChar char="•"/>
            </a:pPr>
            <a:r>
              <a:rPr lang="en-US" sz="2800" b="0" i="0" dirty="0">
                <a:solidFill>
                  <a:srgbClr val="0D0D0D"/>
                </a:solidFill>
                <a:effectLst/>
                <a:latin typeface="+mn-lt"/>
              </a:rPr>
              <a:t>Present the audit report to relevant stakeholders, including management and quality assurance personnel.</a:t>
            </a:r>
          </a:p>
          <a:p>
            <a:pPr algn="l">
              <a:buFont typeface="Arial" panose="020B0604020202020204" pitchFamily="34" charset="0"/>
              <a:buChar char="•"/>
            </a:pPr>
            <a:endParaRPr lang="en-US" sz="2800" b="0" i="0" dirty="0">
              <a:solidFill>
                <a:srgbClr val="0D0D0D"/>
              </a:solidFill>
              <a:effectLst/>
              <a:latin typeface="+mn-lt"/>
            </a:endParaRPr>
          </a:p>
          <a:p>
            <a:pPr algn="l"/>
            <a:endParaRPr sz="2800" dirty="0">
              <a:solidFill>
                <a:srgbClr val="2E2E2E"/>
              </a:solidFill>
              <a:latin typeface="+mn-lt"/>
              <a:ea typeface="Montserrat"/>
              <a:cs typeface="Courier New" panose="02070309020205020404" pitchFamily="49" charset="0"/>
              <a:sym typeface="Montserrat"/>
            </a:endParaRPr>
          </a:p>
        </p:txBody>
      </p:sp>
      <p:sp>
        <p:nvSpPr>
          <p:cNvPr id="98" name="Google Shape;98;p2">
            <a:extLst>
              <a:ext uri="{FF2B5EF4-FFF2-40B4-BE49-F238E27FC236}">
                <a16:creationId xmlns:a16="http://schemas.microsoft.com/office/drawing/2014/main" id="{8CAA0768-00F2-DB72-D2D6-0F76AE827CAC}"/>
              </a:ext>
            </a:extLst>
          </p:cNvPr>
          <p:cNvSpPr/>
          <p:nvPr/>
        </p:nvSpPr>
        <p:spPr>
          <a:xfrm rot="-1625759">
            <a:off x="10178888" y="-1620351"/>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C9A33A3A-4B46-681D-4224-493F9FAC7D3F}"/>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2160AE28-E4AF-6CD8-873F-B5DC5EB73BCA}"/>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57DAF141-0406-5ADA-892E-27546E3C3DEF}"/>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177E4AFF-BCD2-400E-2106-90966671562D}"/>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3105096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C5CA6BA-900D-4F43-5BC2-1202C158C747}"/>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C8857870-5C7F-C2EE-8EFD-1CB1207B64C6}"/>
              </a:ext>
            </a:extLst>
          </p:cNvPr>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i="0" u="none" strike="noStrike" cap="none" dirty="0">
                <a:solidFill>
                  <a:srgbClr val="004AAD"/>
                </a:solidFill>
                <a:latin typeface="Montserrat"/>
                <a:sym typeface="Montserrat"/>
              </a:rPr>
              <a:t>AUDIT PROCESS</a:t>
            </a:r>
            <a:endParaRPr sz="4000" b="0" i="0" u="none" strike="noStrike" cap="none" dirty="0">
              <a:solidFill>
                <a:srgbClr val="000000"/>
              </a:solidFill>
              <a:latin typeface="Arial"/>
              <a:ea typeface="Arial"/>
              <a:cs typeface="Arial"/>
              <a:sym typeface="Arial"/>
            </a:endParaRPr>
          </a:p>
        </p:txBody>
      </p:sp>
      <p:sp>
        <p:nvSpPr>
          <p:cNvPr id="97" name="Google Shape;97;p2">
            <a:extLst>
              <a:ext uri="{FF2B5EF4-FFF2-40B4-BE49-F238E27FC236}">
                <a16:creationId xmlns:a16="http://schemas.microsoft.com/office/drawing/2014/main" id="{D1BC6E59-F6FB-CC36-3B09-1889E989EFB1}"/>
              </a:ext>
            </a:extLst>
          </p:cNvPr>
          <p:cNvSpPr txBox="1"/>
          <p:nvPr/>
        </p:nvSpPr>
        <p:spPr>
          <a:xfrm>
            <a:off x="801298" y="2316123"/>
            <a:ext cx="12846900" cy="3447098"/>
          </a:xfrm>
          <a:prstGeom prst="rect">
            <a:avLst/>
          </a:prstGeom>
          <a:noFill/>
          <a:ln>
            <a:noFill/>
          </a:ln>
        </p:spPr>
        <p:txBody>
          <a:bodyPr spcFirstLastPara="1" wrap="square" lIns="0" tIns="0" rIns="0" bIns="0" anchor="t" anchorCtr="0">
            <a:spAutoFit/>
          </a:bodyPr>
          <a:lstStyle/>
          <a:p>
            <a:pPr algn="l"/>
            <a:r>
              <a:rPr lang="en-US" sz="2800" b="1" i="0" dirty="0">
                <a:solidFill>
                  <a:srgbClr val="0D0D0D"/>
                </a:solidFill>
                <a:effectLst/>
                <a:latin typeface="+mn-lt"/>
              </a:rPr>
              <a:t>5. Follow-Up and Closure</a:t>
            </a:r>
            <a:r>
              <a:rPr lang="en-US" sz="2800" b="0" i="0" dirty="0">
                <a:solidFill>
                  <a:srgbClr val="0D0D0D"/>
                </a:solidFill>
                <a:effectLst/>
                <a:latin typeface="+mn-lt"/>
              </a:rPr>
              <a:t>:</a:t>
            </a:r>
          </a:p>
          <a:p>
            <a:pPr algn="l">
              <a:buFont typeface="Arial" panose="020B0604020202020204" pitchFamily="34" charset="0"/>
              <a:buChar char="•"/>
            </a:pPr>
            <a:r>
              <a:rPr lang="en-US" sz="2800" b="0" i="0" dirty="0">
                <a:solidFill>
                  <a:srgbClr val="0D0D0D"/>
                </a:solidFill>
                <a:effectLst/>
                <a:latin typeface="+mn-lt"/>
              </a:rPr>
              <a:t>Work with the organization to develop and implement corrective action plans to address identified non-conformities.</a:t>
            </a:r>
          </a:p>
          <a:p>
            <a:pPr algn="l">
              <a:buFont typeface="Arial" panose="020B0604020202020204" pitchFamily="34" charset="0"/>
              <a:buChar char="•"/>
            </a:pPr>
            <a:r>
              <a:rPr lang="en-US" sz="2800" b="0" i="0" dirty="0">
                <a:solidFill>
                  <a:srgbClr val="0D0D0D"/>
                </a:solidFill>
                <a:effectLst/>
                <a:latin typeface="+mn-lt"/>
              </a:rPr>
              <a:t>Monitor the implementation of corrective actions and verify their effectiveness through follow-up audits or reviews.</a:t>
            </a:r>
          </a:p>
          <a:p>
            <a:pPr algn="l">
              <a:buFont typeface="Arial" panose="020B0604020202020204" pitchFamily="34" charset="0"/>
              <a:buChar char="•"/>
            </a:pPr>
            <a:r>
              <a:rPr lang="en-US" sz="2800" b="0" i="0" dirty="0">
                <a:solidFill>
                  <a:srgbClr val="0D0D0D"/>
                </a:solidFill>
                <a:effectLst/>
                <a:latin typeface="+mn-lt"/>
              </a:rPr>
              <a:t>Close out audit findings once corrective actions have been successfully implemented and verified.</a:t>
            </a:r>
          </a:p>
          <a:p>
            <a:pPr algn="l">
              <a:buFont typeface="Arial" panose="020B0604020202020204" pitchFamily="34" charset="0"/>
              <a:buChar char="•"/>
            </a:pPr>
            <a:r>
              <a:rPr lang="en-US" sz="2800" b="0" i="0" dirty="0">
                <a:solidFill>
                  <a:srgbClr val="0D0D0D"/>
                </a:solidFill>
                <a:effectLst/>
                <a:latin typeface="+mn-lt"/>
              </a:rPr>
              <a:t>Provide feedback and recommendations for continual improvement of the QMS.</a:t>
            </a:r>
          </a:p>
        </p:txBody>
      </p:sp>
      <p:sp>
        <p:nvSpPr>
          <p:cNvPr id="98" name="Google Shape;98;p2">
            <a:extLst>
              <a:ext uri="{FF2B5EF4-FFF2-40B4-BE49-F238E27FC236}">
                <a16:creationId xmlns:a16="http://schemas.microsoft.com/office/drawing/2014/main" id="{4B3EB8A2-C259-C98D-FD3C-4E2E929FA1F4}"/>
              </a:ext>
            </a:extLst>
          </p:cNvPr>
          <p:cNvSpPr/>
          <p:nvPr/>
        </p:nvSpPr>
        <p:spPr>
          <a:xfrm rot="-1625759">
            <a:off x="10178888" y="-1620351"/>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445CE021-5AA7-18BD-0C04-AEDAE6528B99}"/>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D04F413C-23F9-845A-E4B3-61ED1D826C7D}"/>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ABFD5BB2-FB29-0069-E329-070F05B26739}"/>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58B130A2-9A44-E4E3-22AF-35645D1ECAF3}"/>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3468665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71D8291-E5D9-5CE1-C3FC-5FCCE0FA1A67}"/>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DB76DE5A-1029-BE1C-7A6D-45C0BEDE88E5}"/>
              </a:ext>
            </a:extLst>
          </p:cNvPr>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i="0" u="none" strike="noStrike" cap="none" dirty="0">
                <a:solidFill>
                  <a:srgbClr val="004AAD"/>
                </a:solidFill>
                <a:latin typeface="Montserrat"/>
                <a:sym typeface="Montserrat"/>
              </a:rPr>
              <a:t>TYPES OF AUDIT (ISO 9000:2015)</a:t>
            </a:r>
            <a:endParaRPr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0070E333-6F0F-E377-9576-E6BA54A701AC}"/>
              </a:ext>
            </a:extLst>
          </p:cNvPr>
          <p:cNvSpPr/>
          <p:nvPr/>
        </p:nvSpPr>
        <p:spPr>
          <a:xfrm rot="-1625759">
            <a:off x="8756502" y="-713613"/>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a:p>
        </p:txBody>
      </p:sp>
      <p:grpSp>
        <p:nvGrpSpPr>
          <p:cNvPr id="99" name="Google Shape;99;p2">
            <a:extLst>
              <a:ext uri="{FF2B5EF4-FFF2-40B4-BE49-F238E27FC236}">
                <a16:creationId xmlns:a16="http://schemas.microsoft.com/office/drawing/2014/main" id="{21C16791-C695-F49D-16A3-051274EE1873}"/>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755CDBBA-A68D-284B-9E9F-42DAB2535534}"/>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5DC9BC66-2D27-F4AE-6501-6A0CD232110A}"/>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5DD6345A-8029-DEB2-9BA0-DE4592D2600A}"/>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33361E2C-3653-59DA-4A6A-1CFAA2D2AA29}"/>
              </a:ext>
            </a:extLst>
          </p:cNvPr>
          <p:cNvSpPr txBox="1"/>
          <p:nvPr/>
        </p:nvSpPr>
        <p:spPr>
          <a:xfrm>
            <a:off x="829733" y="2472267"/>
            <a:ext cx="13140267" cy="6001643"/>
          </a:xfrm>
          <a:prstGeom prst="rect">
            <a:avLst/>
          </a:prstGeom>
          <a:noFill/>
        </p:spPr>
        <p:txBody>
          <a:bodyPr wrap="square" rtlCol="0">
            <a:spAutoFit/>
          </a:bodyPr>
          <a:lstStyle/>
          <a:p>
            <a:pPr algn="l">
              <a:buFont typeface="+mj-lt"/>
              <a:buAutoNum type="arabicPeriod"/>
            </a:pPr>
            <a:r>
              <a:rPr lang="en-US" sz="2400" b="1" i="0" dirty="0">
                <a:solidFill>
                  <a:srgbClr val="0D0D0D"/>
                </a:solidFill>
                <a:effectLst/>
                <a:latin typeface="+mn-lt"/>
              </a:rPr>
              <a:t>Internal Audit</a:t>
            </a:r>
            <a:r>
              <a:rPr lang="en-US" sz="2400" b="0" i="0" dirty="0">
                <a:solidFill>
                  <a:srgbClr val="0D0D0D"/>
                </a:solidFill>
                <a:effectLst/>
                <a:latin typeface="+mn-lt"/>
              </a:rPr>
              <a:t>:</a:t>
            </a:r>
          </a:p>
          <a:p>
            <a:pPr marL="800100" lvl="1" indent="-342900" algn="l">
              <a:buFont typeface="Arial" panose="020B0604020202020204" pitchFamily="34" charset="0"/>
              <a:buChar char="•"/>
            </a:pPr>
            <a:r>
              <a:rPr lang="en-US" sz="2400" b="0" i="0" dirty="0">
                <a:solidFill>
                  <a:srgbClr val="0D0D0D"/>
                </a:solidFill>
                <a:effectLst/>
                <a:latin typeface="+mn-lt"/>
              </a:rPr>
              <a:t>conducted by personnel within the organization to assess the conformity and effectiveness of the QMS.</a:t>
            </a:r>
          </a:p>
          <a:p>
            <a:pPr marL="800100" lvl="1" indent="-342900" algn="l">
              <a:buFont typeface="Arial" panose="020B0604020202020204" pitchFamily="34" charset="0"/>
              <a:buChar char="•"/>
            </a:pPr>
            <a:r>
              <a:rPr lang="en-US" sz="2400" b="0" i="0" dirty="0">
                <a:solidFill>
                  <a:srgbClr val="0D0D0D"/>
                </a:solidFill>
                <a:effectLst/>
                <a:latin typeface="+mn-lt"/>
              </a:rPr>
              <a:t> the purpose of internal audits is to identify strengths and weaknesses in the QMS, ensure compliance with ISO 9001 requirements, and drive continual improvement.</a:t>
            </a:r>
          </a:p>
          <a:p>
            <a:pPr marL="800100" lvl="1" indent="-342900" algn="l">
              <a:buFont typeface="Arial" panose="020B0604020202020204" pitchFamily="34" charset="0"/>
              <a:buChar char="•"/>
            </a:pPr>
            <a:r>
              <a:rPr lang="en-US" sz="2400" b="0" i="0" dirty="0">
                <a:solidFill>
                  <a:srgbClr val="0D0D0D"/>
                </a:solidFill>
                <a:effectLst/>
                <a:latin typeface="+mn-lt"/>
              </a:rPr>
              <a:t>scheduled at planned intervals and cover all relevant processes and functions within the organization.</a:t>
            </a:r>
          </a:p>
          <a:p>
            <a:pPr algn="l">
              <a:buFont typeface="+mj-lt"/>
              <a:buAutoNum type="arabicPeriod"/>
            </a:pPr>
            <a:r>
              <a:rPr lang="en-US" sz="2400" b="1" i="0" dirty="0">
                <a:solidFill>
                  <a:srgbClr val="0D0D0D"/>
                </a:solidFill>
                <a:effectLst/>
                <a:latin typeface="+mn-lt"/>
              </a:rPr>
              <a:t>External Audit</a:t>
            </a:r>
            <a:r>
              <a:rPr lang="en-US" sz="2400" b="0" i="0" dirty="0">
                <a:solidFill>
                  <a:srgbClr val="0D0D0D"/>
                </a:solidFill>
                <a:effectLst/>
                <a:latin typeface="+mn-lt"/>
              </a:rPr>
              <a:t>:</a:t>
            </a:r>
          </a:p>
          <a:p>
            <a:pPr marL="800100" lvl="1" indent="-342900" algn="l">
              <a:buFont typeface="Arial" panose="020B0604020202020204" pitchFamily="34" charset="0"/>
              <a:buChar char="•"/>
            </a:pPr>
            <a:r>
              <a:rPr lang="en-US" sz="2400" b="0" i="0" dirty="0">
                <a:solidFill>
                  <a:srgbClr val="0D0D0D"/>
                </a:solidFill>
                <a:effectLst/>
                <a:latin typeface="+mn-lt"/>
              </a:rPr>
              <a:t>conducted by independent certification bodies or regulatory agencies to assess an organization's compliance with ISO 9001 requirements for certification or regulatory purposes.</a:t>
            </a:r>
          </a:p>
          <a:p>
            <a:pPr marL="800100" lvl="1" indent="-342900" algn="l">
              <a:buFont typeface="Arial" panose="020B0604020202020204" pitchFamily="34" charset="0"/>
              <a:buChar char="•"/>
            </a:pPr>
            <a:r>
              <a:rPr lang="en-US" sz="2400" b="0" i="0" dirty="0">
                <a:solidFill>
                  <a:srgbClr val="0D0D0D"/>
                </a:solidFill>
                <a:effectLst/>
                <a:latin typeface="+mn-lt"/>
              </a:rPr>
              <a:t>are trained and qualified professionals who evaluate the organization's QMS against ISO 9001 standards and provide certification or regulatory compliance assessments.</a:t>
            </a:r>
          </a:p>
          <a:p>
            <a:pPr marL="800100" lvl="1" indent="-342900" algn="l">
              <a:buFont typeface="Arial" panose="020B0604020202020204" pitchFamily="34" charset="0"/>
              <a:buChar char="•"/>
            </a:pPr>
            <a:r>
              <a:rPr lang="en-US" sz="2400" b="0" i="0" dirty="0">
                <a:solidFill>
                  <a:srgbClr val="0D0D0D"/>
                </a:solidFill>
                <a:effectLst/>
                <a:latin typeface="+mn-lt"/>
              </a:rPr>
              <a:t>occur during initial certification, surveillance audits, or recertification cycles, depending on the organization's certification status.</a:t>
            </a:r>
          </a:p>
          <a:p>
            <a:endParaRPr lang="en-US" sz="2400" dirty="0">
              <a:latin typeface="+mn-lt"/>
            </a:endParaRPr>
          </a:p>
        </p:txBody>
      </p:sp>
    </p:spTree>
    <p:extLst>
      <p:ext uri="{BB962C8B-B14F-4D97-AF65-F5344CB8AC3E}">
        <p14:creationId xmlns:p14="http://schemas.microsoft.com/office/powerpoint/2010/main" val="4048867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B240C4A-F411-9356-55EE-A0D10172C79F}"/>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A7337E4D-FA3A-0F9E-55CD-E42CC04A7164}"/>
              </a:ext>
            </a:extLst>
          </p:cNvPr>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i="0" u="none" strike="noStrike" cap="none" dirty="0">
                <a:solidFill>
                  <a:srgbClr val="004AAD"/>
                </a:solidFill>
                <a:latin typeface="Montserrat"/>
                <a:sym typeface="Montserrat"/>
              </a:rPr>
              <a:t>PURPOSE OF INTERNAL AUDIT</a:t>
            </a:r>
            <a:endParaRPr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24A4CB99-DBDF-789D-E74D-F4C18B79CAD5}"/>
              </a:ext>
            </a:extLst>
          </p:cNvPr>
          <p:cNvSpPr/>
          <p:nvPr/>
        </p:nvSpPr>
        <p:spPr>
          <a:xfrm rot="-1625759">
            <a:off x="8756504" y="-299244"/>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D4C7EA33-AB49-DD5A-E369-A38F19632284}"/>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B6A36013-9E80-5B22-F877-BBD161A525C2}"/>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DE3F8129-D956-54E3-8984-17A91BF1E341}"/>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FBD3D70A-CDC0-E508-2085-34DFAA99EA20}"/>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82440E50-5B28-E3FB-A5EA-99151A26D6B5}"/>
              </a:ext>
            </a:extLst>
          </p:cNvPr>
          <p:cNvSpPr txBox="1"/>
          <p:nvPr/>
        </p:nvSpPr>
        <p:spPr>
          <a:xfrm>
            <a:off x="829733" y="2472267"/>
            <a:ext cx="15832667" cy="6093976"/>
          </a:xfrm>
          <a:prstGeom prst="rect">
            <a:avLst/>
          </a:prstGeom>
          <a:noFill/>
        </p:spPr>
        <p:txBody>
          <a:bodyPr wrap="square" rtlCol="0">
            <a:spAutoFit/>
          </a:bodyPr>
          <a:lstStyle/>
          <a:p>
            <a:pPr algn="l">
              <a:buFont typeface="+mj-lt"/>
              <a:buAutoNum type="arabicPeriod"/>
            </a:pPr>
            <a:r>
              <a:rPr lang="en-US" sz="2800" b="1" i="0" dirty="0">
                <a:solidFill>
                  <a:srgbClr val="0D0D0D"/>
                </a:solidFill>
                <a:effectLst/>
                <a:latin typeface="+mn-lt"/>
              </a:rPr>
              <a:t>Assessing Compliance</a:t>
            </a:r>
            <a:r>
              <a:rPr lang="en-US" sz="2800" b="0" i="0" dirty="0">
                <a:solidFill>
                  <a:srgbClr val="0D0D0D"/>
                </a:solidFill>
                <a:effectLst/>
                <a:latin typeface="+mn-lt"/>
              </a:rPr>
              <a:t>:</a:t>
            </a:r>
          </a:p>
          <a:p>
            <a:pPr marL="457200" indent="-457200" algn="l">
              <a:buFont typeface="Arial" panose="020B0604020202020204" pitchFamily="34" charset="0"/>
              <a:buChar char="•"/>
            </a:pPr>
            <a:r>
              <a:rPr lang="en-US" sz="2500" b="0" i="0" dirty="0">
                <a:solidFill>
                  <a:srgbClr val="0D0D0D"/>
                </a:solidFill>
                <a:effectLst/>
                <a:latin typeface="+mn-lt"/>
              </a:rPr>
              <a:t>help assess whether the organization is complying with applicable laws, regulations, policies, and standards. This includes evaluating adherence to internal policies and procedures as well as external regulatory requirements.</a:t>
            </a:r>
          </a:p>
          <a:p>
            <a:pPr algn="l"/>
            <a:r>
              <a:rPr lang="en-US" sz="2500" b="1" i="0" dirty="0">
                <a:solidFill>
                  <a:srgbClr val="0D0D0D"/>
                </a:solidFill>
                <a:effectLst/>
                <a:latin typeface="+mn-lt"/>
              </a:rPr>
              <a:t>2. </a:t>
            </a:r>
            <a:r>
              <a:rPr lang="en-US" sz="2800" b="1" i="0" dirty="0">
                <a:solidFill>
                  <a:srgbClr val="0D0D0D"/>
                </a:solidFill>
                <a:effectLst/>
                <a:latin typeface="+mn-lt"/>
              </a:rPr>
              <a:t>Evaluating Risk Management</a:t>
            </a:r>
            <a:r>
              <a:rPr lang="en-US" sz="2800" b="0" i="0" dirty="0">
                <a:solidFill>
                  <a:srgbClr val="0D0D0D"/>
                </a:solidFill>
                <a:effectLst/>
                <a:latin typeface="+mn-lt"/>
              </a:rPr>
              <a:t>: </a:t>
            </a:r>
            <a:endParaRPr lang="en-US" sz="2800" dirty="0">
              <a:solidFill>
                <a:srgbClr val="0D0D0D"/>
              </a:solidFill>
              <a:latin typeface="+mn-lt"/>
            </a:endParaRPr>
          </a:p>
          <a:p>
            <a:pPr marL="457200" indent="-457200" algn="l">
              <a:buFont typeface="Arial" panose="020B0604020202020204" pitchFamily="34" charset="0"/>
              <a:buChar char="•"/>
            </a:pPr>
            <a:r>
              <a:rPr lang="en-US" sz="2500" b="0" i="0" dirty="0">
                <a:solidFill>
                  <a:srgbClr val="0D0D0D"/>
                </a:solidFill>
                <a:effectLst/>
                <a:latin typeface="+mn-lt"/>
              </a:rPr>
              <a:t>examine the organization's risk management processes to identify, assess, and mitigate risks that could affect its objectives, operations, or reputation. By assessing risk management practices, internal audits help ensure that the organization is adequately prepared to address potential threats and opportunities.</a:t>
            </a:r>
          </a:p>
          <a:p>
            <a:pPr algn="l"/>
            <a:r>
              <a:rPr lang="en-US" sz="2500" dirty="0">
                <a:solidFill>
                  <a:srgbClr val="0D0D0D"/>
                </a:solidFill>
                <a:latin typeface="+mn-lt"/>
              </a:rPr>
              <a:t>3. </a:t>
            </a:r>
            <a:r>
              <a:rPr lang="en-US" sz="2800" b="1" i="0" dirty="0">
                <a:solidFill>
                  <a:srgbClr val="0D0D0D"/>
                </a:solidFill>
                <a:effectLst/>
                <a:latin typeface="+mn-lt"/>
              </a:rPr>
              <a:t>Ensuring Financial Accuracy</a:t>
            </a:r>
            <a:r>
              <a:rPr lang="en-US" sz="2800" b="0" i="0" dirty="0">
                <a:solidFill>
                  <a:srgbClr val="0D0D0D"/>
                </a:solidFill>
                <a:effectLst/>
                <a:latin typeface="+mn-lt"/>
              </a:rPr>
              <a:t>: </a:t>
            </a:r>
          </a:p>
          <a:p>
            <a:pPr marL="457200" indent="-457200" algn="l">
              <a:buFont typeface="Arial" panose="020B0604020202020204" pitchFamily="34" charset="0"/>
              <a:buChar char="•"/>
            </a:pPr>
            <a:r>
              <a:rPr lang="en-US" sz="2500" b="0" i="0" dirty="0">
                <a:solidFill>
                  <a:srgbClr val="0D0D0D"/>
                </a:solidFill>
                <a:effectLst/>
                <a:latin typeface="+mn-lt"/>
              </a:rPr>
              <a:t>review financial transactions, records, and reporting processes to verify the accuracy, completeness, and reliability of financial information. This detect errors, fraud, or irregularities and ensures compliance with accounting principles and standards</a:t>
            </a:r>
            <a:r>
              <a:rPr lang="en-US" sz="2800" b="0" i="0" dirty="0">
                <a:solidFill>
                  <a:srgbClr val="0D0D0D"/>
                </a:solidFill>
                <a:effectLst/>
                <a:latin typeface="+mn-lt"/>
              </a:rPr>
              <a:t>.</a:t>
            </a:r>
          </a:p>
          <a:p>
            <a:pPr algn="l"/>
            <a:r>
              <a:rPr lang="en-US" sz="2800" b="1" i="0" dirty="0">
                <a:solidFill>
                  <a:srgbClr val="0D0D0D"/>
                </a:solidFill>
                <a:effectLst/>
                <a:latin typeface="+mn-lt"/>
              </a:rPr>
              <a:t>4. Improving Operational Efficiency</a:t>
            </a:r>
            <a:r>
              <a:rPr lang="en-US" sz="2800" b="0" i="0" dirty="0">
                <a:solidFill>
                  <a:srgbClr val="0D0D0D"/>
                </a:solidFill>
                <a:effectLst/>
                <a:latin typeface="+mn-lt"/>
              </a:rPr>
              <a:t>: </a:t>
            </a:r>
          </a:p>
          <a:p>
            <a:pPr marL="457200" indent="-457200" algn="l">
              <a:buFont typeface="Arial" panose="020B0604020202020204" pitchFamily="34" charset="0"/>
              <a:buChar char="•"/>
            </a:pPr>
            <a:r>
              <a:rPr lang="en-US" sz="2500" b="0" i="0" dirty="0">
                <a:solidFill>
                  <a:srgbClr val="0D0D0D"/>
                </a:solidFill>
                <a:effectLst/>
                <a:latin typeface="+mn-lt"/>
              </a:rPr>
              <a:t>assess the efficiency and effectiveness of operational processes, identifying areas for improvement and optimization. </a:t>
            </a:r>
            <a:r>
              <a:rPr lang="en-US" sz="2500" dirty="0">
                <a:solidFill>
                  <a:srgbClr val="0D0D0D"/>
                </a:solidFill>
                <a:latin typeface="+mn-lt"/>
              </a:rPr>
              <a:t>This will </a:t>
            </a:r>
            <a:r>
              <a:rPr lang="en-US" sz="2500" b="0" i="0" dirty="0">
                <a:solidFill>
                  <a:srgbClr val="0D0D0D"/>
                </a:solidFill>
                <a:effectLst/>
                <a:latin typeface="+mn-lt"/>
              </a:rPr>
              <a:t>help streamline operations and enhance productivity.</a:t>
            </a:r>
          </a:p>
        </p:txBody>
      </p:sp>
    </p:spTree>
    <p:extLst>
      <p:ext uri="{BB962C8B-B14F-4D97-AF65-F5344CB8AC3E}">
        <p14:creationId xmlns:p14="http://schemas.microsoft.com/office/powerpoint/2010/main" val="2568698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EC466F52-A76E-9448-AE78-1150FE3DEA3D}"/>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3D8E3F46-540A-4AC9-46C8-B235AA837173}"/>
              </a:ext>
            </a:extLst>
          </p:cNvPr>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i="0" u="none" strike="noStrike" cap="none" dirty="0">
                <a:solidFill>
                  <a:srgbClr val="004AAD"/>
                </a:solidFill>
                <a:latin typeface="Montserrat"/>
                <a:sym typeface="Montserrat"/>
              </a:rPr>
              <a:t>PURPOSE OF INTERNAL AUDIT</a:t>
            </a:r>
            <a:endParaRPr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4D219BE0-9815-714E-CA5A-9010FD17AC45}"/>
              </a:ext>
            </a:extLst>
          </p:cNvPr>
          <p:cNvSpPr/>
          <p:nvPr/>
        </p:nvSpPr>
        <p:spPr>
          <a:xfrm rot="-1625759">
            <a:off x="8756504" y="-299244"/>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F44F99EF-E686-5DBC-F735-CA4AABDCC66A}"/>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07C65B6A-B012-BFD3-AF15-41C8F9E6073E}"/>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90E00F49-C3D3-2CCE-9ABB-D537E179B6E5}"/>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1E6E5489-E2C8-B8F9-59D8-4E0F108E17E8}"/>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B648D8CB-D456-68B7-0ADD-9BB35EB0176A}"/>
              </a:ext>
            </a:extLst>
          </p:cNvPr>
          <p:cNvSpPr txBox="1"/>
          <p:nvPr/>
        </p:nvSpPr>
        <p:spPr>
          <a:xfrm>
            <a:off x="829733" y="2472267"/>
            <a:ext cx="15832667" cy="6617196"/>
          </a:xfrm>
          <a:prstGeom prst="rect">
            <a:avLst/>
          </a:prstGeom>
          <a:noFill/>
        </p:spPr>
        <p:txBody>
          <a:bodyPr wrap="square" rtlCol="0">
            <a:spAutoFit/>
          </a:bodyPr>
          <a:lstStyle/>
          <a:p>
            <a:pPr algn="l"/>
            <a:r>
              <a:rPr lang="en-US" sz="2800" b="1" i="0" dirty="0">
                <a:effectLst/>
                <a:latin typeface="+mn-lt"/>
              </a:rPr>
              <a:t>5. Enhancing Internal Controls</a:t>
            </a:r>
            <a:r>
              <a:rPr lang="en-US" sz="2800" b="0" i="0" dirty="0">
                <a:effectLst/>
                <a:latin typeface="+mn-lt"/>
              </a:rPr>
              <a:t>: </a:t>
            </a:r>
          </a:p>
          <a:p>
            <a:pPr marL="457200" indent="-457200" algn="l">
              <a:buFont typeface="Arial" panose="020B0604020202020204" pitchFamily="34" charset="0"/>
              <a:buChar char="•"/>
            </a:pPr>
            <a:r>
              <a:rPr lang="en-US" sz="2500" b="0" i="0" dirty="0">
                <a:effectLst/>
                <a:latin typeface="+mn-lt"/>
              </a:rPr>
              <a:t>evaluate the adequacy and effectiveness of internal control systems designed to safeguard assets, prevent fraud, and ensure compliance. </a:t>
            </a:r>
            <a:r>
              <a:rPr lang="en-US" sz="2500" dirty="0">
                <a:latin typeface="+mn-lt"/>
              </a:rPr>
              <a:t>This </a:t>
            </a:r>
            <a:r>
              <a:rPr lang="en-US" sz="2500" b="0" i="0" dirty="0">
                <a:effectLst/>
                <a:latin typeface="+mn-lt"/>
              </a:rPr>
              <a:t>enable management to strengthen control mechanisms and mitigate risks.</a:t>
            </a:r>
          </a:p>
          <a:p>
            <a:pPr algn="l"/>
            <a:r>
              <a:rPr lang="en-US" sz="2800" b="1" i="0" dirty="0">
                <a:effectLst/>
                <a:latin typeface="+mn-lt"/>
              </a:rPr>
              <a:t>6. Supporting Governance and Accountability</a:t>
            </a:r>
            <a:r>
              <a:rPr lang="en-US" sz="2800" b="0" i="0" dirty="0">
                <a:effectLst/>
                <a:latin typeface="+mn-lt"/>
              </a:rPr>
              <a:t>: </a:t>
            </a:r>
          </a:p>
          <a:p>
            <a:pPr marL="457200" indent="-457200" algn="l">
              <a:buFont typeface="Arial" panose="020B0604020202020204" pitchFamily="34" charset="0"/>
              <a:buChar char="•"/>
            </a:pPr>
            <a:r>
              <a:rPr lang="en-US" sz="2500" b="0" i="0" dirty="0">
                <a:effectLst/>
                <a:latin typeface="+mn-lt"/>
              </a:rPr>
              <a:t>provide assurance to management regarding the organization's governance, accountability, and stewardship of resources by independently assessing operations and reporting findings to promote transparency and accountability within the organization</a:t>
            </a:r>
            <a:r>
              <a:rPr lang="en-US" sz="2800" b="0" i="0" dirty="0">
                <a:effectLst/>
                <a:latin typeface="+mn-lt"/>
              </a:rPr>
              <a:t>.</a:t>
            </a:r>
          </a:p>
          <a:p>
            <a:pPr algn="l"/>
            <a:r>
              <a:rPr lang="en-US" sz="2800" b="1" i="0" dirty="0">
                <a:effectLst/>
                <a:latin typeface="+mn-lt"/>
              </a:rPr>
              <a:t>7. Facilitating Continuous Improvement</a:t>
            </a:r>
            <a:r>
              <a:rPr lang="en-US" sz="2800" b="0" i="0" dirty="0">
                <a:effectLst/>
                <a:latin typeface="+mn-lt"/>
              </a:rPr>
              <a:t>: </a:t>
            </a:r>
          </a:p>
          <a:p>
            <a:pPr marL="457200" indent="-457200" algn="l">
              <a:buFont typeface="Arial" panose="020B0604020202020204" pitchFamily="34" charset="0"/>
              <a:buChar char="•"/>
            </a:pPr>
            <a:r>
              <a:rPr lang="en-US" sz="2500" b="0" i="0" dirty="0">
                <a:effectLst/>
                <a:latin typeface="+mn-lt"/>
              </a:rPr>
              <a:t>contribute improvement by identifying opportunities for enhancing processes, systems, and performance through recommendations for corrective actions and best practices</a:t>
            </a:r>
          </a:p>
          <a:p>
            <a:pPr algn="l"/>
            <a:r>
              <a:rPr lang="en-US" sz="2800" b="1" dirty="0">
                <a:latin typeface="+mn-lt"/>
              </a:rPr>
              <a:t>8. P</a:t>
            </a:r>
            <a:r>
              <a:rPr lang="en-US" sz="2800" b="1" i="0" dirty="0">
                <a:effectLst/>
                <a:latin typeface="+mn-lt"/>
              </a:rPr>
              <a:t>roviding Assurance to Stakeholders</a:t>
            </a:r>
            <a:r>
              <a:rPr lang="en-US" sz="2800" b="0" i="0" dirty="0">
                <a:effectLst/>
                <a:latin typeface="+mn-lt"/>
              </a:rPr>
              <a:t>: </a:t>
            </a:r>
          </a:p>
          <a:p>
            <a:pPr marL="457200" indent="-457200" algn="l">
              <a:buFont typeface="Arial" panose="020B0604020202020204" pitchFamily="34" charset="0"/>
              <a:buChar char="•"/>
            </a:pPr>
            <a:r>
              <a:rPr lang="en-US" sz="2500" b="0" i="0" dirty="0">
                <a:effectLst/>
                <a:latin typeface="+mn-lt"/>
              </a:rPr>
              <a:t>offer assurance management, regulators, customers, and suppliers the reliability and integrity of the organization's operations and financial reporting to build trust and confidence in the organization's ability to achieve its objectives effectively and responsibly.</a:t>
            </a:r>
          </a:p>
          <a:p>
            <a:pPr algn="l"/>
            <a:endParaRPr lang="en-US" sz="2500" b="0" i="0" dirty="0">
              <a:solidFill>
                <a:srgbClr val="0D0D0D"/>
              </a:solidFill>
              <a:effectLst/>
              <a:latin typeface="+mn-lt"/>
            </a:endParaRPr>
          </a:p>
        </p:txBody>
      </p:sp>
    </p:spTree>
    <p:extLst>
      <p:ext uri="{BB962C8B-B14F-4D97-AF65-F5344CB8AC3E}">
        <p14:creationId xmlns:p14="http://schemas.microsoft.com/office/powerpoint/2010/main" val="1405512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EEDAA8C-9BAB-100D-76FE-766F945B51E6}"/>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B94C374D-665C-198F-E441-2CEF858E0636}"/>
              </a:ext>
            </a:extLst>
          </p:cNvPr>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ea typeface="Arial"/>
                <a:cs typeface="Arial"/>
                <a:sym typeface="Montserrat"/>
              </a:rPr>
              <a:t>WHO CAN CON</a:t>
            </a:r>
            <a:r>
              <a:rPr lang="en-US" sz="4000" b="1" dirty="0">
                <a:solidFill>
                  <a:srgbClr val="004AAD"/>
                </a:solidFill>
                <a:latin typeface="Montserrat"/>
                <a:sym typeface="Montserrat"/>
              </a:rPr>
              <a:t>DUCT AN INTERNAL AUDIT</a:t>
            </a:r>
            <a:endParaRPr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BC9F5553-B8BF-9F48-3C9A-89F98E37BB8F}"/>
              </a:ext>
            </a:extLst>
          </p:cNvPr>
          <p:cNvSpPr/>
          <p:nvPr/>
        </p:nvSpPr>
        <p:spPr>
          <a:xfrm rot="-1625759">
            <a:off x="8756504" y="-299244"/>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FBB64E8C-E587-5781-2515-95AAEF057CA6}"/>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10363F37-1155-D65F-4642-39A676018D70}"/>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A92A5FFC-154F-6725-3995-27497F58CE8B}"/>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B449FFD6-05E2-5911-CFB0-06739F4FEFA3}"/>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74F297C6-7845-3178-E2DC-1233B0E42826}"/>
              </a:ext>
            </a:extLst>
          </p:cNvPr>
          <p:cNvSpPr txBox="1"/>
          <p:nvPr/>
        </p:nvSpPr>
        <p:spPr>
          <a:xfrm>
            <a:off x="829733" y="2472267"/>
            <a:ext cx="15832667" cy="4785926"/>
          </a:xfrm>
          <a:prstGeom prst="rect">
            <a:avLst/>
          </a:prstGeom>
          <a:noFill/>
        </p:spPr>
        <p:txBody>
          <a:bodyPr wrap="square" rtlCol="0">
            <a:spAutoFit/>
          </a:bodyPr>
          <a:lstStyle/>
          <a:p>
            <a:pPr marL="457200" indent="-457200" algn="l">
              <a:buFont typeface="Arial" panose="020B0604020202020204" pitchFamily="34" charset="0"/>
              <a:buChar char="•"/>
            </a:pPr>
            <a:r>
              <a:rPr lang="en-US" sz="2800" b="0" i="0" dirty="0">
                <a:solidFill>
                  <a:srgbClr val="0D0D0D"/>
                </a:solidFill>
                <a:effectLst/>
                <a:latin typeface="+mn-lt"/>
              </a:rPr>
              <a:t>Internal audits are typically conducted by individuals or teams within the organization who are independent of the areas being audited. </a:t>
            </a:r>
            <a:endParaRPr lang="en-US" sz="2800" dirty="0">
              <a:solidFill>
                <a:srgbClr val="0D0D0D"/>
              </a:solidFill>
              <a:latin typeface="+mn-lt"/>
            </a:endParaRPr>
          </a:p>
          <a:p>
            <a:pPr marL="457200" indent="-457200" algn="l">
              <a:buFont typeface="Arial" panose="020B0604020202020204" pitchFamily="34" charset="0"/>
              <a:buChar char="•"/>
            </a:pPr>
            <a:r>
              <a:rPr lang="en-US" sz="2800" b="0" i="0" dirty="0">
                <a:solidFill>
                  <a:srgbClr val="0D0D0D"/>
                </a:solidFill>
                <a:effectLst/>
                <a:latin typeface="+mn-lt"/>
              </a:rPr>
              <a:t>roles and responsibilities for conducting internal audits may vary depending on the size, structure, and resources of the organization.</a:t>
            </a:r>
          </a:p>
          <a:p>
            <a:pPr marL="457200" indent="-457200" algn="l">
              <a:buFont typeface="Arial" panose="020B0604020202020204" pitchFamily="34" charset="0"/>
              <a:buChar char="•"/>
            </a:pPr>
            <a:r>
              <a:rPr lang="en-US" sz="2800" dirty="0">
                <a:solidFill>
                  <a:srgbClr val="0D0D0D"/>
                </a:solidFill>
                <a:latin typeface="+mn-lt"/>
              </a:rPr>
              <a:t>Internal </a:t>
            </a:r>
            <a:r>
              <a:rPr lang="en-US" sz="2800" b="0" i="0" dirty="0">
                <a:solidFill>
                  <a:srgbClr val="0D0D0D"/>
                </a:solidFill>
                <a:effectLst/>
                <a:latin typeface="+mn-lt"/>
              </a:rPr>
              <a:t>auditors possess the necessary competence, objectivity, and independence to perform their duties effectively. </a:t>
            </a:r>
          </a:p>
          <a:p>
            <a:pPr marL="457200" indent="-457200" algn="l">
              <a:buFont typeface="Arial" panose="020B0604020202020204" pitchFamily="34" charset="0"/>
              <a:buChar char="•"/>
            </a:pPr>
            <a:r>
              <a:rPr lang="en-US" sz="2800" b="0" i="0" dirty="0">
                <a:solidFill>
                  <a:srgbClr val="0D0D0D"/>
                </a:solidFill>
                <a:effectLst/>
                <a:latin typeface="+mn-lt"/>
              </a:rPr>
              <a:t>Internal auditors should adhere to professional standards, ethical principles, and established audit methodologies to ensure the integrity and credibility of the audit process and its outcomes.</a:t>
            </a:r>
          </a:p>
          <a:p>
            <a:pPr algn="l"/>
            <a:br>
              <a:rPr lang="en-US" sz="2800" b="0" i="0" dirty="0">
                <a:solidFill>
                  <a:srgbClr val="0D0D0D"/>
                </a:solidFill>
                <a:effectLst/>
                <a:latin typeface="+mn-lt"/>
              </a:rPr>
            </a:br>
            <a:endParaRPr lang="en-US" sz="2800" b="0" i="0" dirty="0">
              <a:solidFill>
                <a:srgbClr val="0D0D0D"/>
              </a:solidFill>
              <a:effectLst/>
              <a:latin typeface="+mn-lt"/>
            </a:endParaRPr>
          </a:p>
          <a:p>
            <a:pPr algn="l"/>
            <a:endParaRPr lang="en-US" sz="2500" b="0" i="0" dirty="0">
              <a:solidFill>
                <a:srgbClr val="0D0D0D"/>
              </a:solidFill>
              <a:effectLst/>
              <a:latin typeface="+mn-lt"/>
            </a:endParaRPr>
          </a:p>
        </p:txBody>
      </p:sp>
    </p:spTree>
    <p:extLst>
      <p:ext uri="{BB962C8B-B14F-4D97-AF65-F5344CB8AC3E}">
        <p14:creationId xmlns:p14="http://schemas.microsoft.com/office/powerpoint/2010/main" val="3627803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0C16290-5D91-3411-1A05-ABBC85A20884}"/>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91D9398C-F1E7-4A9E-5334-DD162D449208}"/>
              </a:ext>
            </a:extLst>
          </p:cNvPr>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sym typeface="Montserrat"/>
              </a:rPr>
              <a:t>INTERNAL AUDIT PROCEDURE</a:t>
            </a:r>
            <a:endParaRPr lang="en-US"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F041EC1C-9337-1023-ED52-24A357491BD4}"/>
              </a:ext>
            </a:extLst>
          </p:cNvPr>
          <p:cNvSpPr/>
          <p:nvPr/>
        </p:nvSpPr>
        <p:spPr>
          <a:xfrm rot="-1625759">
            <a:off x="8756505" y="-167437"/>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1A3F6DD2-B0CF-FA1D-1CFD-2058E75F3502}"/>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F7771E78-034F-3C67-CB50-45D6E9EA87C3}"/>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6F21268D-111F-B2D5-B64E-6920661F95CA}"/>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5B0DCC88-45B8-C529-14CE-EAC3686DD17F}"/>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16C59D76-7C39-4AD6-0AC0-EDF77B8AC132}"/>
              </a:ext>
            </a:extLst>
          </p:cNvPr>
          <p:cNvSpPr txBox="1"/>
          <p:nvPr/>
        </p:nvSpPr>
        <p:spPr>
          <a:xfrm>
            <a:off x="829733" y="2472267"/>
            <a:ext cx="15832667" cy="7802136"/>
          </a:xfrm>
          <a:prstGeom prst="rect">
            <a:avLst/>
          </a:prstGeom>
          <a:noFill/>
        </p:spPr>
        <p:txBody>
          <a:bodyPr wrap="square" rtlCol="0">
            <a:spAutoFit/>
          </a:bodyPr>
          <a:lstStyle/>
          <a:p>
            <a:pPr algn="l"/>
            <a:r>
              <a:rPr lang="en-US" sz="2800" b="0" i="0" dirty="0">
                <a:solidFill>
                  <a:srgbClr val="0D0D0D"/>
                </a:solidFill>
                <a:effectLst/>
                <a:latin typeface="+mn-lt"/>
              </a:rPr>
              <a:t>The internal audit procedure outlines the step-by-step process for planning, conducting, reporting, and following up within an organization.</a:t>
            </a:r>
          </a:p>
          <a:p>
            <a:pPr algn="l"/>
            <a:endParaRPr lang="en-US" sz="2800" b="0" i="0" dirty="0">
              <a:solidFill>
                <a:srgbClr val="0D0D0D"/>
              </a:solidFill>
              <a:effectLst/>
              <a:latin typeface="+mn-lt"/>
            </a:endParaRPr>
          </a:p>
          <a:p>
            <a:pPr algn="l">
              <a:buFont typeface="+mj-lt"/>
              <a:buAutoNum type="arabicPeriod"/>
            </a:pPr>
            <a:r>
              <a:rPr lang="en-US" sz="2800" b="1" i="0" dirty="0">
                <a:solidFill>
                  <a:srgbClr val="0D0D0D"/>
                </a:solidFill>
                <a:effectLst/>
                <a:latin typeface="+mn-lt"/>
              </a:rPr>
              <a:t>Establish Audit Objectives</a:t>
            </a:r>
            <a:r>
              <a:rPr lang="en-US" sz="2800" b="0" i="0" dirty="0">
                <a:solidFill>
                  <a:srgbClr val="0D0D0D"/>
                </a:solidFill>
                <a:effectLst/>
                <a:latin typeface="+mn-lt"/>
              </a:rPr>
              <a:t>:</a:t>
            </a:r>
          </a:p>
          <a:p>
            <a:pPr marL="914400" lvl="1" indent="-457200" algn="l">
              <a:buFont typeface="Arial" panose="020B0604020202020204" pitchFamily="34" charset="0"/>
              <a:buChar char="•"/>
            </a:pPr>
            <a:r>
              <a:rPr lang="en-US" sz="2800" b="0" i="0" dirty="0">
                <a:solidFill>
                  <a:srgbClr val="0D0D0D"/>
                </a:solidFill>
                <a:effectLst/>
                <a:latin typeface="+mn-lt"/>
              </a:rPr>
              <a:t>Define the objectives and scope of the internal audit, considering organizational goals, regulatory requirements, and areas of risk or concern.</a:t>
            </a:r>
          </a:p>
          <a:p>
            <a:pPr algn="l">
              <a:buFont typeface="+mj-lt"/>
              <a:buAutoNum type="arabicPeriod"/>
            </a:pPr>
            <a:r>
              <a:rPr lang="en-US" sz="2800" b="1" i="0" dirty="0">
                <a:solidFill>
                  <a:srgbClr val="0D0D0D"/>
                </a:solidFill>
                <a:effectLst/>
                <a:latin typeface="+mn-lt"/>
              </a:rPr>
              <a:t>Develop Audit Plan</a:t>
            </a:r>
            <a:r>
              <a:rPr lang="en-US" sz="2800" b="0" i="0" dirty="0">
                <a:solidFill>
                  <a:srgbClr val="0D0D0D"/>
                </a:solidFill>
                <a:effectLst/>
                <a:latin typeface="+mn-lt"/>
              </a:rPr>
              <a:t>:</a:t>
            </a:r>
          </a:p>
          <a:p>
            <a:pPr marL="914400" lvl="1" indent="-457200" algn="l">
              <a:buFont typeface="Arial" panose="020B0604020202020204" pitchFamily="34" charset="0"/>
              <a:buChar char="•"/>
            </a:pPr>
            <a:r>
              <a:rPr lang="en-US" sz="2800" b="0" i="0" dirty="0">
                <a:solidFill>
                  <a:srgbClr val="0D0D0D"/>
                </a:solidFill>
                <a:effectLst/>
                <a:latin typeface="+mn-lt"/>
              </a:rPr>
              <a:t>Develop an audit plan that outlines the audit objectives, scope, methodology, resources, and timeline.</a:t>
            </a:r>
          </a:p>
          <a:p>
            <a:pPr marL="914400" lvl="1" indent="-457200" algn="l">
              <a:buFont typeface="Arial" panose="020B0604020202020204" pitchFamily="34" charset="0"/>
              <a:buChar char="•"/>
            </a:pPr>
            <a:r>
              <a:rPr lang="en-US" sz="2800" b="0" i="0" dirty="0">
                <a:solidFill>
                  <a:srgbClr val="0D0D0D"/>
                </a:solidFill>
                <a:effectLst/>
                <a:latin typeface="+mn-lt"/>
              </a:rPr>
              <a:t>Identify key processes, departments, or areas to be audited based on risk assessment and materiality considerations.</a:t>
            </a:r>
          </a:p>
          <a:p>
            <a:pPr algn="l">
              <a:buFont typeface="+mj-lt"/>
              <a:buAutoNum type="arabicPeriod"/>
            </a:pPr>
            <a:r>
              <a:rPr lang="en-US" sz="2800" b="1" i="0" dirty="0">
                <a:solidFill>
                  <a:srgbClr val="0D0D0D"/>
                </a:solidFill>
                <a:effectLst/>
                <a:latin typeface="+mn-lt"/>
              </a:rPr>
              <a:t>Assign Audit Team</a:t>
            </a:r>
            <a:r>
              <a:rPr lang="en-US" sz="2800" b="0" i="0" dirty="0">
                <a:solidFill>
                  <a:srgbClr val="0D0D0D"/>
                </a:solidFill>
                <a:effectLst/>
                <a:latin typeface="+mn-lt"/>
              </a:rPr>
              <a:t>:</a:t>
            </a:r>
          </a:p>
          <a:p>
            <a:pPr marL="914400" lvl="1" indent="-457200" algn="l">
              <a:buFont typeface="Arial" panose="020B0604020202020204" pitchFamily="34" charset="0"/>
              <a:buChar char="•"/>
            </a:pPr>
            <a:r>
              <a:rPr lang="en-US" sz="2800" b="0" i="0" dirty="0">
                <a:solidFill>
                  <a:srgbClr val="0D0D0D"/>
                </a:solidFill>
                <a:effectLst/>
                <a:latin typeface="+mn-lt"/>
              </a:rPr>
              <a:t>Assign internal audit team members responsible for conducting the audit.</a:t>
            </a:r>
          </a:p>
          <a:p>
            <a:pPr marL="914400" lvl="1" indent="-457200" algn="l">
              <a:buFont typeface="Arial" panose="020B0604020202020204" pitchFamily="34" charset="0"/>
              <a:buChar char="•"/>
            </a:pPr>
            <a:r>
              <a:rPr lang="en-US" sz="2800" b="0" i="0" dirty="0">
                <a:solidFill>
                  <a:srgbClr val="0D0D0D"/>
                </a:solidFill>
                <a:effectLst/>
                <a:latin typeface="+mn-lt"/>
              </a:rPr>
              <a:t>Ensure that audit team members have the necessary skills, knowledge, and independence to perform their roles effectively.</a:t>
            </a:r>
          </a:p>
          <a:p>
            <a:pPr algn="l"/>
            <a:br>
              <a:rPr lang="en-US" sz="2800" b="0" i="0" dirty="0">
                <a:solidFill>
                  <a:srgbClr val="0D0D0D"/>
                </a:solidFill>
                <a:effectLst/>
                <a:latin typeface="+mn-lt"/>
              </a:rPr>
            </a:br>
            <a:endParaRPr lang="en-US" sz="2800" b="0" i="0" dirty="0">
              <a:solidFill>
                <a:srgbClr val="0D0D0D"/>
              </a:solidFill>
              <a:effectLst/>
              <a:latin typeface="+mn-lt"/>
            </a:endParaRPr>
          </a:p>
          <a:p>
            <a:pPr algn="l"/>
            <a:endParaRPr lang="en-US" sz="2500" b="0" i="0" dirty="0">
              <a:solidFill>
                <a:srgbClr val="0D0D0D"/>
              </a:solidFill>
              <a:effectLst/>
              <a:latin typeface="+mn-lt"/>
            </a:endParaRPr>
          </a:p>
        </p:txBody>
      </p:sp>
    </p:spTree>
    <p:extLst>
      <p:ext uri="{BB962C8B-B14F-4D97-AF65-F5344CB8AC3E}">
        <p14:creationId xmlns:p14="http://schemas.microsoft.com/office/powerpoint/2010/main" val="93637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91A1217-9892-D5B6-7540-DA907E90D6FA}"/>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4E43E1F4-6A54-94FD-97D0-AC5D9E319270}"/>
              </a:ext>
            </a:extLst>
          </p:cNvPr>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sym typeface="Montserrat"/>
              </a:rPr>
              <a:t>INTERNAL AUDIT PROCEDURE</a:t>
            </a:r>
            <a:endParaRPr lang="en-US"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C73E70D3-CCD2-DB80-CBFC-76D655A05D5C}"/>
              </a:ext>
            </a:extLst>
          </p:cNvPr>
          <p:cNvSpPr/>
          <p:nvPr/>
        </p:nvSpPr>
        <p:spPr>
          <a:xfrm rot="-1625759">
            <a:off x="8756505" y="-167437"/>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C96D8152-F800-69F4-9A43-1A90A2D2D3FD}"/>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17A25CD3-E2AE-6C9A-0FEC-6D26814A4554}"/>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A9B4BB2C-1288-C667-2710-BC8FBC13DD0F}"/>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B71A6809-B910-54B7-BC73-18C554E0739C}"/>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61971B56-3FDE-BFAB-643F-D36E31A26985}"/>
              </a:ext>
            </a:extLst>
          </p:cNvPr>
          <p:cNvSpPr txBox="1"/>
          <p:nvPr/>
        </p:nvSpPr>
        <p:spPr>
          <a:xfrm>
            <a:off x="829733" y="2472267"/>
            <a:ext cx="15832667" cy="6940361"/>
          </a:xfrm>
          <a:prstGeom prst="rect">
            <a:avLst/>
          </a:prstGeom>
          <a:noFill/>
        </p:spPr>
        <p:txBody>
          <a:bodyPr wrap="square" rtlCol="0">
            <a:spAutoFit/>
          </a:bodyPr>
          <a:lstStyle/>
          <a:p>
            <a:pPr algn="l"/>
            <a:endParaRPr lang="en-US" sz="2800" b="0" i="0" dirty="0">
              <a:solidFill>
                <a:srgbClr val="0D0D0D"/>
              </a:solidFill>
              <a:effectLst/>
              <a:latin typeface="+mn-lt"/>
            </a:endParaRPr>
          </a:p>
          <a:p>
            <a:pPr algn="l"/>
            <a:r>
              <a:rPr lang="en-US" sz="2800" b="1" i="0" dirty="0">
                <a:solidFill>
                  <a:srgbClr val="0D0D0D"/>
                </a:solidFill>
                <a:effectLst/>
                <a:latin typeface="+mn-lt"/>
              </a:rPr>
              <a:t>4. Conduct Entrance Meeting</a:t>
            </a:r>
            <a:r>
              <a:rPr lang="en-US" sz="2800" b="0" i="0" dirty="0">
                <a:solidFill>
                  <a:srgbClr val="0D0D0D"/>
                </a:solidFill>
                <a:effectLst/>
                <a:latin typeface="+mn-lt"/>
              </a:rPr>
              <a:t>:</a:t>
            </a:r>
          </a:p>
          <a:p>
            <a:pPr marL="914400" lvl="1" indent="-457200" algn="l">
              <a:buFont typeface="Arial" panose="020B0604020202020204" pitchFamily="34" charset="0"/>
              <a:buChar char="•"/>
            </a:pPr>
            <a:r>
              <a:rPr lang="en-US" sz="2800" b="0" i="0" dirty="0">
                <a:solidFill>
                  <a:srgbClr val="0D0D0D"/>
                </a:solidFill>
                <a:effectLst/>
                <a:latin typeface="+mn-lt"/>
              </a:rPr>
              <a:t>Hold meeting with management to communicate the audit objectives, scope, methodology, and expectations.</a:t>
            </a:r>
          </a:p>
          <a:p>
            <a:pPr marL="914400" lvl="1" indent="-457200" algn="l">
              <a:buFont typeface="Arial" panose="020B0604020202020204" pitchFamily="34" charset="0"/>
              <a:buChar char="•"/>
            </a:pPr>
            <a:r>
              <a:rPr lang="en-US" sz="2800" b="0" i="0" dirty="0">
                <a:solidFill>
                  <a:srgbClr val="0D0D0D"/>
                </a:solidFill>
                <a:effectLst/>
                <a:latin typeface="+mn-lt"/>
              </a:rPr>
              <a:t>Obtain management's cooperation and support for the audit process.</a:t>
            </a:r>
          </a:p>
          <a:p>
            <a:pPr algn="l"/>
            <a:r>
              <a:rPr lang="en-US" sz="2800" b="1" i="0" dirty="0">
                <a:solidFill>
                  <a:srgbClr val="0D0D0D"/>
                </a:solidFill>
                <a:effectLst/>
                <a:latin typeface="+mn-lt"/>
              </a:rPr>
              <a:t>5. Perform Risk Assessment</a:t>
            </a:r>
            <a:r>
              <a:rPr lang="en-US" sz="2800" b="0" i="0" dirty="0">
                <a:solidFill>
                  <a:srgbClr val="0D0D0D"/>
                </a:solidFill>
                <a:effectLst/>
                <a:latin typeface="+mn-lt"/>
              </a:rPr>
              <a:t>:</a:t>
            </a:r>
          </a:p>
          <a:p>
            <a:pPr marL="914400" lvl="1" indent="-457200" algn="l">
              <a:buFont typeface="Arial" panose="020B0604020202020204" pitchFamily="34" charset="0"/>
              <a:buChar char="•"/>
            </a:pPr>
            <a:r>
              <a:rPr lang="en-US" sz="2800" b="0" i="0" dirty="0">
                <a:solidFill>
                  <a:srgbClr val="0D0D0D"/>
                </a:solidFill>
                <a:effectLst/>
                <a:latin typeface="+mn-lt"/>
              </a:rPr>
              <a:t>to identify and prioritize areas of focus for the audit.</a:t>
            </a:r>
          </a:p>
          <a:p>
            <a:pPr marL="914400" lvl="1" indent="-457200" algn="l">
              <a:buFont typeface="Arial" panose="020B0604020202020204" pitchFamily="34" charset="0"/>
              <a:buChar char="•"/>
            </a:pPr>
            <a:r>
              <a:rPr lang="en-US" sz="2800" b="0" i="0" dirty="0">
                <a:solidFill>
                  <a:srgbClr val="0D0D0D"/>
                </a:solidFill>
                <a:effectLst/>
                <a:latin typeface="+mn-lt"/>
              </a:rPr>
              <a:t>Evaluate inherent risks, control activities, and potential impact on organizational objectives.</a:t>
            </a:r>
          </a:p>
          <a:p>
            <a:pPr algn="l"/>
            <a:r>
              <a:rPr lang="en-US" sz="2800" b="1" i="0" dirty="0">
                <a:solidFill>
                  <a:srgbClr val="0D0D0D"/>
                </a:solidFill>
                <a:effectLst/>
                <a:latin typeface="+mn-lt"/>
              </a:rPr>
              <a:t>6. Develop Audit Program</a:t>
            </a:r>
            <a:r>
              <a:rPr lang="en-US" sz="2800" b="0" i="0" dirty="0">
                <a:solidFill>
                  <a:srgbClr val="0D0D0D"/>
                </a:solidFill>
                <a:effectLst/>
                <a:latin typeface="+mn-lt"/>
              </a:rPr>
              <a:t>:</a:t>
            </a:r>
          </a:p>
          <a:p>
            <a:pPr marL="914400" lvl="1" indent="-457200" algn="l">
              <a:buFont typeface="Arial" panose="020B0604020202020204" pitchFamily="34" charset="0"/>
              <a:buChar char="•"/>
            </a:pPr>
            <a:r>
              <a:rPr lang="en-US" sz="2800" b="0" i="0" dirty="0">
                <a:solidFill>
                  <a:srgbClr val="0D0D0D"/>
                </a:solidFill>
                <a:effectLst/>
                <a:latin typeface="+mn-lt"/>
              </a:rPr>
              <a:t>Develop an audit program or checklist that outlines the audit procedures, criteria, and documentation requirements.</a:t>
            </a:r>
          </a:p>
          <a:p>
            <a:pPr marL="914400" lvl="1" indent="-457200" algn="l">
              <a:buFont typeface="Arial" panose="020B0604020202020204" pitchFamily="34" charset="0"/>
              <a:buChar char="•"/>
            </a:pPr>
            <a:r>
              <a:rPr lang="en-US" sz="2800" b="0" i="0" dirty="0">
                <a:solidFill>
                  <a:srgbClr val="0D0D0D"/>
                </a:solidFill>
                <a:effectLst/>
                <a:latin typeface="+mn-lt"/>
              </a:rPr>
              <a:t>Customize the audit program based on the specific objectives and risks identified for each auditable area.</a:t>
            </a:r>
          </a:p>
          <a:p>
            <a:pPr algn="l"/>
            <a:br>
              <a:rPr lang="en-US" sz="2800" b="0" i="0" dirty="0">
                <a:solidFill>
                  <a:srgbClr val="0D0D0D"/>
                </a:solidFill>
                <a:effectLst/>
                <a:latin typeface="+mn-lt"/>
              </a:rPr>
            </a:br>
            <a:endParaRPr lang="en-US" sz="2800" b="0" i="0" dirty="0">
              <a:solidFill>
                <a:srgbClr val="0D0D0D"/>
              </a:solidFill>
              <a:effectLst/>
              <a:latin typeface="+mn-lt"/>
            </a:endParaRPr>
          </a:p>
          <a:p>
            <a:pPr algn="l"/>
            <a:endParaRPr lang="en-US" sz="2500" b="0" i="0" dirty="0">
              <a:solidFill>
                <a:srgbClr val="0D0D0D"/>
              </a:solidFill>
              <a:effectLst/>
              <a:latin typeface="+mn-lt"/>
            </a:endParaRPr>
          </a:p>
        </p:txBody>
      </p:sp>
    </p:spTree>
    <p:extLst>
      <p:ext uri="{BB962C8B-B14F-4D97-AF65-F5344CB8AC3E}">
        <p14:creationId xmlns:p14="http://schemas.microsoft.com/office/powerpoint/2010/main" val="1426520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CC14CD06-C84B-6E99-C874-53EC13D2D116}"/>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2D9BFF08-8DC3-87BB-5919-7AFCDF18CE49}"/>
              </a:ext>
            </a:extLst>
          </p:cNvPr>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sym typeface="Montserrat"/>
              </a:rPr>
              <a:t>INTERNAL AUDIT PROCEDURE</a:t>
            </a:r>
            <a:endParaRPr lang="en-US"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B58B13A0-0730-5610-949A-7F78AA861DEE}"/>
              </a:ext>
            </a:extLst>
          </p:cNvPr>
          <p:cNvSpPr/>
          <p:nvPr/>
        </p:nvSpPr>
        <p:spPr>
          <a:xfrm rot="-1625759">
            <a:off x="8756505" y="-167437"/>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61C59BC7-0AC4-3658-7EC7-1BA119933C13}"/>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E90955D4-97EF-459F-ABE0-124ABD99F8DC}"/>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01DB5409-8E46-B16E-57CC-036DE565DBF6}"/>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C46154C9-4230-E8E4-C010-3C468E5802D9}"/>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B80ED1CA-7066-1DDB-EE20-AAB946633EE6}"/>
              </a:ext>
            </a:extLst>
          </p:cNvPr>
          <p:cNvSpPr txBox="1"/>
          <p:nvPr/>
        </p:nvSpPr>
        <p:spPr>
          <a:xfrm>
            <a:off x="829733" y="2472267"/>
            <a:ext cx="15832667" cy="7802136"/>
          </a:xfrm>
          <a:prstGeom prst="rect">
            <a:avLst/>
          </a:prstGeom>
          <a:noFill/>
        </p:spPr>
        <p:txBody>
          <a:bodyPr wrap="square" rtlCol="0">
            <a:spAutoFit/>
          </a:bodyPr>
          <a:lstStyle/>
          <a:p>
            <a:pPr algn="l"/>
            <a:r>
              <a:rPr lang="en-US" sz="2800" b="1" i="0" dirty="0">
                <a:solidFill>
                  <a:srgbClr val="0D0D0D"/>
                </a:solidFill>
                <a:effectLst/>
                <a:latin typeface="+mn-lt"/>
              </a:rPr>
              <a:t>7. Gather Audit Evidence</a:t>
            </a:r>
            <a:r>
              <a:rPr lang="en-US" sz="2800" b="0" i="0" dirty="0">
                <a:solidFill>
                  <a:srgbClr val="0D0D0D"/>
                </a:solidFill>
                <a:effectLst/>
                <a:latin typeface="+mn-lt"/>
              </a:rPr>
              <a:t>:</a:t>
            </a:r>
          </a:p>
          <a:p>
            <a:pPr marL="914400" lvl="1" indent="-457200" algn="l">
              <a:buFont typeface="Arial" panose="020B0604020202020204" pitchFamily="34" charset="0"/>
              <a:buChar char="•"/>
            </a:pPr>
            <a:r>
              <a:rPr lang="en-US" sz="2800" b="0" i="0" dirty="0">
                <a:solidFill>
                  <a:srgbClr val="0D0D0D"/>
                </a:solidFill>
                <a:effectLst/>
                <a:latin typeface="+mn-lt"/>
              </a:rPr>
              <a:t>Collect audit evidence through interviews, observations, documentation review, and testing of controls.</a:t>
            </a:r>
          </a:p>
          <a:p>
            <a:pPr marL="914400" lvl="1" indent="-457200" algn="l">
              <a:buFont typeface="Arial" panose="020B0604020202020204" pitchFamily="34" charset="0"/>
              <a:buChar char="•"/>
            </a:pPr>
            <a:r>
              <a:rPr lang="en-US" sz="2800" b="0" i="0" dirty="0">
                <a:solidFill>
                  <a:srgbClr val="0D0D0D"/>
                </a:solidFill>
                <a:effectLst/>
                <a:latin typeface="+mn-lt"/>
              </a:rPr>
              <a:t>Evaluate the adequacy and effectiveness of internal controls in mitigating risks and achieving audit objectives.</a:t>
            </a:r>
          </a:p>
          <a:p>
            <a:pPr algn="l"/>
            <a:r>
              <a:rPr lang="en-US" sz="2800" b="1" i="0" dirty="0">
                <a:solidFill>
                  <a:srgbClr val="0D0D0D"/>
                </a:solidFill>
                <a:effectLst/>
                <a:latin typeface="+mn-lt"/>
              </a:rPr>
              <a:t>8. Analyze Findings</a:t>
            </a:r>
            <a:r>
              <a:rPr lang="en-US" sz="2800" b="0" i="0" dirty="0">
                <a:solidFill>
                  <a:srgbClr val="0D0D0D"/>
                </a:solidFill>
                <a:effectLst/>
                <a:latin typeface="+mn-lt"/>
              </a:rPr>
              <a:t>:</a:t>
            </a:r>
          </a:p>
          <a:p>
            <a:pPr marL="914400" lvl="1" indent="-457200" algn="l">
              <a:buFont typeface="Arial" panose="020B0604020202020204" pitchFamily="34" charset="0"/>
              <a:buChar char="•"/>
            </a:pPr>
            <a:r>
              <a:rPr lang="en-US" sz="2800" b="0" i="0" dirty="0">
                <a:solidFill>
                  <a:srgbClr val="0D0D0D"/>
                </a:solidFill>
                <a:effectLst/>
                <a:latin typeface="+mn-lt"/>
              </a:rPr>
              <a:t>Analyze audit findings and observations to determine compliance with policies, procedures, regulations, and standards.</a:t>
            </a:r>
          </a:p>
          <a:p>
            <a:pPr marL="914400" lvl="1" indent="-457200" algn="l">
              <a:buFont typeface="Arial" panose="020B0604020202020204" pitchFamily="34" charset="0"/>
              <a:buChar char="•"/>
            </a:pPr>
            <a:r>
              <a:rPr lang="en-US" sz="2800" b="0" i="0" dirty="0">
                <a:solidFill>
                  <a:srgbClr val="0D0D0D"/>
                </a:solidFill>
                <a:effectLst/>
                <a:latin typeface="+mn-lt"/>
              </a:rPr>
              <a:t>Identify strengths, weaknesses, and opportunities for improvement within audited processes or areas.</a:t>
            </a:r>
          </a:p>
          <a:p>
            <a:pPr algn="l"/>
            <a:r>
              <a:rPr lang="en-US" sz="2800" b="1" i="0" dirty="0">
                <a:solidFill>
                  <a:srgbClr val="0D0D0D"/>
                </a:solidFill>
                <a:effectLst/>
                <a:latin typeface="+mn-lt"/>
              </a:rPr>
              <a:t>9. Prepare Audit Report</a:t>
            </a:r>
            <a:r>
              <a:rPr lang="en-US" sz="2800" b="0" i="0" dirty="0">
                <a:solidFill>
                  <a:srgbClr val="0D0D0D"/>
                </a:solidFill>
                <a:effectLst/>
                <a:latin typeface="+mn-lt"/>
              </a:rPr>
              <a:t>:</a:t>
            </a:r>
          </a:p>
          <a:p>
            <a:pPr marL="914400" lvl="1" indent="-457200" algn="l">
              <a:buFont typeface="Arial" panose="020B0604020202020204" pitchFamily="34" charset="0"/>
              <a:buChar char="•"/>
            </a:pPr>
            <a:r>
              <a:rPr lang="en-US" sz="2800" b="0" i="0" dirty="0">
                <a:solidFill>
                  <a:srgbClr val="0D0D0D"/>
                </a:solidFill>
                <a:effectLst/>
                <a:latin typeface="+mn-lt"/>
              </a:rPr>
              <a:t>Prepare a comprehensive audit report summarizing the audit scope, objectives, methodology, findings, observations, and recommendations.</a:t>
            </a:r>
          </a:p>
          <a:p>
            <a:pPr marL="914400" lvl="1" indent="-457200" algn="l">
              <a:buFont typeface="Arial" panose="020B0604020202020204" pitchFamily="34" charset="0"/>
              <a:buChar char="•"/>
            </a:pPr>
            <a:r>
              <a:rPr lang="en-US" sz="2800" b="0" i="0" dirty="0">
                <a:solidFill>
                  <a:srgbClr val="0D0D0D"/>
                </a:solidFill>
                <a:effectLst/>
                <a:latin typeface="+mn-lt"/>
              </a:rPr>
              <a:t>Present audit findings objectively, clearly, and concisely, supported by relevant evidence and documentation.</a:t>
            </a:r>
          </a:p>
          <a:p>
            <a:pPr algn="l"/>
            <a:br>
              <a:rPr lang="en-US" sz="2800" b="0" i="0" dirty="0">
                <a:solidFill>
                  <a:srgbClr val="0D0D0D"/>
                </a:solidFill>
                <a:effectLst/>
                <a:latin typeface="+mn-lt"/>
              </a:rPr>
            </a:br>
            <a:endParaRPr lang="en-US" sz="2800" b="0" i="0" dirty="0">
              <a:solidFill>
                <a:srgbClr val="0D0D0D"/>
              </a:solidFill>
              <a:effectLst/>
              <a:latin typeface="+mn-lt"/>
            </a:endParaRPr>
          </a:p>
          <a:p>
            <a:pPr algn="l"/>
            <a:endParaRPr lang="en-US" sz="2500" b="0" i="0" dirty="0">
              <a:solidFill>
                <a:srgbClr val="0D0D0D"/>
              </a:solidFill>
              <a:effectLst/>
              <a:latin typeface="+mn-lt"/>
            </a:endParaRPr>
          </a:p>
        </p:txBody>
      </p:sp>
    </p:spTree>
    <p:extLst>
      <p:ext uri="{BB962C8B-B14F-4D97-AF65-F5344CB8AC3E}">
        <p14:creationId xmlns:p14="http://schemas.microsoft.com/office/powerpoint/2010/main" val="4078694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0C71637-DCE5-0CEC-DDA5-9AE404B12AD9}"/>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194A62BA-87DE-BE67-92C5-BC36E0F557D2}"/>
              </a:ext>
            </a:extLst>
          </p:cNvPr>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sym typeface="Montserrat"/>
              </a:rPr>
              <a:t>INTERNAL AUDIT PROCEDURE</a:t>
            </a:r>
            <a:endParaRPr lang="en-US"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5046C164-DF94-55D6-8ABC-B3BD60C04364}"/>
              </a:ext>
            </a:extLst>
          </p:cNvPr>
          <p:cNvSpPr/>
          <p:nvPr/>
        </p:nvSpPr>
        <p:spPr>
          <a:xfrm rot="-1625759">
            <a:off x="8756505" y="-167437"/>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B18E4D8E-CAF8-F76A-5EF2-F378B6B61EB8}"/>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13AB7444-D953-F219-F926-7BC8F14D28AF}"/>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69D95C22-881E-C132-54E2-4488A5A039A1}"/>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CA16D349-18E4-7875-4E74-BF56A246F9EF}"/>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1422D750-BBC1-822B-4AA6-5EAF985947C4}"/>
              </a:ext>
            </a:extLst>
          </p:cNvPr>
          <p:cNvSpPr txBox="1"/>
          <p:nvPr/>
        </p:nvSpPr>
        <p:spPr>
          <a:xfrm>
            <a:off x="829733" y="2472267"/>
            <a:ext cx="15832667" cy="6124754"/>
          </a:xfrm>
          <a:prstGeom prst="rect">
            <a:avLst/>
          </a:prstGeom>
          <a:noFill/>
        </p:spPr>
        <p:txBody>
          <a:bodyPr wrap="square" rtlCol="0">
            <a:spAutoFit/>
          </a:bodyPr>
          <a:lstStyle/>
          <a:p>
            <a:pPr algn="l"/>
            <a:r>
              <a:rPr lang="en-US" sz="2800" b="1" i="0" dirty="0">
                <a:solidFill>
                  <a:srgbClr val="0D0D0D"/>
                </a:solidFill>
                <a:effectLst/>
                <a:latin typeface="+mn-lt"/>
              </a:rPr>
              <a:t>10. Conduct Exit Meeting</a:t>
            </a:r>
            <a:r>
              <a:rPr lang="en-US" sz="2800" b="0" i="0" dirty="0">
                <a:solidFill>
                  <a:srgbClr val="0D0D0D"/>
                </a:solidFill>
                <a:effectLst/>
                <a:latin typeface="+mn-lt"/>
              </a:rPr>
              <a:t>:</a:t>
            </a:r>
          </a:p>
          <a:p>
            <a:pPr marL="914400" lvl="1" indent="-457200" algn="l">
              <a:buFont typeface="Arial" panose="020B0604020202020204" pitchFamily="34" charset="0"/>
              <a:buChar char="•"/>
            </a:pPr>
            <a:r>
              <a:rPr lang="en-US" sz="2800" b="0" i="0" dirty="0">
                <a:solidFill>
                  <a:srgbClr val="0D0D0D"/>
                </a:solidFill>
                <a:effectLst/>
                <a:latin typeface="+mn-lt"/>
              </a:rPr>
              <a:t>Hold an exit meeting with management to discuss audit findings, observations, and recommendations.</a:t>
            </a:r>
          </a:p>
          <a:p>
            <a:pPr marL="914400" lvl="1" indent="-457200" algn="l">
              <a:buFont typeface="Arial" panose="020B0604020202020204" pitchFamily="34" charset="0"/>
              <a:buChar char="•"/>
            </a:pPr>
            <a:r>
              <a:rPr lang="en-US" sz="2800" b="0" i="0" dirty="0">
                <a:solidFill>
                  <a:srgbClr val="0D0D0D"/>
                </a:solidFill>
                <a:effectLst/>
                <a:latin typeface="+mn-lt"/>
              </a:rPr>
              <a:t>Obtain management's responses, action plans, and commitments to address audit findings and implement corrective actions.</a:t>
            </a:r>
          </a:p>
          <a:p>
            <a:pPr algn="l"/>
            <a:r>
              <a:rPr lang="en-US" sz="2800" b="1" i="0" dirty="0">
                <a:solidFill>
                  <a:srgbClr val="0D0D0D"/>
                </a:solidFill>
                <a:effectLst/>
                <a:latin typeface="+mn-lt"/>
              </a:rPr>
              <a:t>11. Follow-Up on Action Plans</a:t>
            </a:r>
            <a:r>
              <a:rPr lang="en-US" sz="2800" b="0" i="0" dirty="0">
                <a:solidFill>
                  <a:srgbClr val="0D0D0D"/>
                </a:solidFill>
                <a:effectLst/>
                <a:latin typeface="+mn-lt"/>
              </a:rPr>
              <a:t>:</a:t>
            </a:r>
          </a:p>
          <a:p>
            <a:pPr marL="914400" lvl="1" indent="-457200" algn="l">
              <a:buFont typeface="Arial" panose="020B0604020202020204" pitchFamily="34" charset="0"/>
              <a:buChar char="•"/>
            </a:pPr>
            <a:r>
              <a:rPr lang="en-US" sz="2800" b="0" i="0" dirty="0">
                <a:solidFill>
                  <a:srgbClr val="0D0D0D"/>
                </a:solidFill>
                <a:effectLst/>
                <a:latin typeface="+mn-lt"/>
              </a:rPr>
              <a:t>Monitor and follow up on management's implementation of corrective actions and recommendations.</a:t>
            </a:r>
          </a:p>
          <a:p>
            <a:pPr marL="914400" lvl="1" indent="-457200" algn="l">
              <a:buFont typeface="Arial" panose="020B0604020202020204" pitchFamily="34" charset="0"/>
              <a:buChar char="•"/>
            </a:pPr>
            <a:r>
              <a:rPr lang="en-US" sz="2800" b="0" i="0" dirty="0">
                <a:solidFill>
                  <a:srgbClr val="0D0D0D"/>
                </a:solidFill>
                <a:effectLst/>
                <a:latin typeface="+mn-lt"/>
              </a:rPr>
              <a:t>Verify the effectiveness of corrective actions through subsequent audits or reviews.</a:t>
            </a:r>
          </a:p>
          <a:p>
            <a:pPr algn="l"/>
            <a:r>
              <a:rPr lang="en-US" sz="2800" b="1" i="0" dirty="0">
                <a:solidFill>
                  <a:srgbClr val="0D0D0D"/>
                </a:solidFill>
                <a:effectLst/>
                <a:latin typeface="+mn-lt"/>
              </a:rPr>
              <a:t>12. Document Audit Results</a:t>
            </a:r>
            <a:r>
              <a:rPr lang="en-US" sz="2800" b="0" i="0" dirty="0">
                <a:solidFill>
                  <a:srgbClr val="0D0D0D"/>
                </a:solidFill>
                <a:effectLst/>
                <a:latin typeface="+mn-lt"/>
              </a:rPr>
              <a:t>:</a:t>
            </a:r>
          </a:p>
          <a:p>
            <a:pPr marL="914400" lvl="1" indent="-457200" algn="l">
              <a:buFont typeface="Arial" panose="020B0604020202020204" pitchFamily="34" charset="0"/>
              <a:buChar char="•"/>
            </a:pPr>
            <a:r>
              <a:rPr lang="en-US" sz="2800" b="0" i="0" dirty="0">
                <a:solidFill>
                  <a:srgbClr val="0D0D0D"/>
                </a:solidFill>
                <a:effectLst/>
                <a:latin typeface="+mn-lt"/>
              </a:rPr>
              <a:t>Document audit results, including findings, observations, management responses, and follow-up actions, in audit reports and working papers.</a:t>
            </a:r>
          </a:p>
          <a:p>
            <a:pPr marL="914400" lvl="1" indent="-457200" algn="l">
              <a:buFont typeface="Arial" panose="020B0604020202020204" pitchFamily="34" charset="0"/>
              <a:buChar char="•"/>
            </a:pPr>
            <a:r>
              <a:rPr lang="en-US" sz="2800" b="0" i="0" dirty="0">
                <a:solidFill>
                  <a:srgbClr val="0D0D0D"/>
                </a:solidFill>
                <a:effectLst/>
                <a:latin typeface="+mn-lt"/>
              </a:rPr>
              <a:t>Maintain audit documentation in a secure and accessible manner for future reference and review.</a:t>
            </a:r>
          </a:p>
        </p:txBody>
      </p:sp>
    </p:spTree>
    <p:extLst>
      <p:ext uri="{BB962C8B-B14F-4D97-AF65-F5344CB8AC3E}">
        <p14:creationId xmlns:p14="http://schemas.microsoft.com/office/powerpoint/2010/main" val="1247263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78E62CCA-A80F-0427-F6F9-6C164F5BB922}"/>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AFB6991C-DC51-CC53-F07B-B7DB5B5A0DCE}"/>
              </a:ext>
            </a:extLst>
          </p:cNvPr>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sym typeface="Montserrat"/>
              </a:rPr>
              <a:t>QUALITIES OF AN AUDITOR </a:t>
            </a:r>
            <a:endParaRPr lang="en-US"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D8A4F664-6D88-9AE6-986F-CA57D2C629B0}"/>
              </a:ext>
            </a:extLst>
          </p:cNvPr>
          <p:cNvSpPr/>
          <p:nvPr/>
        </p:nvSpPr>
        <p:spPr>
          <a:xfrm rot="-1625759">
            <a:off x="8756505" y="-167437"/>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C3CDA557-E207-013F-6F8F-C1757275024A}"/>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4DE8CB6E-A4C5-F620-D515-AE553F5A9707}"/>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75ACB9DF-38E1-03CE-B76F-D05AA9E50A7E}"/>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0998491F-2C80-FD1F-D7CA-33F57E927BF9}"/>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AB9E9EA1-836C-6474-0185-650A28717432}"/>
              </a:ext>
            </a:extLst>
          </p:cNvPr>
          <p:cNvSpPr txBox="1"/>
          <p:nvPr/>
        </p:nvSpPr>
        <p:spPr>
          <a:xfrm>
            <a:off x="623086" y="2007810"/>
            <a:ext cx="15832667" cy="8710077"/>
          </a:xfrm>
          <a:prstGeom prst="rect">
            <a:avLst/>
          </a:prstGeom>
          <a:noFill/>
        </p:spPr>
        <p:txBody>
          <a:bodyPr wrap="square" rtlCol="0">
            <a:spAutoFit/>
          </a:bodyPr>
          <a:lstStyle/>
          <a:p>
            <a:pPr marL="457200" indent="-457200" algn="l">
              <a:buFont typeface="Arial" panose="020B0604020202020204" pitchFamily="34" charset="0"/>
              <a:buChar char="•"/>
            </a:pPr>
            <a:r>
              <a:rPr lang="en-US" sz="2800" b="0" i="0" dirty="0">
                <a:solidFill>
                  <a:srgbClr val="0D0D0D"/>
                </a:solidFill>
                <a:effectLst/>
                <a:latin typeface="+mn-lt"/>
              </a:rPr>
              <a:t>Auditors play a crucial role in assessing the effectiveness, efficiency, and compliance of an organization's quality management system (QMS) with ISO 9001:2015 standards. </a:t>
            </a:r>
          </a:p>
          <a:p>
            <a:pPr marL="457200" indent="-457200" algn="l">
              <a:buFont typeface="Arial" panose="020B0604020202020204" pitchFamily="34" charset="0"/>
              <a:buChar char="•"/>
            </a:pPr>
            <a:r>
              <a:rPr lang="en-US" sz="2800" b="0" i="0" dirty="0">
                <a:solidFill>
                  <a:srgbClr val="0D0D0D"/>
                </a:solidFill>
                <a:effectLst/>
                <a:latin typeface="+mn-lt"/>
              </a:rPr>
              <a:t>To perform their duties effectively, auditors should possess certain qualities and characteristics aligned with the principles outlined in ISO 9000:2015. </a:t>
            </a:r>
          </a:p>
          <a:p>
            <a:pPr marL="457200" indent="-457200" algn="l">
              <a:buFont typeface="Arial" panose="020B0604020202020204" pitchFamily="34" charset="0"/>
              <a:buChar char="•"/>
            </a:pPr>
            <a:r>
              <a:rPr lang="en-US" sz="2800" dirty="0">
                <a:effectLst/>
                <a:latin typeface="+mn-lt"/>
              </a:rPr>
              <a:t>By embodying these qualities, auditors can contribute to the successful implementation, maintenance, and continual improvement of quality management systems in accordance with ISO 9000:2015 standards.</a:t>
            </a:r>
          </a:p>
          <a:p>
            <a:pPr marL="457200" indent="-457200" algn="l">
              <a:buFont typeface="Arial" panose="020B0604020202020204" pitchFamily="34" charset="0"/>
              <a:buChar char="•"/>
            </a:pPr>
            <a:endParaRPr lang="en-US" sz="2800" dirty="0">
              <a:latin typeface="+mn-lt"/>
            </a:endParaRPr>
          </a:p>
          <a:p>
            <a:pPr algn="l">
              <a:buFont typeface="+mj-lt"/>
              <a:buAutoNum type="arabicPeriod"/>
            </a:pPr>
            <a:r>
              <a:rPr lang="en-US" sz="2800" b="1" i="0" dirty="0">
                <a:solidFill>
                  <a:srgbClr val="0D0D0D"/>
                </a:solidFill>
                <a:effectLst/>
                <a:latin typeface="+mn-lt"/>
              </a:rPr>
              <a:t>Competence</a:t>
            </a:r>
            <a:endParaRPr lang="en-US" sz="2800" dirty="0">
              <a:solidFill>
                <a:srgbClr val="0D0D0D"/>
              </a:solidFill>
              <a:latin typeface="+mn-lt"/>
            </a:endParaRPr>
          </a:p>
          <a:p>
            <a:pPr marL="457200" indent="-457200" algn="l">
              <a:buFont typeface="Arial" panose="020B0604020202020204" pitchFamily="34" charset="0"/>
              <a:buChar char="•"/>
            </a:pPr>
            <a:r>
              <a:rPr lang="en-US" sz="2800" b="0" i="0" dirty="0">
                <a:solidFill>
                  <a:srgbClr val="0D0D0D"/>
                </a:solidFill>
                <a:effectLst/>
                <a:latin typeface="+mn-lt"/>
              </a:rPr>
              <a:t>Auditors should have the necessary knowledge, skills, education, training, and experience to conduct audits effectively. </a:t>
            </a:r>
          </a:p>
          <a:p>
            <a:pPr algn="l"/>
            <a:endParaRPr lang="en-US" sz="2800" b="1" i="0" dirty="0">
              <a:solidFill>
                <a:srgbClr val="0D0D0D"/>
              </a:solidFill>
              <a:effectLst/>
              <a:latin typeface="+mn-lt"/>
            </a:endParaRPr>
          </a:p>
          <a:p>
            <a:pPr algn="l"/>
            <a:r>
              <a:rPr lang="en-US" sz="2800" b="1" i="0" dirty="0">
                <a:solidFill>
                  <a:srgbClr val="0D0D0D"/>
                </a:solidFill>
                <a:effectLst/>
                <a:latin typeface="+mn-lt"/>
              </a:rPr>
              <a:t>2. Independence</a:t>
            </a:r>
            <a:r>
              <a:rPr lang="en-US" sz="2800" b="0" i="0" dirty="0">
                <a:solidFill>
                  <a:srgbClr val="0D0D0D"/>
                </a:solidFill>
                <a:effectLst/>
                <a:latin typeface="+mn-lt"/>
              </a:rPr>
              <a:t>: </a:t>
            </a:r>
          </a:p>
          <a:p>
            <a:pPr marL="457200" indent="-457200" algn="l">
              <a:buFont typeface="Arial" panose="020B0604020202020204" pitchFamily="34" charset="0"/>
              <a:buChar char="•"/>
            </a:pPr>
            <a:r>
              <a:rPr lang="en-US" sz="2800" b="0" i="0" dirty="0">
                <a:solidFill>
                  <a:srgbClr val="0D0D0D"/>
                </a:solidFill>
                <a:effectLst/>
                <a:latin typeface="+mn-lt"/>
              </a:rPr>
              <a:t>Auditors should demonstrate independence, objectivity, and impartiality in their judgments and decisions. They should avoid conflicts of interest and maintain professional integrity and ethics throughout the audit process.</a:t>
            </a:r>
          </a:p>
          <a:p>
            <a:pPr algn="l"/>
            <a:endParaRPr lang="en-US" sz="2800" dirty="0">
              <a:effectLst/>
              <a:latin typeface="+mn-lt"/>
            </a:endParaRPr>
          </a:p>
          <a:p>
            <a:pPr algn="l"/>
            <a:br>
              <a:rPr lang="en-US" sz="2800" b="0" i="0" dirty="0">
                <a:solidFill>
                  <a:srgbClr val="000000"/>
                </a:solidFill>
                <a:effectLst/>
                <a:latin typeface="+mn-lt"/>
              </a:rPr>
            </a:br>
            <a:endParaRPr lang="en-US" sz="2800" b="0" i="0" dirty="0">
              <a:solidFill>
                <a:srgbClr val="000000"/>
              </a:solidFill>
              <a:effectLst/>
              <a:latin typeface="+mn-lt"/>
            </a:endParaRPr>
          </a:p>
          <a:p>
            <a:pPr algn="l"/>
            <a:endParaRPr lang="en-US" sz="2800" b="0" i="0" dirty="0">
              <a:solidFill>
                <a:srgbClr val="0D0D0D"/>
              </a:solidFill>
              <a:effectLst/>
              <a:latin typeface="+mn-lt"/>
            </a:endParaRPr>
          </a:p>
        </p:txBody>
      </p:sp>
    </p:spTree>
    <p:extLst>
      <p:ext uri="{BB962C8B-B14F-4D97-AF65-F5344CB8AC3E}">
        <p14:creationId xmlns:p14="http://schemas.microsoft.com/office/powerpoint/2010/main" val="1509341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27294CA-89B0-79D7-12AC-E39B08DAFA03}"/>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D43CD0CD-2536-889C-2014-D30A745B7894}"/>
              </a:ext>
            </a:extLst>
          </p:cNvPr>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sym typeface="Montserrat"/>
              </a:rPr>
              <a:t>QUALITIES OF AN AUDITOR </a:t>
            </a:r>
            <a:endParaRPr lang="en-US"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7C963174-F6CE-0BED-5C67-EF04B3790F64}"/>
              </a:ext>
            </a:extLst>
          </p:cNvPr>
          <p:cNvSpPr/>
          <p:nvPr/>
        </p:nvSpPr>
        <p:spPr>
          <a:xfrm rot="-1625759">
            <a:off x="8756505" y="-167437"/>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71C25893-ADF9-5F54-179F-33A9735330B9}"/>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6D9B0377-79E2-CA3C-4EBB-F54E7B9813E3}"/>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02530946-0C87-B7B0-9B20-0570B622E2F9}"/>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5E450D31-9A15-8F35-4124-6842774BD081}"/>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AC6046F6-9109-D24B-2A00-16CD2F4C9D50}"/>
              </a:ext>
            </a:extLst>
          </p:cNvPr>
          <p:cNvSpPr txBox="1"/>
          <p:nvPr/>
        </p:nvSpPr>
        <p:spPr>
          <a:xfrm>
            <a:off x="492493" y="1838476"/>
            <a:ext cx="15832667" cy="9140964"/>
          </a:xfrm>
          <a:prstGeom prst="rect">
            <a:avLst/>
          </a:prstGeom>
          <a:noFill/>
        </p:spPr>
        <p:txBody>
          <a:bodyPr wrap="square" rtlCol="0">
            <a:spAutoFit/>
          </a:bodyPr>
          <a:lstStyle/>
          <a:p>
            <a:pPr algn="l"/>
            <a:r>
              <a:rPr lang="en-US" sz="2800" b="1" i="0" dirty="0">
                <a:solidFill>
                  <a:srgbClr val="0D0D0D"/>
                </a:solidFill>
                <a:effectLst/>
                <a:latin typeface="+mn-lt"/>
              </a:rPr>
              <a:t>3. Ethical Behavior</a:t>
            </a:r>
            <a:endParaRPr lang="en-US" sz="2800" dirty="0">
              <a:solidFill>
                <a:srgbClr val="0D0D0D"/>
              </a:solidFill>
              <a:latin typeface="+mn-lt"/>
            </a:endParaRPr>
          </a:p>
          <a:p>
            <a:pPr marL="457200" indent="-457200" algn="l">
              <a:buFont typeface="Arial" panose="020B0604020202020204" pitchFamily="34" charset="0"/>
              <a:buChar char="•"/>
            </a:pPr>
            <a:r>
              <a:rPr lang="en-US" sz="2800" b="0" i="0" dirty="0">
                <a:solidFill>
                  <a:srgbClr val="0D0D0D"/>
                </a:solidFill>
                <a:effectLst/>
                <a:latin typeface="+mn-lt"/>
              </a:rPr>
              <a:t>Auditors should adhere to high ethical standards and conduct audits with integrity, honesty, and fairness. </a:t>
            </a:r>
          </a:p>
          <a:p>
            <a:pPr marL="457200" indent="-457200" algn="l">
              <a:buFont typeface="Arial" panose="020B0604020202020204" pitchFamily="34" charset="0"/>
              <a:buChar char="•"/>
            </a:pPr>
            <a:r>
              <a:rPr lang="en-US" sz="2800" b="0" i="0" dirty="0">
                <a:solidFill>
                  <a:srgbClr val="0D0D0D"/>
                </a:solidFill>
                <a:effectLst/>
                <a:latin typeface="+mn-lt"/>
              </a:rPr>
              <a:t>They should respect confidentiality, protect sensitive information, and act in the best interests of the organization and its stakeholders.</a:t>
            </a:r>
          </a:p>
          <a:p>
            <a:pPr algn="l"/>
            <a:endParaRPr lang="en-US" sz="2800" b="1" i="0" dirty="0">
              <a:solidFill>
                <a:srgbClr val="0D0D0D"/>
              </a:solidFill>
              <a:effectLst/>
              <a:latin typeface="+mn-lt"/>
            </a:endParaRPr>
          </a:p>
          <a:p>
            <a:pPr algn="l"/>
            <a:r>
              <a:rPr lang="en-US" sz="2800" b="1" i="0" dirty="0">
                <a:solidFill>
                  <a:srgbClr val="0D0D0D"/>
                </a:solidFill>
                <a:effectLst/>
                <a:latin typeface="+mn-lt"/>
              </a:rPr>
              <a:t>4. Communication Skills</a:t>
            </a:r>
            <a:endParaRPr lang="en-US" sz="2800" dirty="0">
              <a:solidFill>
                <a:srgbClr val="0D0D0D"/>
              </a:solidFill>
              <a:latin typeface="+mn-lt"/>
            </a:endParaRPr>
          </a:p>
          <a:p>
            <a:pPr marL="457200" indent="-457200" algn="l">
              <a:buFont typeface="Arial" panose="020B0604020202020204" pitchFamily="34" charset="0"/>
              <a:buChar char="•"/>
            </a:pPr>
            <a:r>
              <a:rPr lang="en-US" sz="2800" b="0" i="0" dirty="0">
                <a:solidFill>
                  <a:srgbClr val="0D0D0D"/>
                </a:solidFill>
                <a:effectLst/>
                <a:latin typeface="+mn-lt"/>
              </a:rPr>
              <a:t>Auditors should possess strong communication skills, including verbal and written communication, active listening, and interpersonal skills. </a:t>
            </a:r>
          </a:p>
          <a:p>
            <a:pPr marL="457200" indent="-457200" algn="l">
              <a:buFont typeface="Arial" panose="020B0604020202020204" pitchFamily="34" charset="0"/>
              <a:buChar char="•"/>
            </a:pPr>
            <a:r>
              <a:rPr lang="en-US" sz="2800" b="0" i="0" dirty="0">
                <a:solidFill>
                  <a:srgbClr val="0D0D0D"/>
                </a:solidFill>
                <a:effectLst/>
                <a:latin typeface="+mn-lt"/>
              </a:rPr>
              <a:t>They should effectively communicate audit findings, observations, and recommendations to auditees and management in a clear, concise, and professional manner.</a:t>
            </a:r>
          </a:p>
          <a:p>
            <a:pPr algn="l"/>
            <a:endParaRPr lang="en-US" sz="2800" b="1" i="0" dirty="0">
              <a:solidFill>
                <a:srgbClr val="0D0D0D"/>
              </a:solidFill>
              <a:effectLst/>
              <a:latin typeface="+mn-lt"/>
            </a:endParaRPr>
          </a:p>
          <a:p>
            <a:pPr algn="l"/>
            <a:r>
              <a:rPr lang="en-US" sz="2800" b="1" i="0" dirty="0">
                <a:solidFill>
                  <a:srgbClr val="0D0D0D"/>
                </a:solidFill>
                <a:effectLst/>
                <a:latin typeface="+mn-lt"/>
              </a:rPr>
              <a:t>5. Analytical Thinking</a:t>
            </a:r>
            <a:r>
              <a:rPr lang="en-US" sz="2800" b="0" i="0" dirty="0">
                <a:solidFill>
                  <a:srgbClr val="0D0D0D"/>
                </a:solidFill>
                <a:effectLst/>
                <a:latin typeface="+mn-lt"/>
              </a:rPr>
              <a:t>: </a:t>
            </a:r>
          </a:p>
          <a:p>
            <a:pPr marL="457200" indent="-457200" algn="l">
              <a:buFont typeface="Arial" panose="020B0604020202020204" pitchFamily="34" charset="0"/>
              <a:buChar char="•"/>
            </a:pPr>
            <a:r>
              <a:rPr lang="en-US" sz="2800" b="0" i="0" dirty="0">
                <a:solidFill>
                  <a:srgbClr val="0D0D0D"/>
                </a:solidFill>
                <a:effectLst/>
                <a:latin typeface="+mn-lt"/>
              </a:rPr>
              <a:t>Auditors should demonstrate analytical thinking and problem-solving skills to assess complex situations, identify root causes, and evaluate evidence objectively. </a:t>
            </a:r>
          </a:p>
          <a:p>
            <a:pPr marL="457200" indent="-457200" algn="l">
              <a:buFont typeface="Arial" panose="020B0604020202020204" pitchFamily="34" charset="0"/>
              <a:buChar char="•"/>
            </a:pPr>
            <a:r>
              <a:rPr lang="en-US" sz="2800" b="0" i="0" dirty="0">
                <a:solidFill>
                  <a:srgbClr val="0D0D0D"/>
                </a:solidFill>
                <a:effectLst/>
                <a:latin typeface="+mn-lt"/>
              </a:rPr>
              <a:t>They should critically analyze audit findings and draw valid conclusions based on factual evidence.</a:t>
            </a:r>
          </a:p>
          <a:p>
            <a:pPr algn="l"/>
            <a:endParaRPr lang="en-US" sz="2800" dirty="0">
              <a:effectLst/>
              <a:latin typeface="+mn-lt"/>
            </a:endParaRPr>
          </a:p>
          <a:p>
            <a:pPr algn="l"/>
            <a:br>
              <a:rPr lang="en-US" sz="2800" b="0" i="0" dirty="0">
                <a:solidFill>
                  <a:srgbClr val="000000"/>
                </a:solidFill>
                <a:effectLst/>
                <a:latin typeface="+mn-lt"/>
              </a:rPr>
            </a:br>
            <a:endParaRPr lang="en-US" sz="2800" b="0" i="0" dirty="0">
              <a:solidFill>
                <a:srgbClr val="000000"/>
              </a:solidFill>
              <a:effectLst/>
              <a:latin typeface="+mn-lt"/>
            </a:endParaRPr>
          </a:p>
          <a:p>
            <a:pPr algn="l"/>
            <a:endParaRPr lang="en-US" sz="2800" b="0" i="0" dirty="0">
              <a:solidFill>
                <a:srgbClr val="0D0D0D"/>
              </a:solidFill>
              <a:effectLst/>
              <a:latin typeface="+mn-lt"/>
            </a:endParaRPr>
          </a:p>
        </p:txBody>
      </p:sp>
    </p:spTree>
    <p:extLst>
      <p:ext uri="{BB962C8B-B14F-4D97-AF65-F5344CB8AC3E}">
        <p14:creationId xmlns:p14="http://schemas.microsoft.com/office/powerpoint/2010/main" val="1256377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B5C3F7C-C56A-C445-7F17-52B174AA3E2F}"/>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D17FC61B-EE0F-43B6-3480-EB1AE5066233}"/>
              </a:ext>
            </a:extLst>
          </p:cNvPr>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sym typeface="Montserrat"/>
              </a:rPr>
              <a:t>QUALITIES OF AN AUDITOR </a:t>
            </a:r>
            <a:endParaRPr lang="en-US"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B47B392D-225A-A270-2067-E7BB9EB81FAE}"/>
              </a:ext>
            </a:extLst>
          </p:cNvPr>
          <p:cNvSpPr/>
          <p:nvPr/>
        </p:nvSpPr>
        <p:spPr>
          <a:xfrm rot="-1625759">
            <a:off x="8756505" y="-167437"/>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E6233082-C86C-B666-3A35-4C263011FD67}"/>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F66F24E1-4127-5301-F429-CEC7EBEA09DD}"/>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8380B945-A764-49D9-CA63-12484C222E39}"/>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DB04CBE3-413F-E95E-C427-0FD92765DD5F}"/>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880E7DB9-4FC4-2323-C842-503B50358D7A}"/>
              </a:ext>
            </a:extLst>
          </p:cNvPr>
          <p:cNvSpPr txBox="1"/>
          <p:nvPr/>
        </p:nvSpPr>
        <p:spPr>
          <a:xfrm>
            <a:off x="508713" y="1923143"/>
            <a:ext cx="15832667" cy="9140964"/>
          </a:xfrm>
          <a:prstGeom prst="rect">
            <a:avLst/>
          </a:prstGeom>
          <a:noFill/>
        </p:spPr>
        <p:txBody>
          <a:bodyPr wrap="square" rtlCol="0">
            <a:spAutoFit/>
          </a:bodyPr>
          <a:lstStyle/>
          <a:p>
            <a:pPr algn="l"/>
            <a:r>
              <a:rPr lang="en-US" sz="2800" b="1" i="0" dirty="0">
                <a:solidFill>
                  <a:srgbClr val="0D0D0D"/>
                </a:solidFill>
                <a:effectLst/>
                <a:latin typeface="+mn-lt"/>
              </a:rPr>
              <a:t>6. Attention to Detail</a:t>
            </a:r>
            <a:r>
              <a:rPr lang="en-US" sz="2800" b="0" i="0" dirty="0">
                <a:solidFill>
                  <a:srgbClr val="0D0D0D"/>
                </a:solidFill>
                <a:effectLst/>
                <a:latin typeface="+mn-lt"/>
              </a:rPr>
              <a:t>: </a:t>
            </a:r>
          </a:p>
          <a:p>
            <a:pPr marL="457200" indent="-457200" algn="l">
              <a:buFont typeface="Arial" panose="020B0604020202020204" pitchFamily="34" charset="0"/>
              <a:buChar char="•"/>
            </a:pPr>
            <a:r>
              <a:rPr lang="en-US" sz="2800" b="0" i="0" dirty="0">
                <a:solidFill>
                  <a:srgbClr val="0D0D0D"/>
                </a:solidFill>
                <a:effectLst/>
                <a:latin typeface="+mn-lt"/>
              </a:rPr>
              <a:t>Auditors should pay attention to detail and exhibit thoroughness in reviewing documentation, procedures, records, and evidence during audits. </a:t>
            </a:r>
          </a:p>
          <a:p>
            <a:pPr marL="457200" indent="-457200" algn="l">
              <a:buFont typeface="Arial" panose="020B0604020202020204" pitchFamily="34" charset="0"/>
              <a:buChar char="•"/>
            </a:pPr>
            <a:r>
              <a:rPr lang="en-US" sz="2800" b="0" i="0" dirty="0">
                <a:solidFill>
                  <a:srgbClr val="0D0D0D"/>
                </a:solidFill>
                <a:effectLst/>
                <a:latin typeface="+mn-lt"/>
              </a:rPr>
              <a:t>They should ensure accuracy and completeness in audit work and documentation to support their findings and conclusions.</a:t>
            </a:r>
          </a:p>
          <a:p>
            <a:pPr algn="l"/>
            <a:endParaRPr lang="en-US" sz="2800" b="1" i="0" dirty="0">
              <a:solidFill>
                <a:srgbClr val="0D0D0D"/>
              </a:solidFill>
              <a:effectLst/>
              <a:latin typeface="+mn-lt"/>
            </a:endParaRPr>
          </a:p>
          <a:p>
            <a:pPr algn="l"/>
            <a:r>
              <a:rPr lang="en-US" sz="2800" b="1" i="0" dirty="0">
                <a:solidFill>
                  <a:srgbClr val="0D0D0D"/>
                </a:solidFill>
                <a:effectLst/>
                <a:latin typeface="+mn-lt"/>
              </a:rPr>
              <a:t>7. Risk Management</a:t>
            </a:r>
            <a:r>
              <a:rPr lang="en-US" sz="2800" b="0" i="0" dirty="0">
                <a:solidFill>
                  <a:srgbClr val="0D0D0D"/>
                </a:solidFill>
                <a:effectLst/>
                <a:latin typeface="+mn-lt"/>
              </a:rPr>
              <a:t>: </a:t>
            </a:r>
          </a:p>
          <a:p>
            <a:pPr marL="457200" indent="-457200" algn="l">
              <a:buFont typeface="Arial" panose="020B0604020202020204" pitchFamily="34" charset="0"/>
              <a:buChar char="•"/>
            </a:pPr>
            <a:r>
              <a:rPr lang="en-US" sz="2800" b="0" i="0" dirty="0">
                <a:solidFill>
                  <a:srgbClr val="0D0D0D"/>
                </a:solidFill>
                <a:effectLst/>
                <a:latin typeface="+mn-lt"/>
              </a:rPr>
              <a:t>Auditors should understand the principles of risk-based thinking and apply risk management concepts in audit planning, execution, and reporting. </a:t>
            </a:r>
          </a:p>
          <a:p>
            <a:pPr marL="457200" indent="-457200" algn="l">
              <a:buFont typeface="Arial" panose="020B0604020202020204" pitchFamily="34" charset="0"/>
              <a:buChar char="•"/>
            </a:pPr>
            <a:r>
              <a:rPr lang="en-US" sz="2800" b="0" i="0" dirty="0">
                <a:solidFill>
                  <a:srgbClr val="0D0D0D"/>
                </a:solidFill>
                <a:effectLst/>
                <a:latin typeface="+mn-lt"/>
              </a:rPr>
              <a:t>They should assess risks associated with audited processes and activities and prioritize audit focus accordingly.</a:t>
            </a:r>
          </a:p>
          <a:p>
            <a:pPr algn="l"/>
            <a:endParaRPr lang="en-US" sz="2800" b="1" i="0" dirty="0">
              <a:solidFill>
                <a:srgbClr val="0D0D0D"/>
              </a:solidFill>
              <a:effectLst/>
              <a:latin typeface="+mn-lt"/>
            </a:endParaRPr>
          </a:p>
          <a:p>
            <a:pPr algn="l"/>
            <a:r>
              <a:rPr lang="en-US" sz="2800" b="1" i="0" dirty="0">
                <a:solidFill>
                  <a:srgbClr val="0D0D0D"/>
                </a:solidFill>
                <a:effectLst/>
                <a:latin typeface="+mn-lt"/>
              </a:rPr>
              <a:t>8. Professionalism</a:t>
            </a:r>
            <a:r>
              <a:rPr lang="en-US" sz="2800" b="0" i="0" dirty="0">
                <a:solidFill>
                  <a:srgbClr val="0D0D0D"/>
                </a:solidFill>
                <a:effectLst/>
                <a:latin typeface="+mn-lt"/>
              </a:rPr>
              <a:t>: </a:t>
            </a:r>
          </a:p>
          <a:p>
            <a:pPr marL="457200" indent="-457200" algn="l">
              <a:buFont typeface="Arial" panose="020B0604020202020204" pitchFamily="34" charset="0"/>
              <a:buChar char="•"/>
            </a:pPr>
            <a:r>
              <a:rPr lang="en-US" sz="2800" b="0" i="0" dirty="0">
                <a:solidFill>
                  <a:srgbClr val="0D0D0D"/>
                </a:solidFill>
                <a:effectLst/>
                <a:latin typeface="+mn-lt"/>
              </a:rPr>
              <a:t>Auditors should conduct themselves professionally at all times, demonstrating respect, courtesy, and professionalism in their interactions with auditees, colleagues, and management. </a:t>
            </a:r>
          </a:p>
          <a:p>
            <a:pPr marL="457200" indent="-457200" algn="l">
              <a:buFont typeface="Arial" panose="020B0604020202020204" pitchFamily="34" charset="0"/>
              <a:buChar char="•"/>
            </a:pPr>
            <a:r>
              <a:rPr lang="en-US" sz="2800" b="0" i="0" dirty="0">
                <a:solidFill>
                  <a:srgbClr val="0D0D0D"/>
                </a:solidFill>
                <a:effectLst/>
                <a:latin typeface="+mn-lt"/>
              </a:rPr>
              <a:t>They should represent their organization or certification body positively and uphold the reputation of the auditing profession.</a:t>
            </a:r>
          </a:p>
          <a:p>
            <a:pPr algn="l"/>
            <a:endParaRPr lang="en-US" sz="2800" dirty="0">
              <a:effectLst/>
              <a:latin typeface="+mn-lt"/>
            </a:endParaRPr>
          </a:p>
          <a:p>
            <a:pPr algn="l"/>
            <a:br>
              <a:rPr lang="en-US" sz="2800" b="0" i="0" dirty="0">
                <a:solidFill>
                  <a:srgbClr val="000000"/>
                </a:solidFill>
                <a:effectLst/>
                <a:latin typeface="+mn-lt"/>
              </a:rPr>
            </a:br>
            <a:endParaRPr lang="en-US" sz="2800" b="0" i="0" dirty="0">
              <a:solidFill>
                <a:srgbClr val="000000"/>
              </a:solidFill>
              <a:effectLst/>
              <a:latin typeface="+mn-lt"/>
            </a:endParaRPr>
          </a:p>
          <a:p>
            <a:pPr algn="l"/>
            <a:endParaRPr lang="en-US" sz="2800" b="0" i="0" dirty="0">
              <a:solidFill>
                <a:srgbClr val="0D0D0D"/>
              </a:solidFill>
              <a:effectLst/>
              <a:latin typeface="+mn-lt"/>
            </a:endParaRPr>
          </a:p>
        </p:txBody>
      </p:sp>
    </p:spTree>
    <p:extLst>
      <p:ext uri="{BB962C8B-B14F-4D97-AF65-F5344CB8AC3E}">
        <p14:creationId xmlns:p14="http://schemas.microsoft.com/office/powerpoint/2010/main" val="741635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AAE9FBF-8ECD-19E9-1B9D-D636A9D5A0DE}"/>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D0A01FC6-9620-9B10-D3AA-C5780C7E8FE8}"/>
              </a:ext>
            </a:extLst>
          </p:cNvPr>
          <p:cNvSpPr txBox="1"/>
          <p:nvPr/>
        </p:nvSpPr>
        <p:spPr>
          <a:xfrm>
            <a:off x="602525" y="67315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sym typeface="Montserrat"/>
              </a:rPr>
              <a:t>QUALITIES OF AN AUDITOR </a:t>
            </a:r>
            <a:endParaRPr lang="en-US"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75560E22-54AE-0F55-C2B8-9419B3420E67}"/>
              </a:ext>
            </a:extLst>
          </p:cNvPr>
          <p:cNvSpPr/>
          <p:nvPr/>
        </p:nvSpPr>
        <p:spPr>
          <a:xfrm rot="-1625759">
            <a:off x="8756505" y="-167437"/>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9FC1554C-3011-A282-5CD1-65D0E5081127}"/>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6FA75457-8F3D-4D2D-FCB9-843B0E66EF23}"/>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3B20D6A9-80DD-BB5D-A68C-302E6351BC8B}"/>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24057C2B-FB82-D3C1-1517-B80691392062}"/>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58958D2D-0375-BA40-8252-F25C77E2163A}"/>
              </a:ext>
            </a:extLst>
          </p:cNvPr>
          <p:cNvSpPr txBox="1"/>
          <p:nvPr/>
        </p:nvSpPr>
        <p:spPr>
          <a:xfrm>
            <a:off x="508713" y="2613614"/>
            <a:ext cx="15832667" cy="5693866"/>
          </a:xfrm>
          <a:prstGeom prst="rect">
            <a:avLst/>
          </a:prstGeom>
          <a:noFill/>
        </p:spPr>
        <p:txBody>
          <a:bodyPr wrap="square" rtlCol="0">
            <a:spAutoFit/>
          </a:bodyPr>
          <a:lstStyle/>
          <a:p>
            <a:pPr algn="l"/>
            <a:r>
              <a:rPr lang="en-US" sz="2800" b="1" i="0" dirty="0">
                <a:solidFill>
                  <a:srgbClr val="0D0D0D"/>
                </a:solidFill>
                <a:effectLst/>
                <a:latin typeface="+mn-lt"/>
              </a:rPr>
              <a:t>9. Continuous Improvement</a:t>
            </a:r>
            <a:r>
              <a:rPr lang="en-US" sz="2800" b="0" i="0" dirty="0">
                <a:solidFill>
                  <a:srgbClr val="0D0D0D"/>
                </a:solidFill>
                <a:effectLst/>
                <a:latin typeface="+mn-lt"/>
              </a:rPr>
              <a:t>: </a:t>
            </a:r>
          </a:p>
          <a:p>
            <a:pPr marL="457200" indent="-457200" algn="l">
              <a:buFont typeface="Arial" panose="020B0604020202020204" pitchFamily="34" charset="0"/>
              <a:buChar char="•"/>
            </a:pPr>
            <a:r>
              <a:rPr lang="en-US" sz="2800" b="0" i="0" dirty="0">
                <a:solidFill>
                  <a:srgbClr val="0D0D0D"/>
                </a:solidFill>
                <a:effectLst/>
                <a:latin typeface="+mn-lt"/>
              </a:rPr>
              <a:t>Auditors should be committed to their professional development and continuous improvement.</a:t>
            </a:r>
          </a:p>
          <a:p>
            <a:pPr marL="457200" indent="-457200" algn="l">
              <a:buFont typeface="Arial" panose="020B0604020202020204" pitchFamily="34" charset="0"/>
              <a:buChar char="•"/>
            </a:pPr>
            <a:r>
              <a:rPr lang="en-US" sz="2800" b="0" i="0" dirty="0">
                <a:solidFill>
                  <a:srgbClr val="0D0D0D"/>
                </a:solidFill>
                <a:effectLst/>
                <a:latin typeface="+mn-lt"/>
              </a:rPr>
              <a:t>They should seek opportunities to enhance their audit skills, knowledge, and competencies through training, education, and experience.</a:t>
            </a:r>
          </a:p>
          <a:p>
            <a:pPr algn="l"/>
            <a:endParaRPr lang="en-US" sz="2800" b="1" i="0" dirty="0">
              <a:solidFill>
                <a:srgbClr val="0D0D0D"/>
              </a:solidFill>
              <a:effectLst/>
              <a:latin typeface="+mn-lt"/>
            </a:endParaRPr>
          </a:p>
          <a:p>
            <a:pPr algn="l"/>
            <a:r>
              <a:rPr lang="en-US" sz="2800" b="1" i="0" dirty="0">
                <a:solidFill>
                  <a:srgbClr val="0D0D0D"/>
                </a:solidFill>
                <a:effectLst/>
                <a:latin typeface="+mn-lt"/>
              </a:rPr>
              <a:t>10. Adaptability</a:t>
            </a:r>
            <a:r>
              <a:rPr lang="en-US" sz="2800" b="0" i="0" dirty="0">
                <a:solidFill>
                  <a:srgbClr val="0D0D0D"/>
                </a:solidFill>
                <a:effectLst/>
                <a:latin typeface="+mn-lt"/>
              </a:rPr>
              <a:t>: </a:t>
            </a:r>
          </a:p>
          <a:p>
            <a:pPr marL="457200" indent="-457200" algn="l">
              <a:buFont typeface="Arial" panose="020B0604020202020204" pitchFamily="34" charset="0"/>
              <a:buChar char="•"/>
            </a:pPr>
            <a:r>
              <a:rPr lang="en-US" sz="2800" b="0" i="0" dirty="0">
                <a:solidFill>
                  <a:srgbClr val="0D0D0D"/>
                </a:solidFill>
                <a:effectLst/>
                <a:latin typeface="+mn-lt"/>
              </a:rPr>
              <a:t>Auditors should be adaptable and flexible in responding to changes, challenges, and unexpected situations during audits. They should adjust their approach, methods, and priorities as needed to achieve audit objectives effectively.</a:t>
            </a:r>
          </a:p>
          <a:p>
            <a:pPr algn="l"/>
            <a:endParaRPr lang="en-US" sz="2800" dirty="0">
              <a:effectLst/>
              <a:latin typeface="+mn-lt"/>
            </a:endParaRPr>
          </a:p>
          <a:p>
            <a:pPr algn="l"/>
            <a:br>
              <a:rPr lang="en-US" sz="2800" b="0" i="0" dirty="0">
                <a:solidFill>
                  <a:srgbClr val="000000"/>
                </a:solidFill>
                <a:effectLst/>
                <a:latin typeface="+mn-lt"/>
              </a:rPr>
            </a:br>
            <a:endParaRPr lang="en-US" sz="2800" b="0" i="0" dirty="0">
              <a:solidFill>
                <a:srgbClr val="000000"/>
              </a:solidFill>
              <a:effectLst/>
              <a:latin typeface="+mn-lt"/>
            </a:endParaRPr>
          </a:p>
          <a:p>
            <a:pPr algn="l"/>
            <a:endParaRPr lang="en-US" sz="2800" b="0" i="0" dirty="0">
              <a:solidFill>
                <a:srgbClr val="0D0D0D"/>
              </a:solidFill>
              <a:effectLst/>
              <a:latin typeface="+mn-lt"/>
            </a:endParaRPr>
          </a:p>
        </p:txBody>
      </p:sp>
    </p:spTree>
    <p:extLst>
      <p:ext uri="{BB962C8B-B14F-4D97-AF65-F5344CB8AC3E}">
        <p14:creationId xmlns:p14="http://schemas.microsoft.com/office/powerpoint/2010/main" val="1917926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EB17E9B-D74D-EE4C-E6DB-3A49452A6338}"/>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25C29685-1C3C-5DA6-1CB6-F40C5D546DC2}"/>
              </a:ext>
            </a:extLst>
          </p:cNvPr>
          <p:cNvSpPr txBox="1"/>
          <p:nvPr/>
        </p:nvSpPr>
        <p:spPr>
          <a:xfrm>
            <a:off x="508713" y="65808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sym typeface="Montserrat"/>
              </a:rPr>
              <a:t>CAPA REPORT </a:t>
            </a:r>
            <a:endParaRPr lang="en-US"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848D763D-662D-93C9-2F86-7AEAB5CF0DEB}"/>
              </a:ext>
            </a:extLst>
          </p:cNvPr>
          <p:cNvSpPr/>
          <p:nvPr/>
        </p:nvSpPr>
        <p:spPr>
          <a:xfrm rot="-1625759">
            <a:off x="10112240" y="-1356736"/>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804E2716-956A-8C9C-1841-4F3F7256F576}"/>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FF0BC90F-E2DB-172E-6C83-55C29D99F482}"/>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7C83D009-8BA4-B1FB-1813-5101B4D14D59}"/>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7BC224F4-E6CB-9837-C12C-3B555C9630CE}"/>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59013F5D-6CCC-364D-196E-ABDF82DB4C57}"/>
              </a:ext>
            </a:extLst>
          </p:cNvPr>
          <p:cNvSpPr txBox="1"/>
          <p:nvPr/>
        </p:nvSpPr>
        <p:spPr>
          <a:xfrm>
            <a:off x="508713" y="2021844"/>
            <a:ext cx="16238354" cy="8710077"/>
          </a:xfrm>
          <a:prstGeom prst="rect">
            <a:avLst/>
          </a:prstGeom>
          <a:noFill/>
        </p:spPr>
        <p:txBody>
          <a:bodyPr wrap="square" rtlCol="0">
            <a:spAutoFit/>
          </a:bodyPr>
          <a:lstStyle/>
          <a:p>
            <a:pPr marL="571500" indent="-571500" algn="l">
              <a:buFont typeface="Arial" panose="020B0604020202020204" pitchFamily="34" charset="0"/>
              <a:buChar char="•"/>
            </a:pPr>
            <a:r>
              <a:rPr lang="en-US" sz="2800" b="0" i="0" dirty="0">
                <a:solidFill>
                  <a:srgbClr val="0D0D0D"/>
                </a:solidFill>
                <a:effectLst/>
                <a:latin typeface="+mn-lt"/>
              </a:rPr>
              <a:t>CAPA stands for </a:t>
            </a:r>
            <a:r>
              <a:rPr lang="en-US" sz="2800" b="1" i="0" dirty="0">
                <a:solidFill>
                  <a:srgbClr val="0D0D0D"/>
                </a:solidFill>
                <a:effectLst/>
                <a:latin typeface="+mn-lt"/>
              </a:rPr>
              <a:t>Corrective and Preventive Action</a:t>
            </a:r>
            <a:r>
              <a:rPr lang="en-US" sz="2800" b="0" i="0" dirty="0">
                <a:solidFill>
                  <a:srgbClr val="0D0D0D"/>
                </a:solidFill>
                <a:effectLst/>
                <a:latin typeface="+mn-lt"/>
              </a:rPr>
              <a:t>. </a:t>
            </a:r>
          </a:p>
          <a:p>
            <a:pPr marL="571500" indent="-571500" algn="l">
              <a:buFont typeface="Arial" panose="020B0604020202020204" pitchFamily="34" charset="0"/>
              <a:buChar char="•"/>
            </a:pPr>
            <a:endParaRPr lang="en-US" sz="2800" b="0" i="0" dirty="0">
              <a:solidFill>
                <a:srgbClr val="0D0D0D"/>
              </a:solidFill>
              <a:effectLst/>
              <a:latin typeface="+mn-lt"/>
            </a:endParaRPr>
          </a:p>
          <a:p>
            <a:pPr marL="571500" indent="-571500" algn="l">
              <a:buFont typeface="Arial" panose="020B0604020202020204" pitchFamily="34" charset="0"/>
              <a:buChar char="•"/>
            </a:pPr>
            <a:r>
              <a:rPr lang="en-US" sz="2800" b="0" i="0" dirty="0">
                <a:solidFill>
                  <a:srgbClr val="0D0D0D"/>
                </a:solidFill>
                <a:effectLst/>
                <a:latin typeface="+mn-lt"/>
              </a:rPr>
              <a:t>A CAPA report is a formal document that outlines the corrective and preventive actions taken by an organization in response to identified non-conformities, deviations, or opportunities for improvement. </a:t>
            </a:r>
          </a:p>
          <a:p>
            <a:pPr marL="571500" indent="-571500" algn="l">
              <a:buFont typeface="Arial" panose="020B0604020202020204" pitchFamily="34" charset="0"/>
              <a:buChar char="•"/>
            </a:pPr>
            <a:endParaRPr lang="en-US" sz="2800" b="0" i="0" dirty="0">
              <a:solidFill>
                <a:srgbClr val="0D0D0D"/>
              </a:solidFill>
              <a:effectLst/>
              <a:latin typeface="+mn-lt"/>
            </a:endParaRPr>
          </a:p>
          <a:p>
            <a:pPr marL="571500" indent="-571500" algn="l">
              <a:buFont typeface="Arial" panose="020B0604020202020204" pitchFamily="34" charset="0"/>
              <a:buChar char="•"/>
            </a:pPr>
            <a:r>
              <a:rPr lang="en-US" sz="2800" b="0" i="0" dirty="0">
                <a:solidFill>
                  <a:srgbClr val="0D0D0D"/>
                </a:solidFill>
                <a:effectLst/>
                <a:latin typeface="+mn-lt"/>
              </a:rPr>
              <a:t>The purpose of a CAPA report is to document the steps taken to address issues, prevent their recurrence, and enhance the effectiveness of the organization's quality management system. </a:t>
            </a:r>
            <a:endParaRPr lang="en-US" sz="2800" dirty="0">
              <a:effectLst/>
              <a:latin typeface="+mn-lt"/>
            </a:endParaRPr>
          </a:p>
          <a:p>
            <a:pPr marL="457200" indent="-457200" algn="l">
              <a:buFont typeface="Arial" panose="020B0604020202020204" pitchFamily="34" charset="0"/>
              <a:buChar char="•"/>
            </a:pPr>
            <a:endParaRPr lang="en-US" sz="2800" b="0" i="0" dirty="0">
              <a:effectLst/>
              <a:latin typeface="+mn-lt"/>
            </a:endParaRPr>
          </a:p>
          <a:p>
            <a:pPr marL="457200" indent="-457200" algn="l">
              <a:buFont typeface="Arial" panose="020B0604020202020204" pitchFamily="34" charset="0"/>
              <a:buChar char="•"/>
            </a:pPr>
            <a:r>
              <a:rPr lang="en-US" sz="2800" b="0" i="0" dirty="0">
                <a:effectLst/>
                <a:latin typeface="+mn-lt"/>
              </a:rPr>
              <a:t>By documenting corrective and preventive actions in a CAPA report, organizations can demonstrate their commitment to quality improvement, regulatory compliance, and customer satisfaction. </a:t>
            </a:r>
          </a:p>
          <a:p>
            <a:pPr marL="457200" indent="-457200" algn="l">
              <a:buFont typeface="Arial" panose="020B0604020202020204" pitchFamily="34" charset="0"/>
              <a:buChar char="•"/>
            </a:pPr>
            <a:endParaRPr lang="en-US" sz="2800" dirty="0">
              <a:latin typeface="+mn-lt"/>
            </a:endParaRPr>
          </a:p>
          <a:p>
            <a:pPr marL="457200" indent="-457200" algn="l">
              <a:buFont typeface="Arial" panose="020B0604020202020204" pitchFamily="34" charset="0"/>
              <a:buChar char="•"/>
            </a:pPr>
            <a:r>
              <a:rPr lang="en-US" sz="2800" b="0" i="0" dirty="0">
                <a:effectLst/>
                <a:latin typeface="+mn-lt"/>
              </a:rPr>
              <a:t>The CAPA process helps organizations identify and address issues proactively, prevent their recurrence, and continuously enhance their quality management systems.</a:t>
            </a:r>
          </a:p>
          <a:p>
            <a:pPr algn="l"/>
            <a:br>
              <a:rPr lang="en-US" sz="2800" b="0" i="0" dirty="0">
                <a:effectLst/>
                <a:latin typeface="+mn-lt"/>
              </a:rPr>
            </a:br>
            <a:endParaRPr lang="en-US" sz="2800" b="0" i="0" dirty="0">
              <a:effectLst/>
              <a:latin typeface="+mn-lt"/>
            </a:endParaRPr>
          </a:p>
          <a:p>
            <a:pPr algn="l"/>
            <a:br>
              <a:rPr lang="en-US" sz="2800" b="0" i="0" dirty="0">
                <a:solidFill>
                  <a:srgbClr val="000000"/>
                </a:solidFill>
                <a:effectLst/>
                <a:latin typeface="+mn-lt"/>
              </a:rPr>
            </a:br>
            <a:endParaRPr lang="en-US" sz="2800" b="0" i="0" dirty="0">
              <a:solidFill>
                <a:srgbClr val="000000"/>
              </a:solidFill>
              <a:effectLst/>
              <a:latin typeface="+mn-lt"/>
            </a:endParaRPr>
          </a:p>
          <a:p>
            <a:pPr algn="l"/>
            <a:endParaRPr lang="en-US" sz="2800" b="0" i="0" dirty="0">
              <a:solidFill>
                <a:srgbClr val="0D0D0D"/>
              </a:solidFill>
              <a:effectLst/>
              <a:latin typeface="+mn-lt"/>
            </a:endParaRPr>
          </a:p>
        </p:txBody>
      </p:sp>
    </p:spTree>
    <p:extLst>
      <p:ext uri="{BB962C8B-B14F-4D97-AF65-F5344CB8AC3E}">
        <p14:creationId xmlns:p14="http://schemas.microsoft.com/office/powerpoint/2010/main" val="3629079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74E3F897-D1C0-76A6-D185-672A8A8A9F62}"/>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13517B6D-DF5D-CE84-608A-F8AF9C0200A2}"/>
              </a:ext>
            </a:extLst>
          </p:cNvPr>
          <p:cNvSpPr txBox="1"/>
          <p:nvPr/>
        </p:nvSpPr>
        <p:spPr>
          <a:xfrm>
            <a:off x="508713" y="65808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sym typeface="Montserrat"/>
              </a:rPr>
              <a:t>COMPONENTS OF A CAPA REPORT </a:t>
            </a:r>
            <a:endParaRPr lang="en-US"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4D85ADC3-A63A-9FE2-A9A4-2448F27E760A}"/>
              </a:ext>
            </a:extLst>
          </p:cNvPr>
          <p:cNvSpPr/>
          <p:nvPr/>
        </p:nvSpPr>
        <p:spPr>
          <a:xfrm rot="-1625759">
            <a:off x="8756505" y="-167437"/>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F83D71F2-A563-A17D-B661-4A7864B552E9}"/>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73F3BC68-05ED-8390-E058-82DF4EFCD6C1}"/>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C0EBD9B0-C5AF-130A-9AF4-F806D7D90830}"/>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E8B1C694-CF56-BFEA-E395-054176C0414F}"/>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B97F3861-49AB-200C-9DD4-3FBBF3234CA6}"/>
              </a:ext>
            </a:extLst>
          </p:cNvPr>
          <p:cNvSpPr txBox="1"/>
          <p:nvPr/>
        </p:nvSpPr>
        <p:spPr>
          <a:xfrm>
            <a:off x="508713" y="2613614"/>
            <a:ext cx="16238354" cy="6186309"/>
          </a:xfrm>
          <a:prstGeom prst="rect">
            <a:avLst/>
          </a:prstGeom>
          <a:noFill/>
        </p:spPr>
        <p:txBody>
          <a:bodyPr wrap="square" rtlCol="0">
            <a:spAutoFit/>
          </a:bodyPr>
          <a:lstStyle/>
          <a:p>
            <a:pPr algn="l">
              <a:buFont typeface="+mj-lt"/>
              <a:buAutoNum type="arabicPeriod"/>
            </a:pPr>
            <a:r>
              <a:rPr lang="en-US" sz="2800" b="1" i="0" dirty="0">
                <a:solidFill>
                  <a:srgbClr val="0D0D0D"/>
                </a:solidFill>
                <a:effectLst/>
                <a:latin typeface="+mn-lt"/>
              </a:rPr>
              <a:t>Description of the Issue</a:t>
            </a:r>
            <a:r>
              <a:rPr lang="en-US" sz="2800" b="0" i="0" dirty="0">
                <a:solidFill>
                  <a:srgbClr val="0D0D0D"/>
                </a:solidFill>
                <a:effectLst/>
                <a:latin typeface="+mn-lt"/>
              </a:rPr>
              <a:t>: </a:t>
            </a:r>
          </a:p>
          <a:p>
            <a:pPr marL="457200" indent="-457200" algn="l">
              <a:buFont typeface="Arial" panose="020B0604020202020204" pitchFamily="34" charset="0"/>
              <a:buChar char="•"/>
            </a:pPr>
            <a:r>
              <a:rPr lang="en-US" sz="2800" b="0" i="0" dirty="0">
                <a:solidFill>
                  <a:srgbClr val="0D0D0D"/>
                </a:solidFill>
                <a:effectLst/>
                <a:latin typeface="+mn-lt"/>
              </a:rPr>
              <a:t>Provide a clear and concise description of the non-conformity, deviation, or problem that triggered the CAPA process. Include relevant details such as the date of occurrence, location, severity, and impact on operations or product quality.</a:t>
            </a:r>
          </a:p>
          <a:p>
            <a:pPr algn="l"/>
            <a:endParaRPr lang="en-US" sz="2800" b="1" i="0" dirty="0">
              <a:solidFill>
                <a:srgbClr val="0D0D0D"/>
              </a:solidFill>
              <a:effectLst/>
              <a:latin typeface="+mn-lt"/>
            </a:endParaRPr>
          </a:p>
          <a:p>
            <a:pPr algn="l"/>
            <a:r>
              <a:rPr lang="en-US" sz="2800" b="1" dirty="0">
                <a:solidFill>
                  <a:srgbClr val="0D0D0D"/>
                </a:solidFill>
                <a:latin typeface="+mn-lt"/>
              </a:rPr>
              <a:t>2. </a:t>
            </a:r>
            <a:r>
              <a:rPr lang="en-US" sz="2800" b="1" i="0" dirty="0">
                <a:solidFill>
                  <a:srgbClr val="0D0D0D"/>
                </a:solidFill>
                <a:effectLst/>
                <a:latin typeface="+mn-lt"/>
              </a:rPr>
              <a:t>Root Cause Analysis</a:t>
            </a:r>
            <a:r>
              <a:rPr lang="en-US" sz="2800" b="0" i="0" dirty="0">
                <a:solidFill>
                  <a:srgbClr val="0D0D0D"/>
                </a:solidFill>
                <a:effectLst/>
                <a:latin typeface="+mn-lt"/>
              </a:rPr>
              <a:t>: </a:t>
            </a:r>
          </a:p>
          <a:p>
            <a:pPr marL="457200" indent="-457200" algn="l">
              <a:buFont typeface="Arial" panose="020B0604020202020204" pitchFamily="34" charset="0"/>
              <a:buChar char="•"/>
            </a:pPr>
            <a:r>
              <a:rPr lang="en-US" sz="2800" b="0" i="0" dirty="0">
                <a:solidFill>
                  <a:srgbClr val="0D0D0D"/>
                </a:solidFill>
                <a:effectLst/>
                <a:latin typeface="+mn-lt"/>
              </a:rPr>
              <a:t>Identify the root cause of the issue through investigation and analysis. </a:t>
            </a:r>
          </a:p>
          <a:p>
            <a:pPr marL="457200" indent="-457200" algn="l">
              <a:buFont typeface="Arial" panose="020B0604020202020204" pitchFamily="34" charset="0"/>
              <a:buChar char="•"/>
            </a:pPr>
            <a:r>
              <a:rPr lang="en-US" sz="2800" b="0" i="0" dirty="0">
                <a:solidFill>
                  <a:srgbClr val="0D0D0D"/>
                </a:solidFill>
                <a:effectLst/>
                <a:latin typeface="+mn-lt"/>
              </a:rPr>
              <a:t>Use tools and techniques such as 5 Whys:</a:t>
            </a:r>
          </a:p>
          <a:p>
            <a:pPr lvl="1"/>
            <a:r>
              <a:rPr lang="en-US" sz="2800" b="1" i="0" dirty="0">
                <a:solidFill>
                  <a:srgbClr val="0D0D0D"/>
                </a:solidFill>
                <a:effectLst/>
                <a:latin typeface="+mn-lt"/>
              </a:rPr>
              <a:t>		1. </a:t>
            </a:r>
            <a:r>
              <a:rPr lang="en-US" sz="3600" b="1" i="0" dirty="0">
                <a:solidFill>
                  <a:srgbClr val="0D0D0D"/>
                </a:solidFill>
                <a:effectLst/>
                <a:latin typeface="Söhne"/>
              </a:rPr>
              <a:t>Why?</a:t>
            </a:r>
            <a:r>
              <a:rPr lang="en-US" sz="3600" b="0" i="0" dirty="0">
                <a:solidFill>
                  <a:srgbClr val="0D0D0D"/>
                </a:solidFill>
                <a:effectLst/>
                <a:latin typeface="Söhne"/>
              </a:rPr>
              <a:t>: </a:t>
            </a:r>
          </a:p>
          <a:p>
            <a:pPr lvl="1"/>
            <a:r>
              <a:rPr lang="en-US" sz="3600" dirty="0">
                <a:solidFill>
                  <a:srgbClr val="0D0D0D"/>
                </a:solidFill>
                <a:latin typeface="Söhne"/>
              </a:rPr>
              <a:t>			</a:t>
            </a:r>
            <a:r>
              <a:rPr lang="en-US" sz="3600" b="0" i="0" dirty="0">
                <a:solidFill>
                  <a:srgbClr val="0D0D0D"/>
                </a:solidFill>
                <a:effectLst/>
                <a:latin typeface="Söhne"/>
              </a:rPr>
              <a:t>Why did the product fail?</a:t>
            </a:r>
          </a:p>
          <a:p>
            <a:pPr algn="l"/>
            <a:r>
              <a:rPr lang="en-US" sz="3600" b="0" i="0" dirty="0">
                <a:solidFill>
                  <a:srgbClr val="0D0D0D"/>
                </a:solidFill>
                <a:effectLst/>
                <a:latin typeface="Söhne"/>
              </a:rPr>
              <a:t>			Why was the machine not functioning properly?</a:t>
            </a:r>
          </a:p>
          <a:p>
            <a:pPr algn="l"/>
            <a:r>
              <a:rPr lang="en-US" sz="3600" b="0" i="0" dirty="0">
                <a:solidFill>
                  <a:srgbClr val="0D0D0D"/>
                </a:solidFill>
                <a:effectLst/>
                <a:latin typeface="Söhne"/>
              </a:rPr>
              <a:t>			Why was the error not detected earlier?</a:t>
            </a:r>
          </a:p>
          <a:p>
            <a:pPr lvl="5"/>
            <a:endParaRPr lang="en-US" sz="2800" b="0" i="0" dirty="0">
              <a:solidFill>
                <a:srgbClr val="0D0D0D"/>
              </a:solidFill>
              <a:effectLst/>
              <a:latin typeface="+mn-lt"/>
            </a:endParaRPr>
          </a:p>
        </p:txBody>
      </p:sp>
    </p:spTree>
    <p:extLst>
      <p:ext uri="{BB962C8B-B14F-4D97-AF65-F5344CB8AC3E}">
        <p14:creationId xmlns:p14="http://schemas.microsoft.com/office/powerpoint/2010/main" val="3245048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83674F2-4AB6-879C-5955-39AF52F24F22}"/>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FAB0D596-AFCF-4C87-F9DD-328552E98BD3}"/>
              </a:ext>
            </a:extLst>
          </p:cNvPr>
          <p:cNvSpPr txBox="1"/>
          <p:nvPr/>
        </p:nvSpPr>
        <p:spPr>
          <a:xfrm>
            <a:off x="508713" y="65808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sym typeface="Montserrat"/>
              </a:rPr>
              <a:t>COMPONENTS OF A CAPA REPORT </a:t>
            </a:r>
            <a:endParaRPr lang="en-US"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19373CDD-6B87-05E9-48AB-16EAA2B99332}"/>
              </a:ext>
            </a:extLst>
          </p:cNvPr>
          <p:cNvSpPr/>
          <p:nvPr/>
        </p:nvSpPr>
        <p:spPr>
          <a:xfrm rot="-1625759">
            <a:off x="7849892" y="425230"/>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B7F8BD23-1A6D-DBCE-C9E2-94FA41ED9654}"/>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BC5818F9-CE18-8A65-B12A-676F5312159C}"/>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C03E3E44-9C90-ECDA-36CD-0444CDD81BE6}"/>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C6CEC628-8135-214C-786A-A51B4AA883FA}"/>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2B844242-A099-6AA2-FC8C-A4F0ABD6533F}"/>
              </a:ext>
            </a:extLst>
          </p:cNvPr>
          <p:cNvSpPr txBox="1"/>
          <p:nvPr/>
        </p:nvSpPr>
        <p:spPr>
          <a:xfrm>
            <a:off x="0" y="2293364"/>
            <a:ext cx="16238354" cy="6340197"/>
          </a:xfrm>
          <a:prstGeom prst="rect">
            <a:avLst/>
          </a:prstGeom>
          <a:noFill/>
        </p:spPr>
        <p:txBody>
          <a:bodyPr wrap="square" rtlCol="0">
            <a:spAutoFit/>
          </a:bodyPr>
          <a:lstStyle/>
          <a:p>
            <a:pPr algn="l"/>
            <a:r>
              <a:rPr lang="en-US" sz="2800" b="1" i="0" dirty="0">
                <a:solidFill>
                  <a:srgbClr val="0D0D0D"/>
                </a:solidFill>
                <a:effectLst/>
                <a:latin typeface="+mn-lt"/>
              </a:rPr>
              <a:t>		2. What?</a:t>
            </a:r>
            <a:endParaRPr lang="en-US" sz="2800" b="0" i="0" dirty="0">
              <a:solidFill>
                <a:srgbClr val="0D0D0D"/>
              </a:solidFill>
              <a:effectLst/>
              <a:latin typeface="+mn-lt"/>
            </a:endParaRPr>
          </a:p>
          <a:p>
            <a:pPr marL="457200" lvl="1" algn="l"/>
            <a:r>
              <a:rPr lang="en-US" sz="2800" b="0" i="0" dirty="0">
                <a:solidFill>
                  <a:srgbClr val="0D0D0D"/>
                </a:solidFill>
                <a:effectLst/>
                <a:latin typeface="+mn-lt"/>
              </a:rPr>
              <a:t>			What process step failed?</a:t>
            </a:r>
          </a:p>
          <a:p>
            <a:pPr marL="457200" lvl="1" algn="l"/>
            <a:r>
              <a:rPr lang="en-US" sz="2800" b="0" i="0" dirty="0">
                <a:solidFill>
                  <a:srgbClr val="0D0D0D"/>
                </a:solidFill>
                <a:effectLst/>
                <a:latin typeface="+mn-lt"/>
              </a:rPr>
              <a:t>			What materials were used?</a:t>
            </a:r>
          </a:p>
          <a:p>
            <a:pPr marL="457200" lvl="1" algn="l"/>
            <a:r>
              <a:rPr lang="en-US" sz="2800" b="0" i="0" dirty="0">
                <a:solidFill>
                  <a:srgbClr val="0D0D0D"/>
                </a:solidFill>
                <a:effectLst/>
                <a:latin typeface="+mn-lt"/>
              </a:rPr>
              <a:t>			What actions were taken before the problem occurred?</a:t>
            </a:r>
          </a:p>
          <a:p>
            <a:pPr algn="l">
              <a:buFont typeface="+mj-lt"/>
              <a:buAutoNum type="arabicPeriod"/>
            </a:pPr>
            <a:endParaRPr lang="en-US" sz="2800" b="1" i="0" dirty="0">
              <a:solidFill>
                <a:srgbClr val="0D0D0D"/>
              </a:solidFill>
              <a:effectLst/>
              <a:latin typeface="+mn-lt"/>
            </a:endParaRPr>
          </a:p>
          <a:p>
            <a:pPr algn="l"/>
            <a:r>
              <a:rPr lang="en-US" sz="2800" b="1" dirty="0">
                <a:solidFill>
                  <a:srgbClr val="0D0D0D"/>
                </a:solidFill>
                <a:latin typeface="+mn-lt"/>
              </a:rPr>
              <a:t>		3. </a:t>
            </a:r>
            <a:r>
              <a:rPr lang="en-US" sz="2800" b="1" i="0" dirty="0">
                <a:solidFill>
                  <a:srgbClr val="0D0D0D"/>
                </a:solidFill>
                <a:effectLst/>
                <a:latin typeface="+mn-lt"/>
              </a:rPr>
              <a:t>Where?</a:t>
            </a:r>
            <a:r>
              <a:rPr lang="en-US" sz="2800" b="0" i="0" dirty="0">
                <a:solidFill>
                  <a:srgbClr val="0D0D0D"/>
                </a:solidFill>
                <a:effectLst/>
                <a:latin typeface="+mn-lt"/>
              </a:rPr>
              <a:t> </a:t>
            </a:r>
          </a:p>
          <a:p>
            <a:pPr marL="457200" lvl="1" algn="l"/>
            <a:r>
              <a:rPr lang="en-US" sz="2800" b="0" i="0" dirty="0">
                <a:solidFill>
                  <a:srgbClr val="0D0D0D"/>
                </a:solidFill>
                <a:effectLst/>
                <a:latin typeface="+mn-lt"/>
              </a:rPr>
              <a:t>			Where in the production line did the defect occur?</a:t>
            </a:r>
          </a:p>
          <a:p>
            <a:pPr marL="457200" lvl="1" algn="l"/>
            <a:r>
              <a:rPr lang="en-US" sz="2800" b="0" i="0" dirty="0">
                <a:solidFill>
                  <a:srgbClr val="0D0D0D"/>
                </a:solidFill>
                <a:effectLst/>
                <a:latin typeface="+mn-lt"/>
              </a:rPr>
              <a:t>			Where was the equipment located?</a:t>
            </a:r>
          </a:p>
          <a:p>
            <a:pPr marL="457200" lvl="1" algn="l"/>
            <a:endParaRPr lang="en-US" sz="2800" dirty="0">
              <a:solidFill>
                <a:srgbClr val="0D0D0D"/>
              </a:solidFill>
              <a:latin typeface="+mn-lt"/>
            </a:endParaRPr>
          </a:p>
          <a:p>
            <a:pPr algn="l"/>
            <a:r>
              <a:rPr lang="en-US" sz="2800" b="1" i="0" dirty="0">
                <a:solidFill>
                  <a:srgbClr val="0D0D0D"/>
                </a:solidFill>
                <a:effectLst/>
                <a:latin typeface="+mn-lt"/>
              </a:rPr>
              <a:t>		4. When?</a:t>
            </a:r>
            <a:r>
              <a:rPr lang="en-US" sz="2800" b="0" i="0" dirty="0">
                <a:solidFill>
                  <a:srgbClr val="0D0D0D"/>
                </a:solidFill>
                <a:effectLst/>
                <a:latin typeface="+mn-lt"/>
              </a:rPr>
              <a:t>:</a:t>
            </a:r>
          </a:p>
          <a:p>
            <a:pPr algn="l"/>
            <a:r>
              <a:rPr lang="en-US" sz="2800" b="0" i="0" dirty="0">
                <a:solidFill>
                  <a:srgbClr val="0D0D0D"/>
                </a:solidFill>
                <a:effectLst/>
                <a:latin typeface="+mn-lt"/>
              </a:rPr>
              <a:t>			When did the problem first occur?</a:t>
            </a:r>
          </a:p>
          <a:p>
            <a:pPr algn="l"/>
            <a:r>
              <a:rPr lang="en-US" sz="2800" b="0" i="0" dirty="0">
                <a:solidFill>
                  <a:srgbClr val="0D0D0D"/>
                </a:solidFill>
                <a:effectLst/>
                <a:latin typeface="+mn-lt"/>
              </a:rPr>
              <a:t>			When was the equipment last serviced?</a:t>
            </a:r>
          </a:p>
          <a:p>
            <a:pPr algn="l"/>
            <a:r>
              <a:rPr lang="en-US" sz="2800" b="0" i="0" dirty="0">
                <a:solidFill>
                  <a:srgbClr val="0D0D0D"/>
                </a:solidFill>
                <a:effectLst/>
                <a:latin typeface="+mn-lt"/>
              </a:rPr>
              <a:t>			When did the deviation from standard procedure occur?</a:t>
            </a:r>
          </a:p>
          <a:p>
            <a:pPr marL="457200" lvl="1" algn="l"/>
            <a:endParaRPr lang="en-US" b="0" i="0" dirty="0">
              <a:solidFill>
                <a:srgbClr val="0D0D0D"/>
              </a:solidFill>
              <a:effectLst/>
              <a:latin typeface="Söhne"/>
            </a:endParaRPr>
          </a:p>
          <a:p>
            <a:pPr algn="l"/>
            <a:endParaRPr lang="en-US" sz="2800" b="0" i="0" dirty="0">
              <a:solidFill>
                <a:srgbClr val="0D0D0D"/>
              </a:solidFill>
              <a:effectLst/>
              <a:latin typeface="+mn-lt"/>
            </a:endParaRPr>
          </a:p>
        </p:txBody>
      </p:sp>
    </p:spTree>
    <p:extLst>
      <p:ext uri="{BB962C8B-B14F-4D97-AF65-F5344CB8AC3E}">
        <p14:creationId xmlns:p14="http://schemas.microsoft.com/office/powerpoint/2010/main" val="11894306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AB9B8A0-B6AF-9768-8656-2C47BA3C3EDF}"/>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F9DF7EFA-7E60-EB0E-7B48-590697ACBF8A}"/>
              </a:ext>
            </a:extLst>
          </p:cNvPr>
          <p:cNvSpPr txBox="1"/>
          <p:nvPr/>
        </p:nvSpPr>
        <p:spPr>
          <a:xfrm>
            <a:off x="508713" y="65808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sym typeface="Montserrat"/>
              </a:rPr>
              <a:t>COMPONENTS OF A CAPA REPORT </a:t>
            </a:r>
            <a:endParaRPr lang="en-US"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5E5A1CF3-0F65-6BE2-9C12-90BD37226A00}"/>
              </a:ext>
            </a:extLst>
          </p:cNvPr>
          <p:cNvSpPr/>
          <p:nvPr/>
        </p:nvSpPr>
        <p:spPr>
          <a:xfrm rot="-1625759">
            <a:off x="8756505" y="-167437"/>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CA90C323-4A6C-45BD-003B-44FDA589B3F1}"/>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B46A14D8-A1BE-4781-3AB7-07A14EB2431E}"/>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0770C605-6D0A-F593-C1AD-30B352DD5CB2}"/>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D2C72873-009C-F2D4-35D4-B668952ED908}"/>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711973A8-D662-1E3C-7D4E-4C8252294E0E}"/>
              </a:ext>
            </a:extLst>
          </p:cNvPr>
          <p:cNvSpPr txBox="1"/>
          <p:nvPr/>
        </p:nvSpPr>
        <p:spPr>
          <a:xfrm>
            <a:off x="508713" y="2613614"/>
            <a:ext cx="16238354" cy="4401205"/>
          </a:xfrm>
          <a:prstGeom prst="rect">
            <a:avLst/>
          </a:prstGeom>
          <a:noFill/>
        </p:spPr>
        <p:txBody>
          <a:bodyPr wrap="square" rtlCol="0">
            <a:spAutoFit/>
          </a:bodyPr>
          <a:lstStyle/>
          <a:p>
            <a:pPr algn="l"/>
            <a:r>
              <a:rPr lang="en-US" sz="2800" b="1" i="0" dirty="0">
                <a:solidFill>
                  <a:srgbClr val="0D0D0D"/>
                </a:solidFill>
                <a:effectLst/>
                <a:latin typeface="+mn-lt"/>
              </a:rPr>
              <a:t>		5. Who?</a:t>
            </a:r>
          </a:p>
          <a:p>
            <a:pPr algn="l"/>
            <a:r>
              <a:rPr lang="en-US" sz="2800" b="1" dirty="0">
                <a:solidFill>
                  <a:srgbClr val="0D0D0D"/>
                </a:solidFill>
                <a:latin typeface="+mn-lt"/>
              </a:rPr>
              <a:t>			</a:t>
            </a:r>
            <a:r>
              <a:rPr lang="en-US" sz="2800" b="0" i="0" dirty="0">
                <a:solidFill>
                  <a:srgbClr val="0D0D0D"/>
                </a:solidFill>
                <a:effectLst/>
                <a:latin typeface="+mn-lt"/>
              </a:rPr>
              <a:t>Who operated the machine?</a:t>
            </a:r>
          </a:p>
          <a:p>
            <a:pPr marL="457200" lvl="1" algn="l"/>
            <a:r>
              <a:rPr lang="en-US" sz="2800" b="0" i="0" dirty="0">
                <a:solidFill>
                  <a:srgbClr val="0D0D0D"/>
                </a:solidFill>
                <a:effectLst/>
                <a:latin typeface="+mn-lt"/>
              </a:rPr>
              <a:t>			Who was responsible for quality control?</a:t>
            </a:r>
          </a:p>
          <a:p>
            <a:pPr marL="457200" lvl="1" algn="l"/>
            <a:r>
              <a:rPr lang="en-US" sz="2800" b="0" i="0" dirty="0">
                <a:solidFill>
                  <a:srgbClr val="0D0D0D"/>
                </a:solidFill>
                <a:effectLst/>
                <a:latin typeface="+mn-lt"/>
              </a:rPr>
              <a:t>			Who was involved in the decision-making process?</a:t>
            </a:r>
          </a:p>
          <a:p>
            <a:pPr algn="l"/>
            <a:endParaRPr lang="en-US" sz="2800" b="0" i="0" dirty="0">
              <a:solidFill>
                <a:srgbClr val="0D0D0D"/>
              </a:solidFill>
              <a:effectLst/>
              <a:latin typeface="+mn-lt"/>
            </a:endParaRPr>
          </a:p>
          <a:p>
            <a:pPr algn="l"/>
            <a:r>
              <a:rPr lang="en-US" sz="2800" b="0" i="0" dirty="0">
                <a:solidFill>
                  <a:srgbClr val="0D0D0D"/>
                </a:solidFill>
                <a:effectLst/>
                <a:latin typeface="+mn-lt"/>
              </a:rPr>
              <a:t>By systematically asking and answering the "5 W" questions, you can uncover multiple layers of causes and factors contributing to the problem, leading to a more thorough understanding of the root causes and informing effective corrective and preventive actions.</a:t>
            </a:r>
          </a:p>
          <a:p>
            <a:pPr algn="l"/>
            <a:endParaRPr lang="en-US" sz="2800" b="0" i="0" dirty="0">
              <a:solidFill>
                <a:srgbClr val="0D0D0D"/>
              </a:solidFill>
              <a:effectLst/>
              <a:latin typeface="+mn-lt"/>
            </a:endParaRPr>
          </a:p>
          <a:p>
            <a:pPr algn="l"/>
            <a:endParaRPr lang="en-US" sz="2800" b="0" i="0" dirty="0">
              <a:solidFill>
                <a:srgbClr val="0D0D0D"/>
              </a:solidFill>
              <a:effectLst/>
              <a:latin typeface="+mn-lt"/>
            </a:endParaRPr>
          </a:p>
        </p:txBody>
      </p:sp>
    </p:spTree>
    <p:extLst>
      <p:ext uri="{BB962C8B-B14F-4D97-AF65-F5344CB8AC3E}">
        <p14:creationId xmlns:p14="http://schemas.microsoft.com/office/powerpoint/2010/main" val="2055054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F18F162-BE2E-2949-62C0-8ECB3B758781}"/>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ADF57088-E694-D27E-8103-762BDFD3DED3}"/>
              </a:ext>
            </a:extLst>
          </p:cNvPr>
          <p:cNvSpPr txBox="1"/>
          <p:nvPr/>
        </p:nvSpPr>
        <p:spPr>
          <a:xfrm>
            <a:off x="508713" y="65808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sym typeface="Montserrat"/>
              </a:rPr>
              <a:t>COMPONENTS OF A CAPA REPORT </a:t>
            </a:r>
            <a:endParaRPr lang="en-US"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15F4A904-867D-E261-1990-1C258F812277}"/>
              </a:ext>
            </a:extLst>
          </p:cNvPr>
          <p:cNvSpPr/>
          <p:nvPr/>
        </p:nvSpPr>
        <p:spPr>
          <a:xfrm rot="-1625759">
            <a:off x="8756505" y="-167437"/>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708C43BA-7C1E-171D-A1E7-93F6B90E5241}"/>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24010BAE-57F6-EE3D-2CB9-1A1DD74ED330}"/>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04A5AF74-4F42-9309-C18A-B9CFE5CE0D71}"/>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B4E69980-A0E7-6A1E-BD7B-DA723A9FDAD9}"/>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3A33FF8C-D940-35E2-00AF-54BB215041FC}"/>
              </a:ext>
            </a:extLst>
          </p:cNvPr>
          <p:cNvSpPr txBox="1"/>
          <p:nvPr/>
        </p:nvSpPr>
        <p:spPr>
          <a:xfrm>
            <a:off x="508713" y="2613614"/>
            <a:ext cx="16238354" cy="5693866"/>
          </a:xfrm>
          <a:prstGeom prst="rect">
            <a:avLst/>
          </a:prstGeom>
          <a:noFill/>
        </p:spPr>
        <p:txBody>
          <a:bodyPr wrap="square" rtlCol="0">
            <a:spAutoFit/>
          </a:bodyPr>
          <a:lstStyle/>
          <a:p>
            <a:pPr algn="l"/>
            <a:r>
              <a:rPr lang="en-US" sz="2800" b="1" i="0" dirty="0">
                <a:solidFill>
                  <a:srgbClr val="0D0D0D"/>
                </a:solidFill>
                <a:effectLst/>
                <a:latin typeface="+mn-lt"/>
              </a:rPr>
              <a:t>3. Corrective Actions</a:t>
            </a:r>
            <a:r>
              <a:rPr lang="en-US" sz="2800" b="0" i="0" dirty="0">
                <a:solidFill>
                  <a:srgbClr val="0D0D0D"/>
                </a:solidFill>
                <a:effectLst/>
                <a:latin typeface="+mn-lt"/>
              </a:rPr>
              <a:t>: </a:t>
            </a:r>
          </a:p>
          <a:p>
            <a:pPr marL="457200" indent="-457200" algn="l">
              <a:buFont typeface="Arial" panose="020B0604020202020204" pitchFamily="34" charset="0"/>
              <a:buChar char="•"/>
            </a:pPr>
            <a:r>
              <a:rPr lang="en-US" sz="2800" b="0" i="0" dirty="0">
                <a:solidFill>
                  <a:srgbClr val="0D0D0D"/>
                </a:solidFill>
                <a:effectLst/>
                <a:latin typeface="+mn-lt"/>
              </a:rPr>
              <a:t>Outline the specific corrective actions implemented to address the immediate cause of the issue and prevent its recurrence. </a:t>
            </a:r>
          </a:p>
          <a:p>
            <a:pPr marL="457200" indent="-457200" algn="l">
              <a:buFont typeface="Arial" panose="020B0604020202020204" pitchFamily="34" charset="0"/>
              <a:buChar char="•"/>
            </a:pPr>
            <a:r>
              <a:rPr lang="en-US" sz="2800" b="0" i="0" dirty="0">
                <a:solidFill>
                  <a:srgbClr val="0D0D0D"/>
                </a:solidFill>
                <a:effectLst/>
                <a:latin typeface="+mn-lt"/>
              </a:rPr>
              <a:t>Describe the actions taken to correct the non-conformity, mitigate risks, and restore compliance with relevant requirements or standards.</a:t>
            </a:r>
          </a:p>
          <a:p>
            <a:pPr algn="l">
              <a:buFont typeface="+mj-lt"/>
              <a:buAutoNum type="arabicPeriod"/>
            </a:pPr>
            <a:endParaRPr lang="en-US" sz="2800" b="1" i="0" dirty="0">
              <a:solidFill>
                <a:srgbClr val="0D0D0D"/>
              </a:solidFill>
              <a:effectLst/>
              <a:latin typeface="+mn-lt"/>
            </a:endParaRPr>
          </a:p>
          <a:p>
            <a:pPr algn="l"/>
            <a:r>
              <a:rPr lang="en-US" sz="2800" b="1" dirty="0">
                <a:solidFill>
                  <a:srgbClr val="0D0D0D"/>
                </a:solidFill>
                <a:latin typeface="+mn-lt"/>
              </a:rPr>
              <a:t>4. </a:t>
            </a:r>
            <a:r>
              <a:rPr lang="en-US" sz="2800" b="1" i="0" dirty="0">
                <a:solidFill>
                  <a:srgbClr val="0D0D0D"/>
                </a:solidFill>
                <a:effectLst/>
                <a:latin typeface="+mn-lt"/>
              </a:rPr>
              <a:t>Preventive Actions</a:t>
            </a:r>
            <a:r>
              <a:rPr lang="en-US" sz="2800" b="0" i="0" dirty="0">
                <a:solidFill>
                  <a:srgbClr val="0D0D0D"/>
                </a:solidFill>
                <a:effectLst/>
                <a:latin typeface="+mn-lt"/>
              </a:rPr>
              <a:t>: </a:t>
            </a:r>
          </a:p>
          <a:p>
            <a:pPr marL="457200" indent="-457200" algn="l">
              <a:buFont typeface="Arial" panose="020B0604020202020204" pitchFamily="34" charset="0"/>
              <a:buChar char="•"/>
            </a:pPr>
            <a:r>
              <a:rPr lang="en-US" sz="2800" b="0" i="0" dirty="0">
                <a:solidFill>
                  <a:srgbClr val="0D0D0D"/>
                </a:solidFill>
                <a:effectLst/>
                <a:latin typeface="+mn-lt"/>
              </a:rPr>
              <a:t>Describe the preventive actions implemented to address the root cause identified during the investigation. </a:t>
            </a:r>
          </a:p>
          <a:p>
            <a:pPr marL="457200" indent="-457200" algn="l">
              <a:buFont typeface="Arial" panose="020B0604020202020204" pitchFamily="34" charset="0"/>
              <a:buChar char="•"/>
            </a:pPr>
            <a:r>
              <a:rPr lang="en-US" sz="2800" b="0" i="0" dirty="0">
                <a:solidFill>
                  <a:srgbClr val="0D0D0D"/>
                </a:solidFill>
                <a:effectLst/>
                <a:latin typeface="+mn-lt"/>
              </a:rPr>
              <a:t>These actions are aimed at preventing similar issues from occurring in the future by addressing underlying systemic or process-related weaknesses.</a:t>
            </a:r>
          </a:p>
          <a:p>
            <a:pPr algn="l"/>
            <a:endParaRPr lang="en-US" sz="2800" b="0" i="0" dirty="0">
              <a:solidFill>
                <a:srgbClr val="0D0D0D"/>
              </a:solidFill>
              <a:effectLst/>
              <a:latin typeface="+mn-lt"/>
            </a:endParaRPr>
          </a:p>
          <a:p>
            <a:pPr lvl="5"/>
            <a:endParaRPr lang="en-US" sz="2800" b="0" i="0" dirty="0">
              <a:solidFill>
                <a:srgbClr val="0D0D0D"/>
              </a:solidFill>
              <a:effectLst/>
              <a:latin typeface="+mn-lt"/>
            </a:endParaRPr>
          </a:p>
        </p:txBody>
      </p:sp>
    </p:spTree>
    <p:extLst>
      <p:ext uri="{BB962C8B-B14F-4D97-AF65-F5344CB8AC3E}">
        <p14:creationId xmlns:p14="http://schemas.microsoft.com/office/powerpoint/2010/main" val="1452237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C81428E-2B3C-0C40-A68B-9BCC7BD6BBFD}"/>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F4B4B845-CAA4-8F58-D08A-7222F22D9B6F}"/>
              </a:ext>
            </a:extLst>
          </p:cNvPr>
          <p:cNvSpPr txBox="1"/>
          <p:nvPr/>
        </p:nvSpPr>
        <p:spPr>
          <a:xfrm>
            <a:off x="508713" y="65808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sym typeface="Montserrat"/>
              </a:rPr>
              <a:t>COMPONENTS OF A CAPA REPORT </a:t>
            </a:r>
            <a:endParaRPr lang="en-US"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EDC26224-82CC-29D1-960E-756BDDFA2A16}"/>
              </a:ext>
            </a:extLst>
          </p:cNvPr>
          <p:cNvSpPr/>
          <p:nvPr/>
        </p:nvSpPr>
        <p:spPr>
          <a:xfrm rot="-1625759">
            <a:off x="8756505" y="-167437"/>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C0FF5337-BE48-0571-8EBF-2992C8C72DFD}"/>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52DC72E0-5328-FF15-7B69-B6B0BBF1609E}"/>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72395F03-BF1B-2B6D-1BE2-8962106EB0C5}"/>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B88C1DE9-4078-702A-EF07-13E007676CEA}"/>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B36804C1-758F-ADB6-40CA-D1574ECD1121}"/>
              </a:ext>
            </a:extLst>
          </p:cNvPr>
          <p:cNvSpPr txBox="1"/>
          <p:nvPr/>
        </p:nvSpPr>
        <p:spPr>
          <a:xfrm>
            <a:off x="508713" y="2613614"/>
            <a:ext cx="16238354" cy="6555641"/>
          </a:xfrm>
          <a:prstGeom prst="rect">
            <a:avLst/>
          </a:prstGeom>
          <a:noFill/>
        </p:spPr>
        <p:txBody>
          <a:bodyPr wrap="square" rtlCol="0">
            <a:spAutoFit/>
          </a:bodyPr>
          <a:lstStyle/>
          <a:p>
            <a:pPr algn="l"/>
            <a:r>
              <a:rPr lang="en-US" sz="2600" b="1" dirty="0">
                <a:solidFill>
                  <a:srgbClr val="0D0D0D"/>
                </a:solidFill>
                <a:latin typeface="+mn-lt"/>
              </a:rPr>
              <a:t>5.</a:t>
            </a:r>
            <a:r>
              <a:rPr lang="en-US" sz="2600" b="1" i="0" dirty="0">
                <a:solidFill>
                  <a:srgbClr val="0D0D0D"/>
                </a:solidFill>
                <a:effectLst/>
                <a:latin typeface="+mn-lt"/>
              </a:rPr>
              <a:t> Implementation Plan</a:t>
            </a:r>
            <a:r>
              <a:rPr lang="en-US" sz="2600" b="0" i="0" dirty="0">
                <a:solidFill>
                  <a:srgbClr val="0D0D0D"/>
                </a:solidFill>
                <a:effectLst/>
                <a:latin typeface="+mn-lt"/>
              </a:rPr>
              <a:t>: </a:t>
            </a:r>
          </a:p>
          <a:p>
            <a:pPr marL="571500" indent="-571500" algn="l">
              <a:buFont typeface="Arial" panose="020B0604020202020204" pitchFamily="34" charset="0"/>
              <a:buChar char="•"/>
            </a:pPr>
            <a:r>
              <a:rPr lang="en-US" sz="2600" b="0" i="0" dirty="0">
                <a:solidFill>
                  <a:srgbClr val="0D0D0D"/>
                </a:solidFill>
                <a:effectLst/>
                <a:latin typeface="+mn-lt"/>
              </a:rPr>
              <a:t>Provide details of the implementation plan for corrective and preventive actions, including timelines, responsible parties, resources required, and milestones for completion. </a:t>
            </a:r>
          </a:p>
          <a:p>
            <a:pPr marL="571500" indent="-571500" algn="l">
              <a:buFont typeface="Arial" panose="020B0604020202020204" pitchFamily="34" charset="0"/>
              <a:buChar char="•"/>
            </a:pPr>
            <a:r>
              <a:rPr lang="en-US" sz="2600" b="0" i="0" dirty="0">
                <a:solidFill>
                  <a:srgbClr val="0D0D0D"/>
                </a:solidFill>
                <a:effectLst/>
                <a:latin typeface="+mn-lt"/>
              </a:rPr>
              <a:t>Ensure that the plan is realistic, achievable, and aligned with organizational priorities and objectives.</a:t>
            </a:r>
          </a:p>
          <a:p>
            <a:pPr algn="l">
              <a:buFont typeface="+mj-lt"/>
              <a:buAutoNum type="arabicPeriod"/>
            </a:pPr>
            <a:endParaRPr lang="en-US" sz="2600" b="1" i="0" dirty="0">
              <a:solidFill>
                <a:srgbClr val="0D0D0D"/>
              </a:solidFill>
              <a:effectLst/>
              <a:latin typeface="+mn-lt"/>
            </a:endParaRPr>
          </a:p>
          <a:p>
            <a:pPr algn="l"/>
            <a:r>
              <a:rPr lang="en-US" sz="2600" b="1" dirty="0">
                <a:solidFill>
                  <a:srgbClr val="0D0D0D"/>
                </a:solidFill>
                <a:latin typeface="+mn-lt"/>
              </a:rPr>
              <a:t>6. </a:t>
            </a:r>
            <a:r>
              <a:rPr lang="en-US" sz="2600" b="1" i="0" dirty="0">
                <a:solidFill>
                  <a:srgbClr val="0D0D0D"/>
                </a:solidFill>
                <a:effectLst/>
                <a:latin typeface="+mn-lt"/>
              </a:rPr>
              <a:t>Verification and Validation</a:t>
            </a:r>
            <a:r>
              <a:rPr lang="en-US" sz="2600" b="0" i="0" dirty="0">
                <a:solidFill>
                  <a:srgbClr val="0D0D0D"/>
                </a:solidFill>
                <a:effectLst/>
                <a:latin typeface="+mn-lt"/>
              </a:rPr>
              <a:t>: </a:t>
            </a:r>
          </a:p>
          <a:p>
            <a:pPr marL="457200" indent="-457200" algn="l">
              <a:buFont typeface="Arial" panose="020B0604020202020204" pitchFamily="34" charset="0"/>
              <a:buChar char="•"/>
            </a:pPr>
            <a:r>
              <a:rPr lang="en-US" sz="2600" b="0" i="0" dirty="0">
                <a:solidFill>
                  <a:srgbClr val="0D0D0D"/>
                </a:solidFill>
                <a:effectLst/>
                <a:latin typeface="+mn-lt"/>
              </a:rPr>
              <a:t>Describe how the effectiveness of corrective and preventive actions will be verified and validated to ensure that they have been successfully implemented and are achieving the intended results. </a:t>
            </a:r>
          </a:p>
          <a:p>
            <a:pPr marL="457200" indent="-457200" algn="l">
              <a:buFont typeface="Arial" panose="020B0604020202020204" pitchFamily="34" charset="0"/>
              <a:buChar char="•"/>
            </a:pPr>
            <a:r>
              <a:rPr lang="en-US" sz="2600" b="0" i="0" dirty="0">
                <a:solidFill>
                  <a:srgbClr val="0D0D0D"/>
                </a:solidFill>
                <a:effectLst/>
                <a:latin typeface="+mn-lt"/>
              </a:rPr>
              <a:t>This may involve follow-up audits, inspections, testing, or performance monitoring.</a:t>
            </a:r>
          </a:p>
          <a:p>
            <a:pPr algn="l"/>
            <a:endParaRPr lang="en-US" sz="2600" b="1" i="0" dirty="0">
              <a:solidFill>
                <a:srgbClr val="0D0D0D"/>
              </a:solidFill>
              <a:effectLst/>
              <a:latin typeface="+mn-lt"/>
            </a:endParaRPr>
          </a:p>
          <a:p>
            <a:pPr algn="l"/>
            <a:r>
              <a:rPr lang="en-US" sz="2600" b="1" dirty="0">
                <a:solidFill>
                  <a:srgbClr val="0D0D0D"/>
                </a:solidFill>
                <a:latin typeface="+mn-lt"/>
              </a:rPr>
              <a:t>7. </a:t>
            </a:r>
            <a:r>
              <a:rPr lang="en-US" sz="2600" b="1" i="0" dirty="0">
                <a:solidFill>
                  <a:srgbClr val="0D0D0D"/>
                </a:solidFill>
                <a:effectLst/>
                <a:latin typeface="+mn-lt"/>
              </a:rPr>
              <a:t>Documentation and Records</a:t>
            </a:r>
            <a:r>
              <a:rPr lang="en-US" sz="2600" b="0" i="0" dirty="0">
                <a:solidFill>
                  <a:srgbClr val="0D0D0D"/>
                </a:solidFill>
                <a:effectLst/>
                <a:latin typeface="+mn-lt"/>
              </a:rPr>
              <a:t>: </a:t>
            </a:r>
          </a:p>
          <a:p>
            <a:pPr marL="457200" indent="-457200" algn="l">
              <a:buFont typeface="Arial" panose="020B0604020202020204" pitchFamily="34" charset="0"/>
              <a:buChar char="•"/>
            </a:pPr>
            <a:r>
              <a:rPr lang="en-US" sz="2600" b="0" i="0" dirty="0">
                <a:solidFill>
                  <a:srgbClr val="0D0D0D"/>
                </a:solidFill>
                <a:effectLst/>
                <a:latin typeface="+mn-lt"/>
              </a:rPr>
              <a:t>Document all relevant information, documentation, and records associated with the CAPA process, including investigation reports, action plans, supporting data, and communication logs. </a:t>
            </a:r>
          </a:p>
          <a:p>
            <a:pPr marL="457200" indent="-457200" algn="l">
              <a:buFont typeface="Arial" panose="020B0604020202020204" pitchFamily="34" charset="0"/>
              <a:buChar char="•"/>
            </a:pPr>
            <a:r>
              <a:rPr lang="en-US" sz="2600" b="0" i="0" dirty="0">
                <a:solidFill>
                  <a:srgbClr val="0D0D0D"/>
                </a:solidFill>
                <a:effectLst/>
                <a:latin typeface="+mn-lt"/>
              </a:rPr>
              <a:t>Maintain accurate and complete records for future reference and audit purposes.</a:t>
            </a:r>
          </a:p>
          <a:p>
            <a:pPr algn="l"/>
            <a:endParaRPr lang="en-US" sz="2800" b="0" i="0" dirty="0">
              <a:solidFill>
                <a:srgbClr val="0D0D0D"/>
              </a:solidFill>
              <a:effectLst/>
              <a:latin typeface="+mn-lt"/>
            </a:endParaRPr>
          </a:p>
          <a:p>
            <a:pPr lvl="5"/>
            <a:endParaRPr lang="en-US" sz="2800" b="0" i="0" dirty="0">
              <a:solidFill>
                <a:srgbClr val="0D0D0D"/>
              </a:solidFill>
              <a:effectLst/>
              <a:latin typeface="+mn-lt"/>
            </a:endParaRPr>
          </a:p>
        </p:txBody>
      </p:sp>
    </p:spTree>
    <p:extLst>
      <p:ext uri="{BB962C8B-B14F-4D97-AF65-F5344CB8AC3E}">
        <p14:creationId xmlns:p14="http://schemas.microsoft.com/office/powerpoint/2010/main" val="3529842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2BE03B85-BE0C-98DD-6852-48A31099DA80}"/>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20515C06-9218-21B9-DA68-66637445FBB6}"/>
              </a:ext>
            </a:extLst>
          </p:cNvPr>
          <p:cNvSpPr txBox="1"/>
          <p:nvPr/>
        </p:nvSpPr>
        <p:spPr>
          <a:xfrm>
            <a:off x="508713" y="658080"/>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sym typeface="Montserrat"/>
              </a:rPr>
              <a:t>COMPONENTS OF A CAPA REPORT </a:t>
            </a:r>
            <a:endParaRPr lang="en-US"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8F5820CA-0317-293D-8DB6-C22ECEF7B719}"/>
              </a:ext>
            </a:extLst>
          </p:cNvPr>
          <p:cNvSpPr/>
          <p:nvPr/>
        </p:nvSpPr>
        <p:spPr>
          <a:xfrm rot="-1625759">
            <a:off x="8756505" y="-167437"/>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2146AB36-B8B2-D8C6-FDD6-27BADE7450ED}"/>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2B37938A-A2CC-83A4-3F55-4007EB5E19D7}"/>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4D6E2DDC-D357-6B6E-C60B-B9C5C720AB4F}"/>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CCA3E01C-46A0-A5E4-A13D-0050A7315CBD}"/>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06BAC6AC-23F1-1B15-1D70-0C9A8B22E846}"/>
              </a:ext>
            </a:extLst>
          </p:cNvPr>
          <p:cNvSpPr txBox="1"/>
          <p:nvPr/>
        </p:nvSpPr>
        <p:spPr>
          <a:xfrm>
            <a:off x="508713" y="2613614"/>
            <a:ext cx="16238354" cy="6494085"/>
          </a:xfrm>
          <a:prstGeom prst="rect">
            <a:avLst/>
          </a:prstGeom>
          <a:noFill/>
        </p:spPr>
        <p:txBody>
          <a:bodyPr wrap="square" rtlCol="0">
            <a:spAutoFit/>
          </a:bodyPr>
          <a:lstStyle/>
          <a:p>
            <a:pPr algn="l"/>
            <a:r>
              <a:rPr lang="en-US" sz="2800" b="1" i="0" dirty="0">
                <a:solidFill>
                  <a:srgbClr val="0D0D0D"/>
                </a:solidFill>
                <a:effectLst/>
                <a:latin typeface="+mn-lt"/>
              </a:rPr>
              <a:t>8. Approval and Authorization</a:t>
            </a:r>
            <a:r>
              <a:rPr lang="en-US" sz="2800" b="0" i="0" dirty="0">
                <a:solidFill>
                  <a:srgbClr val="0D0D0D"/>
                </a:solidFill>
                <a:effectLst/>
                <a:latin typeface="+mn-lt"/>
              </a:rPr>
              <a:t>: </a:t>
            </a:r>
          </a:p>
          <a:p>
            <a:pPr marL="571500" indent="-571500" algn="l">
              <a:buFont typeface="Arial" panose="020B0604020202020204" pitchFamily="34" charset="0"/>
              <a:buChar char="•"/>
            </a:pPr>
            <a:r>
              <a:rPr lang="en-US" sz="2800" b="0" i="0" dirty="0">
                <a:solidFill>
                  <a:srgbClr val="0D0D0D"/>
                </a:solidFill>
                <a:effectLst/>
                <a:latin typeface="+mn-lt"/>
              </a:rPr>
              <a:t>Obtain appropriate approvals and authorizations from management or designated personnel responsible for overseeing the CAPA process. </a:t>
            </a:r>
          </a:p>
          <a:p>
            <a:pPr marL="571500" indent="-571500" algn="l">
              <a:buFont typeface="Arial" panose="020B0604020202020204" pitchFamily="34" charset="0"/>
              <a:buChar char="•"/>
            </a:pPr>
            <a:r>
              <a:rPr lang="en-US" sz="2800" b="0" i="0" dirty="0">
                <a:solidFill>
                  <a:srgbClr val="0D0D0D"/>
                </a:solidFill>
                <a:effectLst/>
                <a:latin typeface="+mn-lt"/>
              </a:rPr>
              <a:t>Ensure that management are informed and engaged throughout the CAPA lifecycle.</a:t>
            </a:r>
          </a:p>
          <a:p>
            <a:pPr marL="571500" indent="-571500" algn="l">
              <a:buFont typeface="Arial" panose="020B0604020202020204" pitchFamily="34" charset="0"/>
              <a:buChar char="•"/>
            </a:pPr>
            <a:endParaRPr lang="en-US" sz="2800" dirty="0">
              <a:solidFill>
                <a:srgbClr val="0D0D0D"/>
              </a:solidFill>
              <a:latin typeface="+mn-lt"/>
            </a:endParaRPr>
          </a:p>
          <a:p>
            <a:pPr algn="l"/>
            <a:r>
              <a:rPr lang="en-US" sz="2800" b="1" i="0" dirty="0">
                <a:solidFill>
                  <a:srgbClr val="0D0D0D"/>
                </a:solidFill>
                <a:effectLst/>
                <a:latin typeface="+mn-lt"/>
              </a:rPr>
              <a:t>9. Closure and Follow-Up</a:t>
            </a:r>
            <a:r>
              <a:rPr lang="en-US" sz="2800" b="0" i="0" dirty="0">
                <a:solidFill>
                  <a:srgbClr val="0D0D0D"/>
                </a:solidFill>
                <a:effectLst/>
                <a:latin typeface="+mn-lt"/>
              </a:rPr>
              <a:t>: </a:t>
            </a:r>
          </a:p>
          <a:p>
            <a:pPr marL="457200" indent="-457200" algn="l">
              <a:buFont typeface="Arial" panose="020B0604020202020204" pitchFamily="34" charset="0"/>
              <a:buChar char="•"/>
            </a:pPr>
            <a:r>
              <a:rPr lang="en-US" sz="2800" b="0" i="0" dirty="0">
                <a:solidFill>
                  <a:srgbClr val="0D0D0D"/>
                </a:solidFill>
                <a:effectLst/>
                <a:latin typeface="+mn-lt"/>
              </a:rPr>
              <a:t>Once corrective and preventive actions have been implemented and verified, formally close the CAPA report. </a:t>
            </a:r>
          </a:p>
          <a:p>
            <a:pPr marL="457200" indent="-457200" algn="l">
              <a:buFont typeface="Arial" panose="020B0604020202020204" pitchFamily="34" charset="0"/>
              <a:buChar char="•"/>
            </a:pPr>
            <a:r>
              <a:rPr lang="en-US" sz="2800" b="0" i="0" dirty="0">
                <a:solidFill>
                  <a:srgbClr val="0D0D0D"/>
                </a:solidFill>
                <a:effectLst/>
                <a:latin typeface="+mn-lt"/>
              </a:rPr>
              <a:t>Conduct follow-up reviews or audits to monitor the effectiveness of actions taken and address any residual risks or recurring issues.</a:t>
            </a:r>
          </a:p>
          <a:p>
            <a:br>
              <a:rPr lang="en-US" sz="4400" dirty="0"/>
            </a:br>
            <a:br>
              <a:rPr lang="en-US" sz="3600" dirty="0"/>
            </a:br>
            <a:endParaRPr lang="en-US" sz="2800" b="0" i="0" dirty="0">
              <a:solidFill>
                <a:srgbClr val="0D0D0D"/>
              </a:solidFill>
              <a:effectLst/>
              <a:latin typeface="+mn-lt"/>
            </a:endParaRPr>
          </a:p>
          <a:p>
            <a:pPr lvl="5"/>
            <a:endParaRPr lang="en-US" sz="2800" b="0" i="0" dirty="0">
              <a:solidFill>
                <a:srgbClr val="0D0D0D"/>
              </a:solidFill>
              <a:effectLst/>
              <a:latin typeface="+mn-lt"/>
            </a:endParaRPr>
          </a:p>
        </p:txBody>
      </p:sp>
    </p:spTree>
    <p:extLst>
      <p:ext uri="{BB962C8B-B14F-4D97-AF65-F5344CB8AC3E}">
        <p14:creationId xmlns:p14="http://schemas.microsoft.com/office/powerpoint/2010/main" val="24095476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A2A6F8F5-0DF7-D64A-4A7C-3B9D8961B2D9}"/>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60C41E22-5401-DAB4-1884-42166A0FB17F}"/>
              </a:ext>
            </a:extLst>
          </p:cNvPr>
          <p:cNvSpPr txBox="1"/>
          <p:nvPr/>
        </p:nvSpPr>
        <p:spPr>
          <a:xfrm>
            <a:off x="508713" y="523968"/>
            <a:ext cx="13835100" cy="1384995"/>
          </a:xfrm>
          <a:prstGeom prst="rect">
            <a:avLst/>
          </a:prstGeom>
          <a:noFill/>
          <a:ln>
            <a:noFill/>
          </a:ln>
        </p:spPr>
        <p:txBody>
          <a:bodyPr spcFirstLastPara="1" wrap="square" lIns="0" tIns="0" rIns="0" bIns="0" anchor="t" anchorCtr="0">
            <a:spAutoFit/>
          </a:bodyPr>
          <a:lstStyle/>
          <a:p>
            <a:pPr marL="0" marR="0" lvl="0" indent="0" algn="l" rtl="0">
              <a:lnSpc>
                <a:spcPct val="225000"/>
              </a:lnSpc>
              <a:spcBef>
                <a:spcPts val="0"/>
              </a:spcBef>
              <a:spcAft>
                <a:spcPts val="0"/>
              </a:spcAft>
              <a:buClr>
                <a:srgbClr val="000000"/>
              </a:buClr>
              <a:buSzPts val="4000"/>
              <a:buFont typeface="Arial"/>
              <a:buNone/>
            </a:pPr>
            <a:r>
              <a:rPr lang="en-US" sz="4000" b="1" dirty="0">
                <a:solidFill>
                  <a:srgbClr val="004AAD"/>
                </a:solidFill>
                <a:latin typeface="Montserrat"/>
                <a:sym typeface="Montserrat"/>
              </a:rPr>
              <a:t>IN SUMMARY . . . </a:t>
            </a:r>
            <a:endParaRPr lang="en-US" sz="4000" b="0" i="0" u="none" strike="noStrike" cap="none" dirty="0">
              <a:solidFill>
                <a:srgbClr val="000000"/>
              </a:solidFill>
              <a:latin typeface="Arial"/>
              <a:ea typeface="Arial"/>
              <a:cs typeface="Arial"/>
              <a:sym typeface="Arial"/>
            </a:endParaRPr>
          </a:p>
        </p:txBody>
      </p:sp>
      <p:sp>
        <p:nvSpPr>
          <p:cNvPr id="98" name="Google Shape;98;p2">
            <a:extLst>
              <a:ext uri="{FF2B5EF4-FFF2-40B4-BE49-F238E27FC236}">
                <a16:creationId xmlns:a16="http://schemas.microsoft.com/office/drawing/2014/main" id="{68A2F0A9-0F89-17F5-F239-8532F30037AB}"/>
              </a:ext>
            </a:extLst>
          </p:cNvPr>
          <p:cNvSpPr/>
          <p:nvPr/>
        </p:nvSpPr>
        <p:spPr>
          <a:xfrm rot="-1625759">
            <a:off x="8662693" y="-167436"/>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txBody>
          <a:bodyPr/>
          <a:lstStyle/>
          <a:p>
            <a:endParaRPr lang="en-US" dirty="0"/>
          </a:p>
        </p:txBody>
      </p:sp>
      <p:grpSp>
        <p:nvGrpSpPr>
          <p:cNvPr id="99" name="Google Shape;99;p2">
            <a:extLst>
              <a:ext uri="{FF2B5EF4-FFF2-40B4-BE49-F238E27FC236}">
                <a16:creationId xmlns:a16="http://schemas.microsoft.com/office/drawing/2014/main" id="{D4306947-AF4A-EC16-EE7C-74D185281FF5}"/>
              </a:ext>
            </a:extLst>
          </p:cNvPr>
          <p:cNvGrpSpPr/>
          <p:nvPr/>
        </p:nvGrpSpPr>
        <p:grpSpPr>
          <a:xfrm>
            <a:off x="13648198" y="7743450"/>
            <a:ext cx="4131089" cy="1885470"/>
            <a:chOff x="11353800" y="6149040"/>
            <a:chExt cx="4131089" cy="1885470"/>
          </a:xfrm>
        </p:grpSpPr>
        <p:pic>
          <p:nvPicPr>
            <p:cNvPr id="100" name="Google Shape;100;p2" descr="A close up of a sign&#10;&#10;Description automatically generated">
              <a:extLst>
                <a:ext uri="{FF2B5EF4-FFF2-40B4-BE49-F238E27FC236}">
                  <a16:creationId xmlns:a16="http://schemas.microsoft.com/office/drawing/2014/main" id="{C9133B07-F030-1C05-FA95-10AAD580A400}"/>
                </a:ext>
              </a:extLst>
            </p:cNvPr>
            <p:cNvPicPr preferRelativeResize="0"/>
            <p:nvPr/>
          </p:nvPicPr>
          <p:blipFill rotWithShape="1">
            <a:blip r:embed="rId4">
              <a:alphaModFix/>
            </a:blip>
            <a:srcRect t="11570" b="11539"/>
            <a:stretch/>
          </p:blipFill>
          <p:spPr>
            <a:xfrm>
              <a:off x="11353800" y="7277100"/>
              <a:ext cx="977895" cy="757410"/>
            </a:xfrm>
            <a:prstGeom prst="rect">
              <a:avLst/>
            </a:prstGeom>
            <a:noFill/>
            <a:ln>
              <a:noFill/>
            </a:ln>
          </p:spPr>
        </p:pic>
        <p:sp>
          <p:nvSpPr>
            <p:cNvPr id="101" name="Google Shape;101;p2">
              <a:extLst>
                <a:ext uri="{FF2B5EF4-FFF2-40B4-BE49-F238E27FC236}">
                  <a16:creationId xmlns:a16="http://schemas.microsoft.com/office/drawing/2014/main" id="{AFC31437-0289-159D-D469-55B3FF8C8D7E}"/>
                </a:ext>
              </a:extLst>
            </p:cNvPr>
            <p:cNvSpPr/>
            <p:nvPr/>
          </p:nvSpPr>
          <p:spPr>
            <a:xfrm>
              <a:off x="12192000" y="6149040"/>
              <a:ext cx="3292889" cy="1281633"/>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4AAD"/>
                  </a:solidFill>
                  <a:latin typeface="Montserrat"/>
                  <a:ea typeface="Montserrat"/>
                  <a:cs typeface="Montserrat"/>
                  <a:sym typeface="Montserrat"/>
                </a:rPr>
                <a:t>CONSULTARE INC. GROUP </a:t>
              </a:r>
              <a:endParaRPr sz="1400" b="0" i="0" u="none" strike="noStrike" cap="none" dirty="0">
                <a:solidFill>
                  <a:srgbClr val="000000"/>
                </a:solidFill>
                <a:latin typeface="Arial"/>
                <a:ea typeface="Arial"/>
                <a:cs typeface="Arial"/>
                <a:sym typeface="Arial"/>
              </a:endParaRPr>
            </a:p>
          </p:txBody>
        </p:sp>
        <p:sp>
          <p:nvSpPr>
            <p:cNvPr id="102" name="Google Shape;102;p2">
              <a:extLst>
                <a:ext uri="{FF2B5EF4-FFF2-40B4-BE49-F238E27FC236}">
                  <a16:creationId xmlns:a16="http://schemas.microsoft.com/office/drawing/2014/main" id="{3736CACD-2383-93D4-8D40-C6A2DF1C0A55}"/>
                </a:ext>
              </a:extLst>
            </p:cNvPr>
            <p:cNvSpPr txBox="1"/>
            <p:nvPr/>
          </p:nvSpPr>
          <p:spPr>
            <a:xfrm>
              <a:off x="12331695" y="6504987"/>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Clr>
                  <a:srgbClr val="000000"/>
                </a:buClr>
                <a:buSzPts val="1800"/>
                <a:buFont typeface="Arial"/>
                <a:buNone/>
              </a:pPr>
              <a:r>
                <a:rPr lang="en-US" sz="1800" b="1" i="0" u="none" strike="noStrike" cap="none" dirty="0">
                  <a:solidFill>
                    <a:srgbClr val="00B0F0"/>
                  </a:solidFill>
                  <a:latin typeface="Montserrat"/>
                  <a:ea typeface="Montserrat"/>
                  <a:cs typeface="Montserrat"/>
                  <a:sym typeface="Montserrat"/>
                </a:rPr>
                <a:t>A Compliance Co.</a:t>
              </a:r>
              <a:endParaRPr sz="1400" b="0" i="0" u="none" strike="noStrike" cap="none" dirty="0">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0D2688E2-9A36-74DC-4AC7-2A2BC7BAE1B9}"/>
              </a:ext>
            </a:extLst>
          </p:cNvPr>
          <p:cNvSpPr txBox="1"/>
          <p:nvPr/>
        </p:nvSpPr>
        <p:spPr>
          <a:xfrm>
            <a:off x="508713" y="2613614"/>
            <a:ext cx="16238354" cy="7294305"/>
          </a:xfrm>
          <a:prstGeom prst="rect">
            <a:avLst/>
          </a:prstGeom>
          <a:noFill/>
        </p:spPr>
        <p:txBody>
          <a:bodyPr wrap="square" rtlCol="0">
            <a:spAutoFit/>
          </a:bodyPr>
          <a:lstStyle/>
          <a:p>
            <a:pPr algn="l"/>
            <a:r>
              <a:rPr lang="en-US" sz="2800" b="0" i="0" dirty="0">
                <a:solidFill>
                  <a:srgbClr val="0D0D0D"/>
                </a:solidFill>
                <a:effectLst/>
                <a:latin typeface="+mn-lt"/>
              </a:rPr>
              <a:t>The main purpose and importance of an audit based on ISO 9000:2015 lie in its role in assessing the effectiveness, compliance, and continual improvement of an organization's quality management system (QMS).</a:t>
            </a:r>
          </a:p>
          <a:p>
            <a:pPr algn="l"/>
            <a:endParaRPr lang="en-US" sz="2800" dirty="0">
              <a:solidFill>
                <a:srgbClr val="0D0D0D"/>
              </a:solidFill>
              <a:latin typeface="+mn-lt"/>
            </a:endParaRPr>
          </a:p>
          <a:p>
            <a:r>
              <a:rPr lang="en-US" sz="2800" dirty="0">
                <a:effectLst/>
                <a:latin typeface="+mn-lt"/>
              </a:rPr>
              <a:t>In summary, audits based on ISO 9000:2015 are essential for assessing, improving, and validating the effectiveness of an organization's quality management system. By promoting compliance, continuous improvement, customer satisfaction, and risk management, ISO 9000:2015 audits contribute to organizational excellence, competitiveness, and long-term success.</a:t>
            </a:r>
          </a:p>
          <a:p>
            <a:pPr algn="l"/>
            <a:br>
              <a:rPr lang="en-US" sz="5400" b="0" i="0" dirty="0">
                <a:solidFill>
                  <a:srgbClr val="000000"/>
                </a:solidFill>
                <a:effectLst/>
                <a:latin typeface="Söhne"/>
              </a:rPr>
            </a:br>
            <a:endParaRPr lang="en-US" sz="5400" b="0" i="0" dirty="0">
              <a:solidFill>
                <a:srgbClr val="000000"/>
              </a:solidFill>
              <a:effectLst/>
              <a:latin typeface="Söhne"/>
            </a:endParaRPr>
          </a:p>
          <a:p>
            <a:pPr algn="l"/>
            <a:br>
              <a:rPr lang="en-US" sz="4400" dirty="0"/>
            </a:br>
            <a:br>
              <a:rPr lang="en-US" sz="3600" dirty="0"/>
            </a:br>
            <a:endParaRPr lang="en-US" sz="2800" b="0" i="0" dirty="0">
              <a:solidFill>
                <a:srgbClr val="0D0D0D"/>
              </a:solidFill>
              <a:effectLst/>
              <a:latin typeface="+mn-lt"/>
            </a:endParaRPr>
          </a:p>
          <a:p>
            <a:pPr lvl="5"/>
            <a:endParaRPr lang="en-US" sz="2800" b="0" i="0" dirty="0">
              <a:solidFill>
                <a:srgbClr val="0D0D0D"/>
              </a:solidFill>
              <a:effectLst/>
              <a:latin typeface="+mn-lt"/>
            </a:endParaRPr>
          </a:p>
        </p:txBody>
      </p:sp>
    </p:spTree>
    <p:extLst>
      <p:ext uri="{BB962C8B-B14F-4D97-AF65-F5344CB8AC3E}">
        <p14:creationId xmlns:p14="http://schemas.microsoft.com/office/powerpoint/2010/main" val="394958738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3074</Words>
  <Application>Microsoft Macintosh PowerPoint</Application>
  <PresentationFormat>Custom</PresentationFormat>
  <Paragraphs>295</Paragraphs>
  <Slides>26</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Söhne</vt:lpstr>
      <vt:lpstr>Calibri</vt:lpstr>
      <vt:lpstr>Montserrat</vt:lpstr>
      <vt:lpstr>Barlow</vt:lpstr>
      <vt:lpstr>Songti SC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Arnel Ryan</cp:lastModifiedBy>
  <cp:revision>2</cp:revision>
  <dcterms:created xsi:type="dcterms:W3CDTF">2006-08-16T00:00:00Z</dcterms:created>
  <dcterms:modified xsi:type="dcterms:W3CDTF">2024-04-09T14:45:53Z</dcterms:modified>
</cp:coreProperties>
</file>