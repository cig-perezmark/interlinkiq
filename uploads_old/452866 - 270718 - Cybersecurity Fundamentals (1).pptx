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Average"/>
      <p:regular r:id="rId40"/>
    </p:embeddedFont>
    <p:embeddedFont>
      <p:font typeface="Oswald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verage-regular.fntdata"/><Relationship Id="rId20" Type="http://schemas.openxmlformats.org/officeDocument/2006/relationships/slide" Target="slides/slide15.xml"/><Relationship Id="rId42" Type="http://schemas.openxmlformats.org/officeDocument/2006/relationships/font" Target="fonts/Oswald-bold.fntdata"/><Relationship Id="rId41" Type="http://schemas.openxmlformats.org/officeDocument/2006/relationships/font" Target="fonts/Oswald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f872318e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f872318e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c10d3390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c10d3390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bf872318e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bf872318e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f872318e4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f872318e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6ce57a987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6ce57a98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6ce57a987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6ce57a987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ce57a987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6ce57a987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06af23bb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c06af23bb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bf872318e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bf872318e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bf872318e4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bf872318e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f872318e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bf872318e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bf872318e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bf872318e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f872318e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f872318e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bf872318e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bf872318e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bf87231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bf87231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bf872318e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bf872318e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f872318e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bf872318e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bf872318e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bf872318e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bf872318e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bf872318e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bf872318e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bf872318e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bf872318e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bf872318e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bf872318e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bf872318e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bf872318e4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bf872318e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c06af23b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c06af23b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c06af23bb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c06af23bb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c06af23bb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c06af23bb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bf872318e4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bf872318e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c06af23bb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c06af23bb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c06af23bb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c06af23bb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c06af23bb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c06af23bb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06af23bb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c06af23bb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c06af23bb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c06af23bb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6ce57a987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6ce57a98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youtu.be/9EaNSpurn4g?si=l-anEC8NVGErPM6E" TargetMode="External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youtu.be/JIJslcA8Q5g?si=dodB-A2OTKP9jkB2" TargetMode="External"/><Relationship Id="rId4" Type="http://schemas.openxmlformats.org/officeDocument/2006/relationships/hyperlink" Target="https://youtu.be/w_EKb2eOgkc?si=FUHLD6AA4Nu1kPZI" TargetMode="External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51583" y="1065225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r>
              <a:rPr lang="en"/>
              <a:t> </a:t>
            </a:r>
            <a:r>
              <a:rPr lang="en"/>
              <a:t>Fundamentals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1670425" y="383963"/>
            <a:ext cx="644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2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850" y="416029"/>
            <a:ext cx="1143374" cy="110197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8682775" y="1897475"/>
            <a:ext cx="33000" cy="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8219775" y="3129600"/>
            <a:ext cx="33000" cy="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4" name="Google Shape;64;p13"/>
          <p:cNvSpPr/>
          <p:nvPr/>
        </p:nvSpPr>
        <p:spPr>
          <a:xfrm rot="-1111536">
            <a:off x="11935555" y="1070248"/>
            <a:ext cx="10436174" cy="8481763"/>
          </a:xfrm>
          <a:custGeom>
            <a:rect b="b" l="l" r="r" t="t"/>
            <a:pathLst>
              <a:path extrusionOk="0" h="8487866" w="10443683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210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practice of protecting systems, networks, and programs from digital attacks.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Includes the protection of </a:t>
            </a:r>
            <a:r>
              <a:rPr lang="en"/>
              <a:t>both</a:t>
            </a:r>
            <a:r>
              <a:rPr lang="en"/>
              <a:t> company and personal data from bad actors and threats.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Cyber Security Tedx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</a:t>
            </a:r>
            <a:r>
              <a:rPr lang="en"/>
              <a:t>A very big danger because it is often an unseen danger. Unseen danger is always more dangerous than a danger in which you can see.”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“The more aware you are, the more alert you’ll be, and as a </a:t>
            </a:r>
            <a:r>
              <a:rPr lang="en"/>
              <a:t>result</a:t>
            </a:r>
            <a:r>
              <a:rPr lang="en"/>
              <a:t> the more secure you’ll be.”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6831050" y="4427875"/>
            <a:ext cx="214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6350" y="4514375"/>
            <a:ext cx="414700" cy="3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Cybersecurity Important?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152475"/>
            <a:ext cx="8520600" cy="26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Cyber attacks are on the rise.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About 4,000 per 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Cybercrimes can cost organizations </a:t>
            </a:r>
            <a:r>
              <a:rPr lang="en"/>
              <a:t>millions</a:t>
            </a:r>
            <a:r>
              <a:rPr lang="en"/>
              <a:t> of dollars in damages.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damage the business reputation and </a:t>
            </a:r>
            <a:r>
              <a:rPr lang="en"/>
              <a:t>endanger</a:t>
            </a:r>
            <a:r>
              <a:rPr lang="en"/>
              <a:t> physical safety and health of employees, patients, customers and others.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8062600" y="4485750"/>
            <a:ext cx="109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698150" y="4447900"/>
            <a:ext cx="23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9075" y="4485750"/>
            <a:ext cx="479065" cy="46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</a:t>
            </a:r>
            <a:r>
              <a:rPr lang="en"/>
              <a:t>cyber attacks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22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Computer viruses</a:t>
            </a:r>
            <a:r>
              <a:rPr lang="en"/>
              <a:t> - malicious code written to interfere with computer operations and cause damage to data and software.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Malware</a:t>
            </a:r>
            <a:r>
              <a:rPr lang="en"/>
              <a:t> - software designed to harm devices or networks.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Phishing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Ransomware</a:t>
            </a:r>
            <a:endParaRPr b="1"/>
          </a:p>
        </p:txBody>
      </p:sp>
      <p:sp>
        <p:nvSpPr>
          <p:cNvPr id="88" name="Google Shape;88;p16"/>
          <p:cNvSpPr txBox="1"/>
          <p:nvPr/>
        </p:nvSpPr>
        <p:spPr>
          <a:xfrm>
            <a:off x="6756050" y="4443700"/>
            <a:ext cx="2134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4221" y="4487639"/>
            <a:ext cx="411826" cy="396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Ransomware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253825" y="1086300"/>
            <a:ext cx="8520600" cy="29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malicious attack where threat actors  encrypt an organization’s data and demand payment to restore access.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Once deployed, can freese network systems, leave devices unusable, and encrypt, or lock confidential data, making devices inaccessible.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6995850" y="4436150"/>
            <a:ext cx="18771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0185" y="4436150"/>
            <a:ext cx="394684" cy="3803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6904875" y="4392650"/>
            <a:ext cx="22245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8520600" cy="30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of digital communication to trick people into revealing sensitive data or deploying malicious software.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Mainly used to describe attacks that arrive by email.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PLEASE do not </a:t>
            </a:r>
            <a:r>
              <a:rPr lang="en"/>
              <a:t>download</a:t>
            </a:r>
            <a:r>
              <a:rPr lang="en"/>
              <a:t> </a:t>
            </a:r>
            <a:r>
              <a:rPr lang="en"/>
              <a:t>random</a:t>
            </a:r>
            <a:r>
              <a:rPr lang="en"/>
              <a:t> things from emails.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Ways to Prevent Phishing: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Anti-phishing policies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Employee training resources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Email filters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Intrusion prevention systems</a:t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6772575" y="4494750"/>
            <a:ext cx="22062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300" y="4494688"/>
            <a:ext cx="461744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/>
          <p:nvPr/>
        </p:nvSpPr>
        <p:spPr>
          <a:xfrm rot="-1629899">
            <a:off x="14196445" y="287538"/>
            <a:ext cx="4055590" cy="4288270"/>
          </a:xfrm>
          <a:custGeom>
            <a:rect b="b" l="l" r="r" t="t"/>
            <a:pathLst>
              <a:path extrusionOk="0" h="7717145" w="9495369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Types of Phishing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520600" cy="28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Smishing 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use of text messages to obtain sensitive information or to impersonate a known source.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Vishing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exploitation of electronic voice communication to obtain sensitive information or impersonate a known source.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Scam callers</a:t>
            </a:r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8100" y="4387588"/>
            <a:ext cx="501575" cy="48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6739500" y="4352238"/>
            <a:ext cx="215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Smishing Example:</a:t>
            </a:r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9293" y="0"/>
            <a:ext cx="306541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1524" y="4403425"/>
            <a:ext cx="445801" cy="4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6813925" y="4329025"/>
            <a:ext cx="2199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Important Legally Protected Information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61325" y="10490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PII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Personally Identifiable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Any information used to infer an individual’s identity.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PHI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Protected Health Information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SPII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Sensitive PII, falls under stricter handling guidelines.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Like bank account information.</a:t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420" y="4465425"/>
            <a:ext cx="461746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5986975" y="4457088"/>
            <a:ext cx="210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NIST CSF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National Institute of Standards and Technology: Cybersecurity Framework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Voluntary framework that consists of standards, guidelines, and best practices to manage </a:t>
            </a:r>
            <a:r>
              <a:rPr lang="en"/>
              <a:t>cybersecurity</a:t>
            </a:r>
            <a:r>
              <a:rPr lang="en"/>
              <a:t> risks.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Lower risk</a:t>
            </a:r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2491" y="4473575"/>
            <a:ext cx="461746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6425250" y="4419050"/>
            <a:ext cx="240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Frameworks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Guidelines used for building plans to help mitigate risks and threats to data and privacy.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structured approach to implementing a security lifecycle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Purpose is to protect </a:t>
            </a:r>
            <a:r>
              <a:rPr b="1" lang="en"/>
              <a:t>Personally Identifiable Info</a:t>
            </a:r>
            <a:r>
              <a:rPr lang="en"/>
              <a:t> (PII), securing financial info, identifying security weaknesses managing organizational risks, and aligning security with business goals.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GDPR</a:t>
            </a:r>
            <a:r>
              <a:rPr lang="en"/>
              <a:t> - General data protection regulation -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Data protection </a:t>
            </a:r>
            <a:r>
              <a:rPr lang="en"/>
              <a:t>law</a:t>
            </a:r>
            <a:r>
              <a:rPr lang="en"/>
              <a:t> established to grant european citizens more control over data.</a:t>
            </a: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390" y="4515025"/>
            <a:ext cx="424349" cy="40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/>
        </p:nvSpPr>
        <p:spPr>
          <a:xfrm>
            <a:off x="6466625" y="4488675"/>
            <a:ext cx="225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components of Frameworks</a:t>
            </a:r>
            <a:endParaRPr/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Identifying</a:t>
            </a:r>
            <a:r>
              <a:rPr lang="en"/>
              <a:t> and documenting security goals.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Setting guidelines to achieve </a:t>
            </a:r>
            <a:r>
              <a:rPr lang="en"/>
              <a:t>security</a:t>
            </a:r>
            <a:r>
              <a:rPr lang="en"/>
              <a:t> goals.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Implementing strong security processes.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Monitoring and communicating results.</a:t>
            </a:r>
            <a:endParaRPr/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2198" y="4552988"/>
            <a:ext cx="461733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 txBox="1"/>
          <p:nvPr/>
        </p:nvSpPr>
        <p:spPr>
          <a:xfrm>
            <a:off x="6383925" y="4498438"/>
            <a:ext cx="2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CIA triad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36132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Common guiding model in information security.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Information security protects valuable information from getting any unauthorized access, modification, and distribution of data/information.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Confidentiality</a:t>
            </a:r>
            <a:r>
              <a:rPr lang="en"/>
              <a:t> - only authorized users can access specific assets or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Integrity</a:t>
            </a:r>
            <a:r>
              <a:rPr lang="en"/>
              <a:t> - data is correct,  authentic, reliable.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Availability</a:t>
            </a:r>
            <a:r>
              <a:rPr lang="en"/>
              <a:t> - data is accessible to those who are authorized to access it.</a:t>
            </a:r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898" y="4557362"/>
            <a:ext cx="422100" cy="4068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6855275" y="4703625"/>
            <a:ext cx="24900" cy="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6408725" y="4483725"/>
            <a:ext cx="227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Risks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Anything that can affect the CIA triad of an asset (CIA triad)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Likelihood of a threat occuring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 potential attack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Organizations rate risks at different levels: Low, Medium, High.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Both vulnerability and threat must be present for there to be a risk.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Common strategies used to manage risks: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Acceptance - to avoid disrupting business continuity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Avoidance - creating a plan to avoid the risk altogether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Transference - transferring risk to a third party to manage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Mitigation - lessening the impact of a known risk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225" y="4387575"/>
            <a:ext cx="510150" cy="4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 txBox="1"/>
          <p:nvPr/>
        </p:nvSpPr>
        <p:spPr>
          <a:xfrm>
            <a:off x="6160650" y="4356375"/>
            <a:ext cx="234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237275" y="403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Threats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Any </a:t>
            </a:r>
            <a:r>
              <a:rPr lang="en"/>
              <a:t>circumstance or event that can negatively impact assets.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potential harm that could result from exploiting a vulnerability.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Insider Threats - </a:t>
            </a:r>
            <a:r>
              <a:rPr lang="en"/>
              <a:t>staff members or vendors abuse their authorized access to obtain data that may harm an organization.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Advanced Persistent Threats</a:t>
            </a:r>
            <a:r>
              <a:rPr lang="en"/>
              <a:t> - threat actor maintains unauthorized access to a system for an extended period of time.</a:t>
            </a:r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965" y="4486888"/>
            <a:ext cx="461746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 txBox="1"/>
          <p:nvPr/>
        </p:nvSpPr>
        <p:spPr>
          <a:xfrm>
            <a:off x="6218525" y="4877375"/>
            <a:ext cx="24900" cy="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5896050" y="4432350"/>
            <a:ext cx="290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Vulnerabilities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311700" y="113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weakness that can be exploited by a threat.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 of </a:t>
            </a:r>
            <a:r>
              <a:rPr lang="en"/>
              <a:t>Vulnerabilities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Outdated firewall, software, or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Weak passwords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Unprotected confidential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People in some cases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there is a vulnerability, it WILL be exploited.</a:t>
            </a:r>
            <a:endParaRPr/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8841" y="4486838"/>
            <a:ext cx="511026" cy="4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/>
          <p:nvPr/>
        </p:nvSpPr>
        <p:spPr>
          <a:xfrm>
            <a:off x="6259875" y="4456038"/>
            <a:ext cx="216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 Assessment Process</a:t>
            </a:r>
            <a:endParaRPr/>
          </a:p>
        </p:txBody>
      </p:sp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Internal</a:t>
            </a:r>
            <a:r>
              <a:rPr lang="en"/>
              <a:t> review process of an </a:t>
            </a:r>
            <a:r>
              <a:rPr lang="en"/>
              <a:t>organization's</a:t>
            </a:r>
            <a:r>
              <a:rPr lang="en"/>
              <a:t> security systems.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Weakness and flaws </a:t>
            </a:r>
            <a:r>
              <a:rPr lang="en"/>
              <a:t>found</a:t>
            </a:r>
            <a:r>
              <a:rPr lang="en"/>
              <a:t> 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Identification</a:t>
            </a:r>
            <a:r>
              <a:rPr lang="en"/>
              <a:t> - scanning tools/manual testing used to find </a:t>
            </a:r>
            <a:r>
              <a:rPr lang="en"/>
              <a:t>vulnerabilities.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Vulnerability Analysis</a:t>
            </a:r>
            <a:r>
              <a:rPr lang="en"/>
              <a:t> - each vulnerability identified and tested, Find source of problem.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Risk Management</a:t>
            </a:r>
            <a:r>
              <a:rPr lang="en"/>
              <a:t> - score based on severity assigned to each vulnerability.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Remediation</a:t>
            </a:r>
            <a:r>
              <a:rPr lang="en"/>
              <a:t> - fix the vulnerability.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141" y="4495075"/>
            <a:ext cx="510176" cy="4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 txBox="1"/>
          <p:nvPr/>
        </p:nvSpPr>
        <p:spPr>
          <a:xfrm>
            <a:off x="6334325" y="4463875"/>
            <a:ext cx="243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Impacts of Threats, Risks, </a:t>
            </a:r>
            <a:r>
              <a:rPr lang="en"/>
              <a:t>Vulnerabilities</a:t>
            </a:r>
            <a:endParaRPr/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Financial Impact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Interrupted production and services, the cost to correct the issue, fines if assets are compromised </a:t>
            </a:r>
            <a:r>
              <a:rPr lang="en"/>
              <a:t>because</a:t>
            </a:r>
            <a:r>
              <a:rPr lang="en"/>
              <a:t> of non-compliance with laws and regulations.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Identity Theft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PII can be leaked and sold on the dark web.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Damage to Reputation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Exploited </a:t>
            </a:r>
            <a:r>
              <a:rPr lang="en"/>
              <a:t>vulnerability</a:t>
            </a:r>
            <a:r>
              <a:rPr lang="en"/>
              <a:t> can lead customers to seek new business relationships with customers.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5645" y="4448825"/>
            <a:ext cx="461739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 txBox="1"/>
          <p:nvPr/>
        </p:nvSpPr>
        <p:spPr>
          <a:xfrm>
            <a:off x="6326025" y="4448813"/>
            <a:ext cx="246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Functions of the NIST CSF </a:t>
            </a:r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311700" y="1102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Identify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Protect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Detect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Respond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Recover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4416" y="4362775"/>
            <a:ext cx="510692" cy="492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1"/>
          <p:cNvSpPr txBox="1"/>
          <p:nvPr/>
        </p:nvSpPr>
        <p:spPr>
          <a:xfrm>
            <a:off x="6185100" y="4331825"/>
            <a:ext cx="254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ING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</a:t>
            </a:r>
            <a:endParaRPr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311700" y="114691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management of cybersecurity risk and its effect on an organization’s people and assets.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Identifying an organization’s critical functions and what cybersecurity risks could impede on those functions.</a:t>
            </a:r>
            <a:endParaRPr/>
          </a:p>
        </p:txBody>
      </p:sp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3665" y="4495088"/>
            <a:ext cx="461746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2"/>
          <p:cNvSpPr txBox="1"/>
          <p:nvPr/>
        </p:nvSpPr>
        <p:spPr>
          <a:xfrm>
            <a:off x="7136425" y="4692500"/>
            <a:ext cx="41400" cy="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6632000" y="4440538"/>
            <a:ext cx="215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Protect</a:t>
            </a:r>
            <a:endParaRPr/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strategy used to protect an organization through the </a:t>
            </a:r>
            <a:r>
              <a:rPr lang="en"/>
              <a:t>implementation</a:t>
            </a:r>
            <a:r>
              <a:rPr lang="en"/>
              <a:t> of policies, training, and tools that help mitigate potential security issues.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Included steps: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Limiting access to compromised assets, educate the organization’s personnel, manage the company’s information according to a defined risk strategy, use security procedures to protect the organization’s systems and data, perform necessary maintenance and repairs, and make use of protective technology solutions.</a:t>
            </a:r>
            <a:endParaRPr/>
          </a:p>
        </p:txBody>
      </p:sp>
      <p:pic>
        <p:nvPicPr>
          <p:cNvPr id="229" name="Google Shape;22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3065" y="4503363"/>
            <a:ext cx="461746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/>
          <p:nvPr/>
        </p:nvSpPr>
        <p:spPr>
          <a:xfrm>
            <a:off x="6483150" y="4448813"/>
            <a:ext cx="210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</a:t>
            </a:r>
            <a:endParaRPr/>
          </a:p>
        </p:txBody>
      </p:sp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Identifying potential </a:t>
            </a:r>
            <a:r>
              <a:rPr lang="en"/>
              <a:t>security</a:t>
            </a:r>
            <a:r>
              <a:rPr lang="en"/>
              <a:t> incidents and improving monitoring capabilities to increase the speed and efficiency of detection.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Aims to assess whether a company’s systems are compromised so that action can be taken if needed.</a:t>
            </a:r>
            <a:endParaRPr/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0191" y="4453763"/>
            <a:ext cx="501575" cy="48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/>
          <p:nvPr/>
        </p:nvSpPr>
        <p:spPr>
          <a:xfrm>
            <a:off x="6441775" y="4418413"/>
            <a:ext cx="210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Respond</a:t>
            </a:r>
            <a:endParaRPr/>
          </a:p>
        </p:txBody>
      </p:sp>
      <p:sp>
        <p:nvSpPr>
          <p:cNvPr id="244" name="Google Shape;244;p35"/>
          <p:cNvSpPr txBox="1"/>
          <p:nvPr>
            <p:ph idx="1" type="body"/>
          </p:nvPr>
        </p:nvSpPr>
        <p:spPr>
          <a:xfrm>
            <a:off x="311700" y="1111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Making sure proper procedures are used to contain, neutralize, and analyze </a:t>
            </a:r>
            <a:r>
              <a:rPr lang="en"/>
              <a:t>security</a:t>
            </a:r>
            <a:r>
              <a:rPr lang="en"/>
              <a:t> incidents, and implement improvements to the security process.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Aims to minimize damage by promoting a rapid response.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Outlines the actions that the team can/should perform depending on the cybersecurity </a:t>
            </a:r>
            <a:r>
              <a:rPr lang="en"/>
              <a:t>breach</a:t>
            </a:r>
            <a:r>
              <a:rPr lang="en"/>
              <a:t> severity and and type.</a:t>
            </a:r>
            <a:endParaRPr/>
          </a:p>
        </p:txBody>
      </p:sp>
      <p:pic>
        <p:nvPicPr>
          <p:cNvPr id="245" name="Google Shape;24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3720" y="4495088"/>
            <a:ext cx="501575" cy="48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5"/>
          <p:cNvSpPr txBox="1"/>
          <p:nvPr/>
        </p:nvSpPr>
        <p:spPr>
          <a:xfrm>
            <a:off x="6525300" y="4459738"/>
            <a:ext cx="230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27035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Recover</a:t>
            </a:r>
            <a:endParaRPr/>
          </a:p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369575" y="1086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Process of returning the affected systems back to normal operation.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Aims to get back any data that might have been </a:t>
            </a:r>
            <a:r>
              <a:rPr lang="en"/>
              <a:t>lost.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Deals with restoring services to critical systems that may have been damaged because of the incursion.</a:t>
            </a:r>
            <a:endParaRPr/>
          </a:p>
        </p:txBody>
      </p:sp>
      <p:pic>
        <p:nvPicPr>
          <p:cNvPr id="253" name="Google Shape;25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525" y="4462013"/>
            <a:ext cx="461752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6"/>
          <p:cNvSpPr txBox="1"/>
          <p:nvPr/>
        </p:nvSpPr>
        <p:spPr>
          <a:xfrm>
            <a:off x="6474900" y="4407463"/>
            <a:ext cx="215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Incidents</a:t>
            </a:r>
            <a:endParaRPr/>
          </a:p>
        </p:txBody>
      </p:sp>
      <p:sp>
        <p:nvSpPr>
          <p:cNvPr id="260" name="Google Shape;260;p37"/>
          <p:cNvSpPr txBox="1"/>
          <p:nvPr>
            <p:ph idx="1" type="body"/>
          </p:nvPr>
        </p:nvSpPr>
        <p:spPr>
          <a:xfrm>
            <a:off x="311700" y="1102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occurrence that actually or imminently </a:t>
            </a:r>
            <a:r>
              <a:rPr lang="en"/>
              <a:t>jeopardizes</a:t>
            </a:r>
            <a:r>
              <a:rPr lang="en"/>
              <a:t>, without lawful authority, the confidentiality, integrity, or availability of information; or constitutes a </a:t>
            </a:r>
            <a:r>
              <a:rPr lang="en"/>
              <a:t>violation</a:t>
            </a:r>
            <a:r>
              <a:rPr lang="en"/>
              <a:t> of laws, security policies, security procedures, or acceptable use policies.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NIST Incident Response Lifecycle: </a:t>
            </a:r>
            <a:r>
              <a:rPr lang="en"/>
              <a:t>(another framework)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Preparation | Detection and Analysis | containment | Eradication and Recovery | Post-incident Activity |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9491" y="4503363"/>
            <a:ext cx="461746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7"/>
          <p:cNvSpPr txBox="1"/>
          <p:nvPr/>
        </p:nvSpPr>
        <p:spPr>
          <a:xfrm>
            <a:off x="6301225" y="4448813"/>
            <a:ext cx="236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W’s of an Incident</a:t>
            </a:r>
            <a:endParaRPr/>
          </a:p>
        </p:txBody>
      </p:sp>
      <p:sp>
        <p:nvSpPr>
          <p:cNvPr id="268" name="Google Shape;268;p38"/>
          <p:cNvSpPr txBox="1"/>
          <p:nvPr>
            <p:ph idx="1" type="body"/>
          </p:nvPr>
        </p:nvSpPr>
        <p:spPr>
          <a:xfrm>
            <a:off x="311700" y="116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 to yourself: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Who triggered the incident?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happened?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When did the incident take place?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Where did the incident take place?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Why did the incident occur?</a:t>
            </a:r>
            <a:endParaRPr/>
          </a:p>
        </p:txBody>
      </p:sp>
      <p:pic>
        <p:nvPicPr>
          <p:cNvPr id="269" name="Google Shape;26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9899" y="4478563"/>
            <a:ext cx="461729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8"/>
          <p:cNvSpPr txBox="1"/>
          <p:nvPr/>
        </p:nvSpPr>
        <p:spPr>
          <a:xfrm>
            <a:off x="6251625" y="4424013"/>
            <a:ext cx="239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Incident Response Plans</a:t>
            </a:r>
            <a:endParaRPr/>
          </a:p>
        </p:txBody>
      </p:sp>
      <p:sp>
        <p:nvSpPr>
          <p:cNvPr id="276" name="Google Shape;276;p39"/>
          <p:cNvSpPr txBox="1"/>
          <p:nvPr>
            <p:ph idx="1" type="body"/>
          </p:nvPr>
        </p:nvSpPr>
        <p:spPr>
          <a:xfrm>
            <a:off x="311700" y="1111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predefined set of instructions to take in response to a cybersecurity incident.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Elements of an Incident plan: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Incident response procedures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System information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Network diagrams, data flow diagrams, logging, asset inventory </a:t>
            </a:r>
            <a:r>
              <a:rPr lang="en"/>
              <a:t>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Other documents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Contact lists, forms, templates</a:t>
            </a:r>
            <a:endParaRPr/>
          </a:p>
        </p:txBody>
      </p:sp>
      <p:pic>
        <p:nvPicPr>
          <p:cNvPr id="277" name="Google Shape;27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8266" y="4462000"/>
            <a:ext cx="519301" cy="50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9"/>
          <p:cNvSpPr txBox="1"/>
          <p:nvPr/>
        </p:nvSpPr>
        <p:spPr>
          <a:xfrm>
            <a:off x="6127575" y="4435200"/>
            <a:ext cx="2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SIEM Tools</a:t>
            </a:r>
            <a:endParaRPr/>
          </a:p>
        </p:txBody>
      </p:sp>
      <p:sp>
        <p:nvSpPr>
          <p:cNvPr id="284" name="Google Shape;284;p40"/>
          <p:cNvSpPr txBox="1"/>
          <p:nvPr>
            <p:ph idx="1" type="body"/>
          </p:nvPr>
        </p:nvSpPr>
        <p:spPr>
          <a:xfrm>
            <a:off x="386125" y="1040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Security Information and Event Management Tools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application that collects and analyzes log data to monitor critical activities in an organization.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Collect real-time information, and allow security analysts to identify potential breaches as they happen.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Reduce the amount of data analysts must review by providing alerts for specific types of risks and threats.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the user to take preventative actions against cyber attacks.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940" y="4511675"/>
            <a:ext cx="461746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0"/>
          <p:cNvSpPr txBox="1"/>
          <p:nvPr/>
        </p:nvSpPr>
        <p:spPr>
          <a:xfrm>
            <a:off x="6375675" y="4457150"/>
            <a:ext cx="233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SIEM Process</a:t>
            </a:r>
            <a:endParaRPr/>
          </a:p>
        </p:txBody>
      </p:sp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311700" y="1102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Collect and aggregate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Normalize data - transform raw data to create consistent log records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Analyze data</a:t>
            </a:r>
            <a:endParaRPr/>
          </a:p>
        </p:txBody>
      </p:sp>
      <p:pic>
        <p:nvPicPr>
          <p:cNvPr id="293" name="Google Shape;29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190" y="4462013"/>
            <a:ext cx="461746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1"/>
          <p:cNvSpPr txBox="1"/>
          <p:nvPr/>
        </p:nvSpPr>
        <p:spPr>
          <a:xfrm>
            <a:off x="6120000" y="4407463"/>
            <a:ext cx="271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IDS Systems</a:t>
            </a:r>
            <a:endParaRPr/>
          </a:p>
        </p:txBody>
      </p:sp>
      <p:sp>
        <p:nvSpPr>
          <p:cNvPr id="300" name="Google Shape;300;p42"/>
          <p:cNvSpPr txBox="1"/>
          <p:nvPr>
            <p:ph idx="1" type="body"/>
          </p:nvPr>
        </p:nvSpPr>
        <p:spPr>
          <a:xfrm>
            <a:off x="311700" y="1127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Intrusion</a:t>
            </a:r>
            <a:r>
              <a:rPr b="1" lang="en"/>
              <a:t> Detection Systems: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Application that monitors system and network activity and produces alerts on </a:t>
            </a:r>
            <a:r>
              <a:rPr lang="en"/>
              <a:t>possible</a:t>
            </a:r>
            <a:r>
              <a:rPr lang="en"/>
              <a:t> </a:t>
            </a:r>
            <a:r>
              <a:rPr lang="en"/>
              <a:t>intrusions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Only designed to detect and provide alerts on potential incidents.</a:t>
            </a:r>
            <a:endParaRPr/>
          </a:p>
        </p:txBody>
      </p:sp>
      <p:pic>
        <p:nvPicPr>
          <p:cNvPr id="301" name="Google Shape;30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666" y="4379313"/>
            <a:ext cx="527300" cy="5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2"/>
          <p:cNvSpPr txBox="1"/>
          <p:nvPr/>
        </p:nvSpPr>
        <p:spPr>
          <a:xfrm>
            <a:off x="6259875" y="4356363"/>
            <a:ext cx="228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IPS</a:t>
            </a:r>
            <a:endParaRPr/>
          </a:p>
        </p:txBody>
      </p:sp>
      <p:sp>
        <p:nvSpPr>
          <p:cNvPr id="308" name="Google Shape;308;p43"/>
          <p:cNvSpPr txBox="1"/>
          <p:nvPr>
            <p:ph idx="1" type="body"/>
          </p:nvPr>
        </p:nvSpPr>
        <p:spPr>
          <a:xfrm>
            <a:off x="3944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Intrusion Prevention System: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application that monitors system activity for </a:t>
            </a:r>
            <a:r>
              <a:rPr lang="en"/>
              <a:t>intrusions</a:t>
            </a:r>
            <a:r>
              <a:rPr lang="en"/>
              <a:t> and take action to stop the activity.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Takes action itself to block the attempted intrusion or </a:t>
            </a:r>
            <a:r>
              <a:rPr lang="en"/>
              <a:t>otherwise</a:t>
            </a:r>
            <a:r>
              <a:rPr lang="en"/>
              <a:t> remediate the incident.</a:t>
            </a:r>
            <a:endParaRPr/>
          </a:p>
        </p:txBody>
      </p:sp>
      <p:pic>
        <p:nvPicPr>
          <p:cNvPr id="309" name="Google Shape;30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0" y="4536438"/>
            <a:ext cx="461746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3"/>
          <p:cNvSpPr txBox="1"/>
          <p:nvPr/>
        </p:nvSpPr>
        <p:spPr>
          <a:xfrm>
            <a:off x="6557575" y="4481888"/>
            <a:ext cx="215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EDR</a:t>
            </a:r>
            <a:endParaRPr/>
          </a:p>
        </p:txBody>
      </p:sp>
      <p:sp>
        <p:nvSpPr>
          <p:cNvPr id="316" name="Google Shape;316;p44"/>
          <p:cNvSpPr txBox="1"/>
          <p:nvPr>
            <p:ph idx="1" type="body"/>
          </p:nvPr>
        </p:nvSpPr>
        <p:spPr>
          <a:xfrm>
            <a:off x="311700" y="1144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Endpoint Detection and Response: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application that monitors an endpoint for malicious activity.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Endpoint - any device connected to a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Monitor, record, and analyze endpoint system activity to identify, alert, and respond to suspicious activity.</a:t>
            </a:r>
            <a:endParaRPr/>
          </a:p>
        </p:txBody>
      </p:sp>
      <p:pic>
        <p:nvPicPr>
          <p:cNvPr id="317" name="Google Shape;31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5841" y="4407525"/>
            <a:ext cx="510176" cy="4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4"/>
          <p:cNvSpPr txBox="1"/>
          <p:nvPr/>
        </p:nvSpPr>
        <p:spPr>
          <a:xfrm>
            <a:off x="6326025" y="4353450"/>
            <a:ext cx="21996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SOAR</a:t>
            </a:r>
            <a:endParaRPr/>
          </a:p>
        </p:txBody>
      </p:sp>
      <p:sp>
        <p:nvSpPr>
          <p:cNvPr id="324" name="Google Shape;324;p45"/>
          <p:cNvSpPr txBox="1"/>
          <p:nvPr>
            <p:ph idx="1" type="body"/>
          </p:nvPr>
        </p:nvSpPr>
        <p:spPr>
          <a:xfrm>
            <a:off x="311700" y="1127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Security Orchestration, Automation, and Response: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collection of applications, tools, and workflows that uses automation to respond to security events.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Automates analysis and response to events and incidents.</a:t>
            </a:r>
            <a:endParaRPr/>
          </a:p>
        </p:txBody>
      </p:sp>
      <p:pic>
        <p:nvPicPr>
          <p:cNvPr id="325" name="Google Shape;32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1915" y="4465425"/>
            <a:ext cx="461746" cy="4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5"/>
          <p:cNvSpPr txBox="1"/>
          <p:nvPr/>
        </p:nvSpPr>
        <p:spPr>
          <a:xfrm>
            <a:off x="6317750" y="4457088"/>
            <a:ext cx="224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 Videos</a:t>
            </a:r>
            <a:endParaRPr/>
          </a:p>
        </p:txBody>
      </p:sp>
      <p:sp>
        <p:nvSpPr>
          <p:cNvPr id="332" name="Google Shape;332;p46"/>
          <p:cNvSpPr txBox="1"/>
          <p:nvPr>
            <p:ph idx="1" type="body"/>
          </p:nvPr>
        </p:nvSpPr>
        <p:spPr>
          <a:xfrm>
            <a:off x="369600" y="1135925"/>
            <a:ext cx="8520600" cy="24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Importance of Control Tedx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Lock Your Digital Door Tedx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4141" y="4374450"/>
            <a:ext cx="594218" cy="57270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6"/>
          <p:cNvSpPr txBox="1"/>
          <p:nvPr/>
        </p:nvSpPr>
        <p:spPr>
          <a:xfrm>
            <a:off x="6028350" y="4324850"/>
            <a:ext cx="269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CONSULTARE INC GROUP</a:t>
            </a:r>
            <a:endParaRPr b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Compliance Company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