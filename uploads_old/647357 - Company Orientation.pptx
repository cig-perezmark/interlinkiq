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82" r:id="rId4"/>
    <p:sldId id="283" r:id="rId5"/>
    <p:sldId id="284" r:id="rId6"/>
    <p:sldId id="270" r:id="rId7"/>
    <p:sldId id="271" r:id="rId8"/>
    <p:sldId id="258" r:id="rId9"/>
    <p:sldId id="260" r:id="rId10"/>
    <p:sldId id="275" r:id="rId11"/>
    <p:sldId id="276" r:id="rId12"/>
    <p:sldId id="261" r:id="rId13"/>
    <p:sldId id="278" r:id="rId14"/>
    <p:sldId id="279" r:id="rId15"/>
    <p:sldId id="280" r:id="rId16"/>
    <p:sldId id="281" r:id="rId17"/>
    <p:sldId id="262" r:id="rId18"/>
    <p:sldId id="263" r:id="rId19"/>
    <p:sldId id="264" r:id="rId20"/>
    <p:sldId id="265" r:id="rId21"/>
    <p:sldId id="266" r:id="rId22"/>
    <p:sldId id="285" r:id="rId23"/>
    <p:sldId id="268" r:id="rId24"/>
    <p:sldId id="269" r:id="rId25"/>
    <p:sldId id="286" r:id="rId26"/>
    <p:sldId id="287" r:id="rId27"/>
    <p:sldId id="305" r:id="rId28"/>
    <p:sldId id="288" r:id="rId29"/>
    <p:sldId id="306" r:id="rId30"/>
    <p:sldId id="289" r:id="rId31"/>
    <p:sldId id="290" r:id="rId32"/>
    <p:sldId id="307" r:id="rId33"/>
    <p:sldId id="308" r:id="rId34"/>
    <p:sldId id="291" r:id="rId35"/>
    <p:sldId id="292" r:id="rId36"/>
    <p:sldId id="293" r:id="rId37"/>
    <p:sldId id="294" r:id="rId38"/>
    <p:sldId id="295" r:id="rId39"/>
    <p:sldId id="297" r:id="rId40"/>
    <p:sldId id="298" r:id="rId41"/>
    <p:sldId id="299" r:id="rId42"/>
    <p:sldId id="300" r:id="rId43"/>
    <p:sldId id="301" r:id="rId44"/>
    <p:sldId id="302" r:id="rId45"/>
    <p:sldId id="303" r:id="rId46"/>
    <p:sldId id="304" r:id="rId47"/>
    <p:sldId id="309" r:id="rId48"/>
    <p:sldId id="310" r:id="rId49"/>
  </p:sldIdLst>
  <p:sldSz cx="18288000" cy="10287000"/>
  <p:notesSz cx="6858000" cy="9144000"/>
  <p:embeddedFontLst>
    <p:embeddedFont>
      <p:font typeface="Calibri" pitchFamily="34" charset="0"/>
      <p:regular r:id="rId51"/>
      <p:bold r:id="rId52"/>
      <p:italic r:id="rId53"/>
      <p:boldItalic r:id="rId54"/>
    </p:embeddedFont>
    <p:embeddedFont>
      <p:font typeface="Roboto" charset="0"/>
      <p:regular r:id="rId55"/>
      <p:bold r:id="rId56"/>
      <p:italic r:id="rId57"/>
      <p:boldItalic r:id="rId58"/>
    </p:embeddedFont>
    <p:embeddedFont>
      <p:font typeface="Arial Narrow" pitchFamily="34" charset="0"/>
      <p:regular r:id="rId59"/>
      <p:bold r:id="rId60"/>
      <p:italic r:id="rId61"/>
      <p:boldItalic r:id="rId62"/>
    </p:embeddedFont>
    <p:embeddedFont>
      <p:font typeface="Montserrat" charset="0"/>
      <p:regular r:id="rId63"/>
      <p:bold r:id="rId64"/>
      <p:italic r:id="rId65"/>
      <p:boldItalic r:id="rId66"/>
    </p:embeddedFont>
    <p:embeddedFont>
      <p:font typeface="Merriweather"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j2JxBKMq6vhwlBs7QV+SoVLqEB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24" y="-68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68" Type="http://schemas.openxmlformats.org/officeDocument/2006/relationships/font" Target="fonts/font18.fntdata"/><Relationship Id="rId7" Type="http://schemas.openxmlformats.org/officeDocument/2006/relationships/slide" Target="slides/slide6.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61"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099716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62f03d38f3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262f03d38f3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Total</a:t>
            </a:r>
            <a:r>
              <a:rPr lang="en-US" baseline="0" dirty="0" smtClean="0"/>
              <a:t> Modules - 17</a:t>
            </a:r>
            <a:endParaRPr dirty="0"/>
          </a:p>
        </p:txBody>
      </p:sp>
      <p:sp>
        <p:nvSpPr>
          <p:cNvPr id="177" name="Google Shape;17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1.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1068703"/>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0" y="1281242"/>
            <a:ext cx="18973800"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
        <p:nvSpPr>
          <p:cNvPr id="91" name="Google Shape;91;p1"/>
          <p:cNvSpPr txBox="1"/>
          <p:nvPr/>
        </p:nvSpPr>
        <p:spPr>
          <a:xfrm>
            <a:off x="1463488" y="4670030"/>
            <a:ext cx="13868398" cy="3693319"/>
          </a:xfrm>
          <a:prstGeom prst="rect">
            <a:avLst/>
          </a:prstGeom>
          <a:noFill/>
          <a:ln>
            <a:noFill/>
          </a:ln>
        </p:spPr>
        <p:txBody>
          <a:bodyPr spcFirstLastPara="1" wrap="square" lIns="0" tIns="0" rIns="0" bIns="0" anchor="t" anchorCtr="0">
            <a:spAutoFit/>
          </a:bodyPr>
          <a:lstStyle/>
          <a:p>
            <a:pPr lvl="0"/>
            <a:r>
              <a:rPr lang="en-US" sz="4000" dirty="0">
                <a:solidFill>
                  <a:srgbClr val="2E2E2E"/>
                </a:solidFill>
                <a:latin typeface="Montserrat"/>
                <a:ea typeface="Montserrat"/>
                <a:cs typeface="Montserrat"/>
                <a:sym typeface="Montserrat"/>
              </a:rPr>
              <a:t>Texas-based with International Operations in Asia, Latin America, North America, Europe, and Africa</a:t>
            </a:r>
          </a:p>
          <a:p>
            <a:pPr marL="0" marR="0" lvl="0" indent="0" algn="l" rtl="0">
              <a:spcBef>
                <a:spcPts val="0"/>
              </a:spcBef>
              <a:spcAft>
                <a:spcPts val="0"/>
              </a:spcAft>
              <a:buNone/>
            </a:pPr>
            <a:endParaRPr lang="en-US" sz="4000" dirty="0">
              <a:solidFill>
                <a:srgbClr val="2E2E2E"/>
              </a:solidFill>
              <a:latin typeface="Montserrat"/>
              <a:ea typeface="Montserrat"/>
              <a:cs typeface="Montserrat"/>
              <a:sym typeface="Montserrat"/>
            </a:endParaRPr>
          </a:p>
          <a:p>
            <a:pPr marL="0" marR="0" lvl="0" indent="0" algn="l" rtl="0">
              <a:spcBef>
                <a:spcPts val="0"/>
              </a:spcBef>
              <a:spcAft>
                <a:spcPts val="0"/>
              </a:spcAft>
              <a:buNone/>
            </a:pPr>
            <a:r>
              <a:rPr lang="en-US" sz="4000" b="0" i="0" u="none" strike="noStrike" cap="none" dirty="0" smtClean="0">
                <a:solidFill>
                  <a:srgbClr val="2E2E2E"/>
                </a:solidFill>
                <a:latin typeface="Montserrat"/>
                <a:ea typeface="Montserrat"/>
                <a:cs typeface="Montserrat"/>
                <a:sym typeface="Montserrat"/>
              </a:rPr>
              <a:t>Specializes </a:t>
            </a:r>
            <a:r>
              <a:rPr lang="en-US" sz="4000" b="0" i="0" u="none" strike="noStrike" cap="none" dirty="0">
                <a:solidFill>
                  <a:srgbClr val="2E2E2E"/>
                </a:solidFill>
                <a:latin typeface="Montserrat"/>
                <a:ea typeface="Montserrat"/>
                <a:cs typeface="Montserrat"/>
                <a:sym typeface="Montserrat"/>
              </a:rPr>
              <a:t>in regulatory, accreditation, certification, quality management system software, and IT solution consultancy </a:t>
            </a:r>
            <a:endParaRPr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11" y="511456"/>
            <a:ext cx="16916825" cy="21544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CERTIFICATION, ACCREDITATION, AND REGULATORY SERVICES</a:t>
            </a:r>
            <a:endParaRPr lang="en-US" sz="7000" dirty="0">
              <a:latin typeface="Barlow"/>
            </a:endParaRPr>
          </a:p>
        </p:txBody>
      </p:sp>
      <p:sp>
        <p:nvSpPr>
          <p:cNvPr id="97" name="Google Shape;97;p2"/>
          <p:cNvSpPr txBox="1"/>
          <p:nvPr/>
        </p:nvSpPr>
        <p:spPr>
          <a:xfrm>
            <a:off x="602512" y="2830222"/>
            <a:ext cx="15565200" cy="6768969"/>
          </a:xfrm>
          <a:prstGeom prst="rect">
            <a:avLst/>
          </a:prstGeom>
          <a:noFill/>
          <a:ln>
            <a:noFill/>
          </a:ln>
        </p:spPr>
        <p:txBody>
          <a:bodyPr spcFirstLastPara="1" wrap="square" lIns="0" tIns="0" rIns="0" bIns="0" numCol="2" anchor="t" anchorCtr="0">
            <a:spAutoFit/>
          </a:bodyPr>
          <a:lstStyle/>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FDA, USDA, OSHA, FSMA, HACCP, GMPs, FSVP</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Halal, Organic, Kosher, Non-GMO, Gluten-free, Vegan</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GFSI - SQF, BRCGS, ISO (FSSC 22000), </a:t>
            </a:r>
            <a:r>
              <a:rPr lang="en-US" sz="2499" b="0" i="0" u="none" strike="noStrike" cap="none" dirty="0" err="1">
                <a:solidFill>
                  <a:srgbClr val="2E2E2E"/>
                </a:solidFill>
                <a:latin typeface="Montserrat"/>
                <a:ea typeface="Montserrat"/>
                <a:cs typeface="Montserrat"/>
                <a:sym typeface="Montserrat"/>
              </a:rPr>
              <a:t>PrimusGFS</a:t>
            </a:r>
            <a:r>
              <a:rPr lang="en-US" sz="2499" b="0" i="0" u="none" strike="noStrike" cap="none" dirty="0">
                <a:solidFill>
                  <a:srgbClr val="2E2E2E"/>
                </a:solidFill>
                <a:latin typeface="Montserrat"/>
                <a:ea typeface="Montserrat"/>
                <a:cs typeface="Montserrat"/>
                <a:sym typeface="Montserrat"/>
              </a:rPr>
              <a:t>, IFS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Big-box Retailers (Amazon, </a:t>
            </a:r>
            <a:r>
              <a:rPr lang="en-US" sz="2499" b="0" i="0" u="none" strike="noStrike" cap="none" dirty="0" err="1">
                <a:solidFill>
                  <a:srgbClr val="2E2E2E"/>
                </a:solidFill>
                <a:latin typeface="Montserrat"/>
                <a:ea typeface="Montserrat"/>
                <a:cs typeface="Montserrat"/>
                <a:sym typeface="Montserrat"/>
              </a:rPr>
              <a:t>Walmart</a:t>
            </a:r>
            <a:r>
              <a:rPr lang="en-US" sz="2499" b="0" i="0" u="none" strike="noStrike" cap="none" dirty="0">
                <a:solidFill>
                  <a:srgbClr val="2E2E2E"/>
                </a:solidFill>
                <a:latin typeface="Montserrat"/>
                <a:ea typeface="Montserrat"/>
                <a:cs typeface="Montserrat"/>
                <a:sym typeface="Montserrat"/>
              </a:rPr>
              <a:t>, Costco, etc.)</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USDA Grant Writing and Application Services </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Management System Development, Implementation, and Maintenance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Mitigation Plans (Crisis Management, Food Defense, Food Fraud)]</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HACCP/Food Safety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Withdrawal and Recall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Gap Analysis, Risk Assessments, and Internal Audits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Importing/Exporting Compliance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Product Marketing Compliance (Label, Packaging, and Web Content Regulatory Review)</a:t>
            </a:r>
            <a:endParaRPr dirty="0"/>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075" y="604167"/>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13" y="200350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Accounting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Accreditation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Advertising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Amazon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Auditing</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Back Office Support</a:t>
            </a:r>
          </a:p>
          <a:p>
            <a:pPr marL="457200" lvl="0" indent="-457200">
              <a:lnSpc>
                <a:spcPct val="90000"/>
              </a:lnSpc>
              <a:buFont typeface="Arial" pitchFamily="34" charset="0"/>
              <a:buChar char="•"/>
            </a:pPr>
            <a:r>
              <a:rPr lang="en-US" sz="2400" dirty="0">
                <a:latin typeface="Montserrat"/>
                <a:ea typeface="Montserrat"/>
                <a:cs typeface="Montserrat"/>
                <a:sym typeface="Montserrat"/>
              </a:rPr>
              <a:t>Bookkeeping</a:t>
            </a:r>
          </a:p>
          <a:p>
            <a:pPr marL="457200" lvl="0" indent="-457200">
              <a:lnSpc>
                <a:spcPct val="90000"/>
              </a:lnSpc>
              <a:buFont typeface="Arial" pitchFamily="34" charset="0"/>
              <a:buChar char="•"/>
            </a:pPr>
            <a:r>
              <a:rPr lang="en-US" sz="2400" dirty="0">
                <a:latin typeface="Montserrat"/>
                <a:ea typeface="Montserrat"/>
                <a:cs typeface="Montserrat"/>
                <a:sym typeface="Montserrat"/>
              </a:rPr>
              <a:t>BRCGS</a:t>
            </a:r>
          </a:p>
          <a:p>
            <a:pPr marL="457200" lvl="0" indent="-457200">
              <a:lnSpc>
                <a:spcPct val="90000"/>
              </a:lnSpc>
              <a:buFont typeface="Arial" pitchFamily="34" charset="0"/>
              <a:buChar char="•"/>
            </a:pPr>
            <a:r>
              <a:rPr lang="en-US" sz="2400" dirty="0">
                <a:latin typeface="Montserrat"/>
                <a:ea typeface="Montserrat"/>
                <a:cs typeface="Montserrat"/>
                <a:sym typeface="Montserrat"/>
              </a:rPr>
              <a:t>Business Plan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CAPA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Cultivation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Manufacturing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Retail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Certification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Collection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r>
              <a:rPr lang="en-US" sz="2400" dirty="0" smtClean="0">
                <a:latin typeface="Montserrat"/>
                <a:ea typeface="Montserrat"/>
                <a:cs typeface="Montserrat"/>
                <a:sym typeface="Montserrat"/>
              </a:rPr>
              <a:t>Complaint </a:t>
            </a:r>
            <a:r>
              <a:rPr lang="en-US" sz="2400" dirty="0">
                <a:latin typeface="Montserrat"/>
                <a:ea typeface="Montserrat"/>
                <a:cs typeface="Montserrat"/>
                <a:sym typeface="Montserrat"/>
              </a:rPr>
              <a:t>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Compliance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Contract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Cosmetic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Crisis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Requirements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Data Entry &amp; Analytics</a:t>
            </a:r>
          </a:p>
          <a:p>
            <a:pPr marL="457200" lvl="0" indent="-457200">
              <a:lnSpc>
                <a:spcPct val="90000"/>
              </a:lnSpc>
              <a:buFont typeface="Arial" pitchFamily="34" charset="0"/>
              <a:buChar char="•"/>
            </a:pPr>
            <a:r>
              <a:rPr lang="en-US" sz="2400" dirty="0">
                <a:latin typeface="Montserrat"/>
                <a:ea typeface="Montserrat"/>
                <a:cs typeface="Montserrat"/>
                <a:sym typeface="Montserrat"/>
              </a:rPr>
              <a:t>Deep Dive Remote Gap Audit (Certification, Regulatory,  Accreditation)</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Set-up (Amazon/</a:t>
            </a:r>
            <a:r>
              <a:rPr lang="en-US" sz="2400" dirty="0" err="1">
                <a:latin typeface="Montserrat"/>
                <a:ea typeface="Montserrat"/>
                <a:cs typeface="Montserrat"/>
                <a:sym typeface="Montserrat"/>
              </a:rPr>
              <a:t>Shopify</a:t>
            </a:r>
            <a:r>
              <a:rPr lang="en-US" sz="2400" dirty="0">
                <a:latin typeface="Montserrat"/>
                <a:ea typeface="Montserrat"/>
                <a:cs typeface="Montserrat"/>
                <a:sym typeface="Montserrat"/>
              </a:rPr>
              <a:t>/</a:t>
            </a:r>
            <a:r>
              <a:rPr lang="en-US" sz="2400" dirty="0" err="1">
                <a:latin typeface="Montserrat"/>
                <a:ea typeface="Montserrat"/>
                <a:cs typeface="Montserrat"/>
                <a:sym typeface="Montserrat"/>
              </a:rPr>
              <a:t>Wordpress</a:t>
            </a:r>
            <a:r>
              <a:rPr lang="en-US" sz="2400" dirty="0">
                <a:latin typeface="Montserrat"/>
                <a:ea typeface="Montserrat"/>
                <a:cs typeface="Montserrat"/>
                <a:sym typeface="Montserrat"/>
              </a:rPr>
              <a:t>)</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E-Forms Digitization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Feasibility Study</a:t>
            </a:r>
          </a:p>
          <a:p>
            <a:pPr marL="457200" lvl="0" indent="-457200">
              <a:lnSpc>
                <a:spcPct val="90000"/>
              </a:lnSpc>
              <a:buFont typeface="Arial" pitchFamily="34" charset="0"/>
              <a:buChar char="•"/>
            </a:pPr>
            <a:r>
              <a:rPr lang="en-US" sz="2400" dirty="0">
                <a:latin typeface="Montserrat"/>
                <a:ea typeface="Montserrat"/>
                <a:cs typeface="Montserrat"/>
                <a:sym typeface="Montserrat"/>
              </a:rPr>
              <a:t>Food Fraud Vulnerability Assessments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Foreign Supplier </a:t>
            </a:r>
            <a:r>
              <a:rPr lang="en-US" sz="2400" dirty="0" smtClean="0">
                <a:latin typeface="Montserrat"/>
                <a:ea typeface="Montserrat"/>
                <a:cs typeface="Montserrat"/>
                <a:sym typeface="Montserrat"/>
              </a:rPr>
              <a:t>Verification</a:t>
            </a: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78118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Consulting Overview</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Compliance Management </a:t>
            </a:r>
          </a:p>
          <a:p>
            <a:pPr marL="457200" lvl="0" indent="-457200">
              <a:lnSpc>
                <a:spcPct val="90000"/>
              </a:lnSpc>
              <a:buFont typeface="Arial" pitchFamily="34" charset="0"/>
              <a:buChar char="•"/>
            </a:pPr>
            <a:r>
              <a:rPr lang="en-US" sz="2400" dirty="0">
                <a:latin typeface="Montserrat"/>
                <a:ea typeface="Montserrat"/>
                <a:cs typeface="Montserrat"/>
                <a:sym typeface="Montserrat"/>
              </a:rPr>
              <a:t>FSVP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FSVPQI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FSQA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FSSC 22000</a:t>
            </a:r>
          </a:p>
          <a:p>
            <a:pPr marL="457200" lvl="0" indent="-457200">
              <a:lnSpc>
                <a:spcPct val="90000"/>
              </a:lnSpc>
              <a:buFont typeface="Arial" pitchFamily="34" charset="0"/>
              <a:buChar char="•"/>
            </a:pPr>
            <a:r>
              <a:rPr lang="en-US" sz="2400" dirty="0">
                <a:latin typeface="Montserrat"/>
                <a:ea typeface="Montserrat"/>
                <a:cs typeface="Montserrat"/>
                <a:sym typeface="Montserrat"/>
              </a:rPr>
              <a:t>FDA (USA) = FSMA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General Administration</a:t>
            </a:r>
          </a:p>
          <a:p>
            <a:pPr marL="457200" lvl="0" indent="-457200">
              <a:lnSpc>
                <a:spcPct val="90000"/>
              </a:lnSpc>
              <a:buFont typeface="Arial" pitchFamily="34" charset="0"/>
              <a:buChar char="•"/>
            </a:pPr>
            <a:r>
              <a:rPr lang="en-US" sz="2400" dirty="0">
                <a:latin typeface="Montserrat"/>
                <a:ea typeface="Montserrat"/>
                <a:cs typeface="Montserrat"/>
                <a:sym typeface="Montserrat"/>
              </a:rPr>
              <a:t>Grant Writing and Submission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Good Manufacturing Practices Consulting</a:t>
            </a:r>
          </a:p>
          <a:p>
            <a:pPr marL="457200" lvl="0" indent="-457200">
              <a:lnSpc>
                <a:spcPct val="90000"/>
              </a:lnSpc>
              <a:buFont typeface="Arial" pitchFamily="34" charset="0"/>
              <a:buChar char="•"/>
            </a:pPr>
            <a:r>
              <a:rPr lang="en-US" sz="2400" dirty="0">
                <a:latin typeface="Montserrat"/>
                <a:ea typeface="Montserrat"/>
                <a:cs typeface="Montserrat"/>
                <a:sym typeface="Montserrat"/>
              </a:rPr>
              <a:t>Graphic Designs</a:t>
            </a:r>
          </a:p>
          <a:p>
            <a:pPr marL="457200" lvl="0" indent="-457200">
              <a:lnSpc>
                <a:spcPct val="90000"/>
              </a:lnSpc>
              <a:buFont typeface="Arial" pitchFamily="34" charset="0"/>
              <a:buChar char="•"/>
            </a:pPr>
            <a:r>
              <a:rPr lang="en-US" sz="2400" dirty="0">
                <a:latin typeface="Montserrat"/>
                <a:ea typeface="Montserrat"/>
                <a:cs typeface="Montserrat"/>
                <a:sym typeface="Montserrat"/>
              </a:rPr>
              <a:t>HACCP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HR and Training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Import &amp; Export Compliance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Internal Audit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Inventory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ISO Standards</a:t>
            </a:r>
          </a:p>
          <a:p>
            <a:pPr marL="457200" lvl="0" indent="-457200">
              <a:lnSpc>
                <a:spcPct val="90000"/>
              </a:lnSpc>
              <a:buFont typeface="Arial" pitchFamily="34" charset="0"/>
              <a:buChar char="•"/>
            </a:pPr>
            <a:r>
              <a:rPr lang="en-US" sz="2400" dirty="0">
                <a:latin typeface="Montserrat"/>
                <a:ea typeface="Montserrat"/>
                <a:cs typeface="Montserrat"/>
                <a:sym typeface="Montserrat"/>
              </a:rPr>
              <a:t>IT Development &amp;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Material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On-Site Consultancy Services – Preventive and Process Controls, and Internal Audit</a:t>
            </a:r>
          </a:p>
          <a:p>
            <a:pPr marL="457200" lvl="0" indent="-457200">
              <a:lnSpc>
                <a:spcPct val="90000"/>
              </a:lnSpc>
              <a:buFont typeface="Arial" pitchFamily="34" charset="0"/>
              <a:buChar char="•"/>
            </a:pPr>
            <a:r>
              <a:rPr lang="en-US" sz="2400" dirty="0">
                <a:latin typeface="Montserrat"/>
                <a:ea typeface="Montserrat"/>
                <a:cs typeface="Montserrat"/>
                <a:sym typeface="Montserrat"/>
              </a:rPr>
              <a:t>OSHA Services</a:t>
            </a:r>
          </a:p>
          <a:p>
            <a:pPr marL="457200" lvl="0" indent="-457200">
              <a:lnSpc>
                <a:spcPct val="90000"/>
              </a:lnSpc>
              <a:buFont typeface="Arial" pitchFamily="34" charset="0"/>
              <a:buChar char="•"/>
            </a:pPr>
            <a:r>
              <a:rPr lang="en-US" sz="2400" dirty="0" err="1">
                <a:latin typeface="Montserrat"/>
                <a:ea typeface="Montserrat"/>
                <a:cs typeface="Montserrat"/>
                <a:sym typeface="Montserrat"/>
              </a:rPr>
              <a:t>CalOSHA</a:t>
            </a:r>
            <a:r>
              <a:rPr lang="en-US" sz="2400" dirty="0">
                <a:latin typeface="Montserrat"/>
                <a:ea typeface="Montserrat"/>
                <a:cs typeface="Montserrat"/>
                <a:sym typeface="Montserrat"/>
              </a:rPr>
              <a: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PCQI Consulting Services - Preventive Controls Qualified Individual</a:t>
            </a:r>
          </a:p>
          <a:p>
            <a:pPr marL="457200" lvl="0" indent="-457200">
              <a:lnSpc>
                <a:spcPct val="90000"/>
              </a:lnSpc>
              <a:buFont typeface="Arial" pitchFamily="34" charset="0"/>
              <a:buChar char="•"/>
            </a:pPr>
            <a:r>
              <a:rPr lang="en-US" sz="2400" dirty="0">
                <a:latin typeface="Montserrat"/>
                <a:ea typeface="Montserrat"/>
                <a:cs typeface="Montserrat"/>
                <a:sym typeface="Montserrat"/>
              </a:rPr>
              <a:t>Pharmaceutical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Preventive Maintenance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Project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Australia New Zealand Food Standards Code</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CFIA (Canada)</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Dietary Supplement - US</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10362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EU</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Animal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Assurance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Control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QMS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Recruiting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Compliance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Response Letter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Sanitation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SFCR (Canada)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Supplier Approval Programs</a:t>
            </a:r>
          </a:p>
          <a:p>
            <a:pPr marL="457200" lvl="0" indent="-457200">
              <a:lnSpc>
                <a:spcPct val="90000"/>
              </a:lnSpc>
              <a:buFont typeface="Arial" pitchFamily="34" charset="0"/>
              <a:buChar char="•"/>
            </a:pPr>
            <a:r>
              <a:rPr lang="en-US" sz="2400" dirty="0">
                <a:latin typeface="Montserrat"/>
                <a:ea typeface="Montserrat"/>
                <a:cs typeface="Montserrat"/>
                <a:sym typeface="Montserrat"/>
              </a:rPr>
              <a:t>SOPs and SSOPs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Supply Chain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SQF Food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Manufacture of Food Packaging Bundle Writing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SQF Storage and Distribution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Dietary Supplement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and Gap Assessment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System Algorithm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Technical SOP and Forms for Records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Traceability and Recall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QA/QC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Web Designer</a:t>
            </a:r>
          </a:p>
          <a:p>
            <a:pPr marL="457200" lvl="0" indent="-457200">
              <a:lnSpc>
                <a:spcPct val="90000"/>
              </a:lnSpc>
              <a:buFont typeface="Arial" pitchFamily="34" charset="0"/>
              <a:buChar char="•"/>
            </a:pPr>
            <a:r>
              <a:rPr lang="en-US" sz="2400" dirty="0">
                <a:latin typeface="Montserrat"/>
                <a:ea typeface="Montserrat"/>
                <a:cs typeface="Montserrat"/>
                <a:sym typeface="Montserrat"/>
              </a:rPr>
              <a:t>Website Content Review</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47248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1719761"/>
            <a:ext cx="14187000" cy="1077218"/>
          </a:xfrm>
          <a:prstGeom prst="rect">
            <a:avLst/>
          </a:prstGeom>
          <a:noFill/>
          <a:ln>
            <a:noFill/>
          </a:ln>
        </p:spPr>
        <p:txBody>
          <a:bodyPr spcFirstLastPara="1" wrap="square" lIns="0" tIns="0" rIns="0" bIns="0" anchor="t" anchorCtr="0">
            <a:spAutoFit/>
          </a:bodyPr>
          <a:lstStyle/>
          <a:p>
            <a:pPr lvl="0"/>
            <a:r>
              <a:rPr lang="en-US" sz="7000" b="1" dirty="0" err="1">
                <a:solidFill>
                  <a:srgbClr val="004AAD"/>
                </a:solidFill>
                <a:latin typeface="Barlow"/>
                <a:ea typeface="Montserrat"/>
                <a:cs typeface="Montserrat"/>
                <a:sym typeface="Montserrat"/>
              </a:rPr>
              <a:t>Consultare</a:t>
            </a:r>
            <a:r>
              <a:rPr lang="en-US" sz="7000" b="1" dirty="0">
                <a:solidFill>
                  <a:srgbClr val="004AAD"/>
                </a:solidFill>
                <a:latin typeface="Barlow"/>
                <a:ea typeface="Montserrat"/>
                <a:cs typeface="Montserrat"/>
                <a:sym typeface="Montserrat"/>
              </a:rPr>
              <a:t> </a:t>
            </a:r>
            <a:r>
              <a:rPr lang="en-US" sz="7000" b="1" dirty="0" err="1">
                <a:solidFill>
                  <a:srgbClr val="004AAD"/>
                </a:solidFill>
                <a:latin typeface="Barlow"/>
                <a:ea typeface="Montserrat"/>
                <a:cs typeface="Montserrat"/>
                <a:sym typeface="Montserrat"/>
              </a:rPr>
              <a:t>Inc</a:t>
            </a:r>
            <a:r>
              <a:rPr lang="en-US" sz="7000" b="1" dirty="0">
                <a:solidFill>
                  <a:srgbClr val="004AAD"/>
                </a:solidFill>
                <a:latin typeface="Barlow"/>
                <a:ea typeface="Montserrat"/>
                <a:cs typeface="Montserrat"/>
                <a:sym typeface="Montserrat"/>
              </a:rPr>
              <a:t> Group </a:t>
            </a:r>
            <a:endParaRPr sz="7000" dirty="0">
              <a:latin typeface="Barlow"/>
            </a:endParaRPr>
          </a:p>
        </p:txBody>
      </p:sp>
      <p:sp>
        <p:nvSpPr>
          <p:cNvPr id="97" name="Google Shape;97;p2"/>
          <p:cNvSpPr txBox="1"/>
          <p:nvPr/>
        </p:nvSpPr>
        <p:spPr>
          <a:xfrm>
            <a:off x="602525" y="3066533"/>
            <a:ext cx="16054210" cy="5539978"/>
          </a:xfrm>
          <a:prstGeom prst="rect">
            <a:avLst/>
          </a:prstGeom>
          <a:noFill/>
          <a:ln>
            <a:noFill/>
          </a:ln>
        </p:spPr>
        <p:txBody>
          <a:bodyPr spcFirstLastPara="1" wrap="square" lIns="0" tIns="0" rIns="0" bIns="0" anchor="t" anchorCtr="0">
            <a:spAutoFit/>
          </a:bodyPr>
          <a:lstStyle/>
          <a:p>
            <a:pPr lvl="0" algn="just">
              <a:lnSpc>
                <a:spcPct val="150000"/>
              </a:lnSpc>
              <a:buClr>
                <a:srgbClr val="2E2E2E"/>
              </a:buClr>
              <a:buSzPts val="2499"/>
            </a:pPr>
            <a:r>
              <a:rPr lang="en-US" sz="4800" dirty="0">
                <a:solidFill>
                  <a:srgbClr val="2E2E2E"/>
                </a:solidFill>
                <a:latin typeface="Montserrat"/>
                <a:ea typeface="Montserrat"/>
                <a:cs typeface="Montserrat"/>
                <a:sym typeface="Montserrat"/>
              </a:rPr>
              <a:t>The goal of Consultare </a:t>
            </a:r>
            <a:r>
              <a:rPr lang="en-US" sz="4800" dirty="0" err="1">
                <a:solidFill>
                  <a:srgbClr val="2E2E2E"/>
                </a:solidFill>
                <a:latin typeface="Montserrat"/>
                <a:ea typeface="Montserrat"/>
                <a:cs typeface="Montserrat"/>
                <a:sym typeface="Montserrat"/>
              </a:rPr>
              <a:t>Inc</a:t>
            </a:r>
            <a:r>
              <a:rPr lang="en-US" sz="4800" dirty="0">
                <a:solidFill>
                  <a:srgbClr val="2E2E2E"/>
                </a:solidFill>
                <a:latin typeface="Montserrat"/>
                <a:ea typeface="Montserrat"/>
                <a:cs typeface="Montserrat"/>
                <a:sym typeface="Montserrat"/>
              </a:rPr>
              <a:t> Group company orientation is to help new employees familiarize themselves with organization's culture, policies, procedures, and expectations</a:t>
            </a:r>
            <a:r>
              <a:rPr lang="en-US" sz="4800" dirty="0" smtClean="0">
                <a:solidFill>
                  <a:srgbClr val="2E2E2E"/>
                </a:solidFill>
                <a:latin typeface="Montserrat"/>
                <a:ea typeface="Montserrat"/>
                <a:cs typeface="Montserrat"/>
                <a:sym typeface="Montserrat"/>
              </a:rPr>
              <a:t>.</a:t>
            </a:r>
            <a:endParaRPr lang="en-US" sz="4800" dirty="0">
              <a:solidFill>
                <a:srgbClr val="2E2E2E"/>
              </a:solidFill>
              <a:latin typeface="Montserrat"/>
              <a:ea typeface="Montserrat"/>
              <a:cs typeface="Montserrat"/>
              <a:sym typeface="Montserrat"/>
            </a:endParaRPr>
          </a:p>
          <a:p>
            <a:pPr lvl="0">
              <a:lnSpc>
                <a:spcPct val="150000"/>
              </a:lnSpc>
              <a:buClr>
                <a:srgbClr val="2E2E2E"/>
              </a:buClr>
              <a:buSzPts val="2499"/>
            </a:pPr>
            <a:endParaRPr lang="en-US" sz="4800" dirty="0">
              <a:solidFill>
                <a:srgbClr val="2E2E2E"/>
              </a:solidFill>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99" name="Google Shape;99;p2"/>
          <p:cNvGrpSpPr/>
          <p:nvPr/>
        </p:nvGrpSpPr>
        <p:grpSpPr>
          <a:xfrm>
            <a:off x="14940479" y="8059674"/>
            <a:ext cx="3292800" cy="1658043"/>
            <a:chOff x="12192000" y="6376467"/>
            <a:chExt cx="3292800" cy="1658043"/>
          </a:xfrm>
        </p:grpSpPr>
        <p:pic>
          <p:nvPicPr>
            <p:cNvPr id="100"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101" name="Google Shape;101;p2"/>
            <p:cNvSpPr/>
            <p:nvPr/>
          </p:nvSpPr>
          <p:spPr>
            <a:xfrm>
              <a:off x="12192000" y="6376467"/>
              <a:ext cx="3292800" cy="1281600"/>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None/>
              </a:pPr>
              <a:r>
                <a:rPr lang="en-US" sz="1800" b="1" i="0" u="none" strike="noStrike" cap="none">
                  <a:solidFill>
                    <a:srgbClr val="004AAD"/>
                  </a:solidFill>
                  <a:latin typeface="Montserrat"/>
                  <a:ea typeface="Montserrat"/>
                  <a:cs typeface="Montserrat"/>
                  <a:sym typeface="Montserrat"/>
                </a:rPr>
                <a:t>CONSULTARE INC. GROUP </a:t>
              </a:r>
              <a:endParaRPr/>
            </a:p>
          </p:txBody>
        </p:sp>
        <p:sp>
          <p:nvSpPr>
            <p:cNvPr id="102" name="Google Shape;102;p2"/>
            <p:cNvSpPr txBox="1"/>
            <p:nvPr/>
          </p:nvSpPr>
          <p:spPr>
            <a:xfrm>
              <a:off x="12302971" y="6837923"/>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None/>
              </a:pPr>
              <a:r>
                <a:rPr lang="en-US" sz="1800" b="1" i="0" u="none" strike="noStrike" cap="none" dirty="0">
                  <a:solidFill>
                    <a:srgbClr val="00B0F0"/>
                  </a:solidFill>
                  <a:latin typeface="Montserrat"/>
                  <a:ea typeface="Montserrat"/>
                  <a:cs typeface="Montserrat"/>
                  <a:sym typeface="Montserrat"/>
                </a:rPr>
                <a:t>A Compliance Co.</a:t>
              </a:r>
              <a:endParaRPr dirty="0"/>
            </a:p>
          </p:txBody>
        </p:sp>
      </p:grpSp>
    </p:spTree>
    <p:extLst>
      <p:ext uri="{BB962C8B-B14F-4D97-AF65-F5344CB8AC3E}">
        <p14:creationId xmlns:p14="http://schemas.microsoft.com/office/powerpoint/2010/main" val="4213676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6" y="2870925"/>
            <a:ext cx="6274524" cy="2492990"/>
          </a:xfrm>
          <a:prstGeom prst="rect">
            <a:avLst/>
          </a:prstGeom>
          <a:noFill/>
          <a:ln>
            <a:noFill/>
          </a:ln>
        </p:spPr>
        <p:txBody>
          <a:bodyPr spcFirstLastPara="1" wrap="square" lIns="0" tIns="0" rIns="0" bIns="0" anchor="t" anchorCtr="0">
            <a:spAutoFit/>
          </a:bodyPr>
          <a:lstStyle/>
          <a:p>
            <a:pPr lvl="0" algn="ctr"/>
            <a:r>
              <a:rPr lang="en-US" sz="5400" b="1" dirty="0">
                <a:solidFill>
                  <a:srgbClr val="004AAD"/>
                </a:solidFill>
                <a:latin typeface="Montserrat"/>
                <a:ea typeface="Montserrat"/>
                <a:cs typeface="Montserrat"/>
                <a:sym typeface="Montserrat"/>
              </a:rPr>
              <a:t>WELCOME </a:t>
            </a:r>
            <a:endParaRPr lang="en-US" sz="5400" b="1" dirty="0" smtClean="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AND </a:t>
            </a:r>
            <a:endParaRPr lang="en-US" sz="5400" b="1" dirty="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INTRODUCTION</a:t>
            </a:r>
            <a:endParaRPr sz="5400" dirty="0"/>
          </a:p>
        </p:txBody>
      </p:sp>
      <p:sp>
        <p:nvSpPr>
          <p:cNvPr id="97" name="Google Shape;97;p2"/>
          <p:cNvSpPr txBox="1"/>
          <p:nvPr/>
        </p:nvSpPr>
        <p:spPr>
          <a:xfrm>
            <a:off x="6877050" y="706520"/>
            <a:ext cx="7534389" cy="8579272"/>
          </a:xfrm>
          <a:prstGeom prst="rect">
            <a:avLst/>
          </a:prstGeom>
          <a:noFill/>
          <a:ln>
            <a:noFill/>
          </a:ln>
        </p:spPr>
        <p:txBody>
          <a:bodyPr spcFirstLastPara="1" wrap="square" lIns="0" tIns="0" rIns="0" bIns="0" anchor="t" anchorCtr="0">
            <a:spAutoFit/>
          </a:bodyPr>
          <a:lstStyle/>
          <a:p>
            <a:pPr lvl="0" algn="just">
              <a:spcBef>
                <a:spcPts val="1500"/>
              </a:spcBef>
              <a:buSzPts val="523"/>
            </a:pPr>
            <a:r>
              <a:rPr lang="en-US" sz="2000" dirty="0">
                <a:solidFill>
                  <a:schemeClr val="dk1"/>
                </a:solidFill>
              </a:rPr>
              <a:t>On behalf of the entire </a:t>
            </a:r>
            <a:r>
              <a:rPr lang="en-US" sz="2000" dirty="0" err="1">
                <a:solidFill>
                  <a:schemeClr val="dk1"/>
                </a:solidFill>
              </a:rPr>
              <a:t>Consultare</a:t>
            </a:r>
            <a:r>
              <a:rPr lang="en-US" sz="2000" dirty="0">
                <a:solidFill>
                  <a:schemeClr val="dk1"/>
                </a:solidFill>
              </a:rPr>
              <a:t> team, I am delighted to extend a warm welcome to you as our newest member! We are thrilled to have you on board and look forward to the positive contributions we know you will make to our team.</a:t>
            </a:r>
          </a:p>
          <a:p>
            <a:pPr lvl="0" algn="just">
              <a:spcBef>
                <a:spcPts val="1500"/>
              </a:spcBef>
              <a:buSzPts val="523"/>
            </a:pPr>
            <a:r>
              <a:rPr lang="en-US" sz="2000" dirty="0">
                <a:solidFill>
                  <a:schemeClr val="dk1"/>
                </a:solidFill>
              </a:rPr>
              <a:t>Starting a new journey with a company is an exciting and significant moment, and we are here to support you every step of the way. At </a:t>
            </a:r>
            <a:r>
              <a:rPr lang="en-US" sz="2000" dirty="0" err="1">
                <a:solidFill>
                  <a:schemeClr val="dk1"/>
                </a:solidFill>
              </a:rPr>
              <a:t>Conultare</a:t>
            </a:r>
            <a:r>
              <a:rPr lang="en-US" sz="2000" dirty="0">
                <a:solidFill>
                  <a:schemeClr val="dk1"/>
                </a:solidFill>
              </a:rPr>
              <a:t> </a:t>
            </a:r>
            <a:r>
              <a:rPr lang="en-US" sz="2000" dirty="0" err="1">
                <a:solidFill>
                  <a:schemeClr val="dk1"/>
                </a:solidFill>
              </a:rPr>
              <a:t>Inc</a:t>
            </a:r>
            <a:r>
              <a:rPr lang="en-US" sz="2000" dirty="0">
                <a:solidFill>
                  <a:schemeClr val="dk1"/>
                </a:solidFill>
              </a:rPr>
              <a:t> Group, we value innovation, collaboration, and a commitment to excellence. We believe that our collective efforts contribute to the success of our organization and create a positive and dynamic work environment.</a:t>
            </a:r>
          </a:p>
          <a:p>
            <a:pPr lvl="0" algn="just">
              <a:spcBef>
                <a:spcPts val="1500"/>
              </a:spcBef>
              <a:buSzPts val="523"/>
            </a:pPr>
            <a:r>
              <a:rPr lang="en-US" sz="2000" dirty="0">
                <a:solidFill>
                  <a:schemeClr val="dk1"/>
                </a:solidFill>
              </a:rPr>
              <a:t>As you embark on your new role, you'll find a team dedicated to achieving our shared goals. Whether you are inquiring, learning, or contributing your unique skills, your presence adds tremendous value to our workplace.</a:t>
            </a:r>
          </a:p>
          <a:p>
            <a:pPr lvl="0" algn="just">
              <a:spcBef>
                <a:spcPts val="1500"/>
              </a:spcBef>
              <a:buSzPts val="523"/>
            </a:pPr>
            <a:r>
              <a:rPr lang="en-US" sz="2000" dirty="0">
                <a:solidFill>
                  <a:schemeClr val="dk1"/>
                </a:solidFill>
              </a:rPr>
              <a:t>Please feel free to reach out to if you have any questions or if there's anything you need assistance with.</a:t>
            </a:r>
          </a:p>
          <a:p>
            <a:pPr lvl="0" algn="just">
              <a:spcBef>
                <a:spcPts val="1500"/>
              </a:spcBef>
              <a:buSzPts val="523"/>
            </a:pPr>
            <a:r>
              <a:rPr lang="en-US" sz="2000" dirty="0">
                <a:solidFill>
                  <a:schemeClr val="dk1"/>
                </a:solidFill>
              </a:rPr>
              <a:t>Once again, welcome to the </a:t>
            </a:r>
            <a:r>
              <a:rPr lang="en-US" sz="2000" dirty="0" err="1">
                <a:solidFill>
                  <a:schemeClr val="dk1"/>
                </a:solidFill>
              </a:rPr>
              <a:t>Consutare</a:t>
            </a:r>
            <a:r>
              <a:rPr lang="en-US" sz="2000" dirty="0">
                <a:solidFill>
                  <a:schemeClr val="dk1"/>
                </a:solidFill>
              </a:rPr>
              <a:t> family! We are excited to have you with us and look forward to achieving great things together.</a:t>
            </a:r>
          </a:p>
          <a:p>
            <a:pPr lvl="0" algn="just">
              <a:spcBef>
                <a:spcPts val="1500"/>
              </a:spcBef>
              <a:buSzPts val="523"/>
            </a:pPr>
            <a:r>
              <a:rPr lang="en-US" sz="2000" dirty="0">
                <a:solidFill>
                  <a:schemeClr val="dk1"/>
                </a:solidFill>
              </a:rPr>
              <a:t>Best regards,</a:t>
            </a:r>
          </a:p>
          <a:p>
            <a:pPr lvl="0" algn="just">
              <a:spcBef>
                <a:spcPts val="1500"/>
              </a:spcBef>
              <a:buSzPts val="523"/>
            </a:pPr>
            <a:r>
              <a:rPr lang="en-US" sz="2000" dirty="0" err="1">
                <a:solidFill>
                  <a:schemeClr val="dk1"/>
                </a:solidFill>
              </a:rPr>
              <a:t>Arnel</a:t>
            </a:r>
            <a:r>
              <a:rPr lang="en-US" sz="2000" dirty="0">
                <a:solidFill>
                  <a:schemeClr val="dk1"/>
                </a:solidFill>
              </a:rPr>
              <a:t> Ryan</a:t>
            </a:r>
          </a:p>
          <a:p>
            <a:pPr lvl="0" algn="just">
              <a:lnSpc>
                <a:spcPct val="200000"/>
              </a:lnSpc>
              <a:spcBef>
                <a:spcPts val="1200"/>
              </a:spcBef>
              <a:buSzPts val="523"/>
            </a:pPr>
            <a:r>
              <a:rPr lang="en-US" sz="2000" dirty="0">
                <a:solidFill>
                  <a:schemeClr val="dk1"/>
                </a:solidFill>
              </a:rPr>
              <a:t>CEO, </a:t>
            </a:r>
            <a:r>
              <a:rPr lang="en-US" sz="2000" dirty="0" err="1">
                <a:solidFill>
                  <a:schemeClr val="dk1"/>
                </a:solidFill>
              </a:rPr>
              <a:t>Consultare</a:t>
            </a:r>
            <a:r>
              <a:rPr lang="en-US" sz="2000" dirty="0">
                <a:solidFill>
                  <a:schemeClr val="dk1"/>
                </a:solidFill>
              </a:rPr>
              <a:t> </a:t>
            </a:r>
            <a:r>
              <a:rPr lang="en-US" sz="2000" dirty="0" err="1">
                <a:solidFill>
                  <a:schemeClr val="dk1"/>
                </a:solidFill>
              </a:rPr>
              <a:t>Inc</a:t>
            </a:r>
            <a:r>
              <a:rPr lang="en-US" sz="2000" dirty="0">
                <a:solidFill>
                  <a:schemeClr val="dk1"/>
                </a:solidFill>
              </a:rPr>
              <a:t> Group</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2363462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62f03d38f3_5_0"/>
          <p:cNvSpPr/>
          <p:nvPr/>
        </p:nvSpPr>
        <p:spPr>
          <a:xfrm rot="-1624665">
            <a:off x="7877513" y="2153331"/>
            <a:ext cx="10879726" cy="8842250"/>
          </a:xfrm>
          <a:custGeom>
            <a:avLst/>
            <a:gdLst/>
            <a:ahLst/>
            <a:cxnLst/>
            <a:rect l="l" t="t" r="r" b="b"/>
            <a:pathLst>
              <a:path w="10884489" h="8846121" extrusionOk="0">
                <a:moveTo>
                  <a:pt x="0" y="0"/>
                </a:moveTo>
                <a:lnTo>
                  <a:pt x="10884489" y="0"/>
                </a:lnTo>
                <a:lnTo>
                  <a:pt x="10884489" y="8846120"/>
                </a:lnTo>
                <a:lnTo>
                  <a:pt x="0" y="8846120"/>
                </a:lnTo>
                <a:lnTo>
                  <a:pt x="0" y="0"/>
                </a:lnTo>
                <a:close/>
              </a:path>
            </a:pathLst>
          </a:custGeom>
          <a:blipFill rotWithShape="1">
            <a:blip r:embed="rId3">
              <a:alphaModFix amt="50000"/>
            </a:blip>
            <a:stretch>
              <a:fillRect/>
            </a:stretch>
          </a:blipFill>
          <a:ln>
            <a:noFill/>
          </a:ln>
        </p:spPr>
      </p:sp>
      <p:sp>
        <p:nvSpPr>
          <p:cNvPr id="108" name="Google Shape;108;g262f03d38f3_5_0"/>
          <p:cNvSpPr txBox="1"/>
          <p:nvPr/>
        </p:nvSpPr>
        <p:spPr>
          <a:xfrm>
            <a:off x="819150" y="769505"/>
            <a:ext cx="1666875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HISTORY, MISSION, AND VALUES.</a:t>
            </a:r>
            <a:endParaRPr sz="7000" dirty="0">
              <a:latin typeface="Barlow"/>
            </a:endParaRPr>
          </a:p>
        </p:txBody>
      </p:sp>
      <p:sp>
        <p:nvSpPr>
          <p:cNvPr id="7" name="Google Shape;109;g262f03d38f3_5_0"/>
          <p:cNvSpPr txBox="1"/>
          <p:nvPr/>
        </p:nvSpPr>
        <p:spPr>
          <a:xfrm>
            <a:off x="819150" y="3866022"/>
            <a:ext cx="16497300" cy="5416868"/>
          </a:xfrm>
          <a:prstGeom prst="rect">
            <a:avLst/>
          </a:prstGeom>
          <a:noFill/>
          <a:ln>
            <a:noFill/>
          </a:ln>
        </p:spPr>
        <p:txBody>
          <a:bodyPr spcFirstLastPara="1" wrap="square" lIns="0" tIns="0" rIns="0" bIns="0" anchor="t" anchorCtr="0">
            <a:spAutoFit/>
          </a:bodyPr>
          <a:lstStyle/>
          <a:p>
            <a:pPr lvl="0" algn="just"/>
            <a:r>
              <a:rPr lang="en-US" sz="3200" b="1" u="sng" dirty="0">
                <a:solidFill>
                  <a:srgbClr val="2E2E2E"/>
                </a:solidFill>
                <a:latin typeface="Montserrat"/>
                <a:ea typeface="Montserrat"/>
                <a:cs typeface="Montserrat"/>
                <a:sym typeface="Montserrat"/>
              </a:rPr>
              <a:t>OUR </a:t>
            </a:r>
            <a:r>
              <a:rPr lang="en-US" sz="3200" b="1" u="sng" dirty="0" smtClean="0">
                <a:solidFill>
                  <a:srgbClr val="2E2E2E"/>
                </a:solidFill>
                <a:latin typeface="Montserrat"/>
                <a:ea typeface="Montserrat"/>
                <a:cs typeface="Montserrat"/>
                <a:sym typeface="Montserrat"/>
              </a:rPr>
              <a:t>COMPANY</a:t>
            </a:r>
          </a:p>
          <a:p>
            <a:pPr lvl="0" algn="just"/>
            <a:endParaRPr lang="en-US" sz="3200" b="1" dirty="0">
              <a:solidFill>
                <a:srgbClr val="2E2E2E"/>
              </a:solidFill>
              <a:latin typeface="Montserrat"/>
              <a:ea typeface="Montserrat"/>
              <a:cs typeface="Montserrat"/>
              <a:sym typeface="Montserrat"/>
            </a:endParaRPr>
          </a:p>
          <a:p>
            <a:pPr lvl="0" algn="just"/>
            <a:r>
              <a:rPr lang="en-US" sz="3200" dirty="0" err="1">
                <a:solidFill>
                  <a:srgbClr val="2E2E2E"/>
                </a:solidFill>
                <a:latin typeface="Montserrat"/>
                <a:ea typeface="Montserrat"/>
                <a:cs typeface="Montserrat"/>
                <a:sym typeface="Montserrat"/>
              </a:rPr>
              <a:t>Consultare</a:t>
            </a:r>
            <a:r>
              <a:rPr lang="en-US" sz="3200" dirty="0">
                <a:solidFill>
                  <a:srgbClr val="2E2E2E"/>
                </a:solidFill>
                <a:latin typeface="Montserrat"/>
                <a:ea typeface="Montserrat"/>
                <a:cs typeface="Montserrat"/>
                <a:sym typeface="Montserrat"/>
              </a:rPr>
              <a:t> Inc. Group provides regulatory </a:t>
            </a:r>
            <a:r>
              <a:rPr lang="en-US" sz="3200" dirty="0" smtClean="0">
                <a:solidFill>
                  <a:srgbClr val="2E2E2E"/>
                </a:solidFill>
                <a:latin typeface="Montserrat"/>
                <a:ea typeface="Montserrat"/>
                <a:cs typeface="Montserrat"/>
                <a:sym typeface="Montserrat"/>
              </a:rPr>
              <a:t>compliance and </a:t>
            </a:r>
            <a:r>
              <a:rPr lang="en-US" sz="3200" dirty="0">
                <a:solidFill>
                  <a:srgbClr val="2E2E2E"/>
                </a:solidFill>
                <a:latin typeface="Montserrat"/>
                <a:ea typeface="Montserrat"/>
                <a:cs typeface="Montserrat"/>
                <a:sym typeface="Montserrat"/>
              </a:rPr>
              <a:t>consulting services to manufacturers, </a:t>
            </a:r>
            <a:r>
              <a:rPr lang="en-US" sz="3200" dirty="0" smtClean="0">
                <a:solidFill>
                  <a:srgbClr val="2E2E2E"/>
                </a:solidFill>
                <a:latin typeface="Montserrat"/>
                <a:ea typeface="Montserrat"/>
                <a:cs typeface="Montserrat"/>
                <a:sym typeface="Montserrat"/>
              </a:rPr>
              <a:t>distributors, and </a:t>
            </a:r>
            <a:r>
              <a:rPr lang="en-US" sz="3200" dirty="0">
                <a:solidFill>
                  <a:srgbClr val="2E2E2E"/>
                </a:solidFill>
                <a:latin typeface="Montserrat"/>
                <a:ea typeface="Montserrat"/>
                <a:cs typeface="Montserrat"/>
                <a:sym typeface="Montserrat"/>
              </a:rPr>
              <a:t>importers of foods, beverages, </a:t>
            </a:r>
            <a:r>
              <a:rPr lang="en-US" sz="3200" dirty="0" smtClean="0">
                <a:solidFill>
                  <a:srgbClr val="2E2E2E"/>
                </a:solidFill>
                <a:latin typeface="Montserrat"/>
                <a:ea typeface="Montserrat"/>
                <a:cs typeface="Montserrat"/>
                <a:sym typeface="Montserrat"/>
              </a:rPr>
              <a:t>dietary supplements</a:t>
            </a:r>
            <a:r>
              <a:rPr lang="en-US" sz="3200" dirty="0">
                <a:solidFill>
                  <a:srgbClr val="2E2E2E"/>
                </a:solidFill>
                <a:latin typeface="Montserrat"/>
                <a:ea typeface="Montserrat"/>
                <a:cs typeface="Montserrat"/>
                <a:sym typeface="Montserrat"/>
              </a:rPr>
              <a:t>, drugs, cosmetics, medical devices, </a:t>
            </a:r>
            <a:r>
              <a:rPr lang="en-US" sz="3200" dirty="0" smtClean="0">
                <a:solidFill>
                  <a:srgbClr val="2E2E2E"/>
                </a:solidFill>
                <a:latin typeface="Montserrat"/>
                <a:ea typeface="Montserrat"/>
                <a:cs typeface="Montserrat"/>
                <a:sym typeface="Montserrat"/>
              </a:rPr>
              <a:t>or electronic </a:t>
            </a:r>
            <a:r>
              <a:rPr lang="en-US" sz="3200" dirty="0">
                <a:solidFill>
                  <a:srgbClr val="2E2E2E"/>
                </a:solidFill>
                <a:latin typeface="Montserrat"/>
                <a:ea typeface="Montserrat"/>
                <a:cs typeface="Montserrat"/>
                <a:sym typeface="Montserrat"/>
              </a:rPr>
              <a:t>products</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a:p>
            <a:pPr lvl="0" algn="just"/>
            <a:r>
              <a:rPr lang="en-US" sz="3200" dirty="0">
                <a:solidFill>
                  <a:srgbClr val="2E2E2E"/>
                </a:solidFill>
                <a:latin typeface="Montserrat"/>
                <a:ea typeface="Montserrat"/>
                <a:cs typeface="Montserrat"/>
                <a:sym typeface="Montserrat"/>
              </a:rPr>
              <a:t>We contribute to a company’s growing Regulatory and Certification Compliance, Food Safety Management System, Quality System, Quality Management System, and HACCP </a:t>
            </a:r>
            <a:r>
              <a:rPr lang="en-US" sz="3200" dirty="0" smtClean="0">
                <a:solidFill>
                  <a:srgbClr val="2E2E2E"/>
                </a:solidFill>
                <a:latin typeface="Montserrat"/>
                <a:ea typeface="Montserrat"/>
                <a:cs typeface="Montserrat"/>
                <a:sym typeface="Montserrat"/>
              </a:rPr>
              <a:t>development, implementation</a:t>
            </a:r>
            <a:r>
              <a:rPr lang="en-US" sz="3200" dirty="0">
                <a:solidFill>
                  <a:srgbClr val="2E2E2E"/>
                </a:solidFill>
                <a:latin typeface="Montserrat"/>
                <a:ea typeface="Montserrat"/>
                <a:cs typeface="Montserrat"/>
                <a:sym typeface="Montserrat"/>
              </a:rPr>
              <a:t>, maintenance, and monitoring on a full-time consultancy position</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4"/>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764721"/>
            <a:ext cx="1064895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OUR HISTORY</a:t>
            </a:r>
          </a:p>
        </p:txBody>
      </p:sp>
      <p:sp>
        <p:nvSpPr>
          <p:cNvPr id="129" name="Google Shape;129;g262f03d38f3_5_22"/>
          <p:cNvSpPr txBox="1"/>
          <p:nvPr/>
        </p:nvSpPr>
        <p:spPr>
          <a:xfrm>
            <a:off x="1811694" y="2075076"/>
            <a:ext cx="14487806" cy="2585323"/>
          </a:xfrm>
          <a:prstGeom prst="rect">
            <a:avLst/>
          </a:prstGeom>
          <a:noFill/>
          <a:ln>
            <a:noFill/>
          </a:ln>
        </p:spPr>
        <p:txBody>
          <a:bodyPr spcFirstLastPara="1" wrap="square" lIns="0" tIns="0" rIns="0" bIns="0" anchor="t" anchorCtr="0">
            <a:spAutoFit/>
          </a:bodyPr>
          <a:lstStyle/>
          <a:p>
            <a:pPr lvl="0" algn="just"/>
            <a:r>
              <a:rPr lang="en-US" sz="2800" smtClean="0">
                <a:solidFill>
                  <a:srgbClr val="2E2E2E"/>
                </a:solidFill>
                <a:latin typeface="Montserrat"/>
                <a:ea typeface="Montserrat"/>
                <a:cs typeface="Montserrat"/>
                <a:sym typeface="Montserrat"/>
              </a:rPr>
              <a:t>Consultare </a:t>
            </a:r>
            <a:r>
              <a:rPr lang="en-US" sz="2800" smtClean="0">
                <a:solidFill>
                  <a:srgbClr val="2E2E2E"/>
                </a:solidFill>
                <a:latin typeface="Montserrat"/>
                <a:ea typeface="Montserrat"/>
                <a:cs typeface="Montserrat"/>
                <a:sym typeface="Montserrat"/>
              </a:rPr>
              <a:t>Inc. </a:t>
            </a:r>
            <a:r>
              <a:rPr lang="en-US" sz="2800" dirty="0">
                <a:solidFill>
                  <a:srgbClr val="2E2E2E"/>
                </a:solidFill>
                <a:latin typeface="Montserrat"/>
                <a:ea typeface="Montserrat"/>
                <a:cs typeface="Montserrat"/>
                <a:sym typeface="Montserrat"/>
              </a:rPr>
              <a:t>Group was started as </a:t>
            </a:r>
            <a:r>
              <a:rPr lang="en-US" sz="2800" dirty="0" err="1">
                <a:solidFill>
                  <a:srgbClr val="2E2E2E"/>
                </a:solidFill>
                <a:latin typeface="Montserrat"/>
                <a:ea typeface="Montserrat"/>
                <a:cs typeface="Montserrat"/>
                <a:sym typeface="Montserrat"/>
              </a:rPr>
              <a:t>Nutripro</a:t>
            </a:r>
            <a:r>
              <a:rPr lang="en-US" sz="2800" dirty="0">
                <a:solidFill>
                  <a:srgbClr val="2E2E2E"/>
                </a:solidFill>
                <a:latin typeface="Montserrat"/>
                <a:ea typeface="Montserrat"/>
                <a:cs typeface="Montserrat"/>
                <a:sym typeface="Montserrat"/>
              </a:rPr>
              <a:t> LLC in December of 2013. </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December 2017, our name was </a:t>
            </a:r>
            <a:r>
              <a:rPr lang="en-US" sz="2800" dirty="0" smtClean="0">
                <a:solidFill>
                  <a:srgbClr val="2E2E2E"/>
                </a:solidFill>
                <a:latin typeface="Montserrat"/>
                <a:ea typeface="Montserrat"/>
                <a:cs typeface="Montserrat"/>
                <a:sym typeface="Montserrat"/>
              </a:rPr>
              <a:t>changed </a:t>
            </a:r>
            <a:r>
              <a:rPr lang="en-US" sz="2800" dirty="0">
                <a:solidFill>
                  <a:srgbClr val="2E2E2E"/>
                </a:solidFill>
                <a:latin typeface="Montserrat"/>
                <a:ea typeface="Montserrat"/>
                <a:cs typeface="Montserrat"/>
                <a:sym typeface="Montserrat"/>
              </a:rPr>
              <a:t>to Consultare Inc. The name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came from the Spanish word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in English “ I will consult”.</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January of 2023, the company was formally changed to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a:t>
            </a:r>
          </a:p>
        </p:txBody>
      </p:sp>
      <p:sp>
        <p:nvSpPr>
          <p:cNvPr id="130" name="Google Shape;130;g262f03d38f3_5_22"/>
          <p:cNvSpPr/>
          <p:nvPr/>
        </p:nvSpPr>
        <p:spPr>
          <a:xfrm rot="1509322">
            <a:off x="9532250"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37506" y="-332868"/>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1179787"/>
            <a:ext cx="106489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OUR MISSION</a:t>
            </a:r>
            <a:endParaRPr sz="7000" dirty="0">
              <a:latin typeface="Barlow"/>
            </a:endParaRPr>
          </a:p>
        </p:txBody>
      </p:sp>
      <p:sp>
        <p:nvSpPr>
          <p:cNvPr id="129" name="Google Shape;129;g262f03d38f3_5_22"/>
          <p:cNvSpPr txBox="1"/>
          <p:nvPr/>
        </p:nvSpPr>
        <p:spPr>
          <a:xfrm>
            <a:off x="1811694" y="2269614"/>
            <a:ext cx="14687551" cy="3231654"/>
          </a:xfrm>
          <a:prstGeom prst="rect">
            <a:avLst/>
          </a:prstGeom>
          <a:noFill/>
          <a:ln>
            <a:noFill/>
          </a:ln>
        </p:spPr>
        <p:txBody>
          <a:bodyPr spcFirstLastPara="1" wrap="square" lIns="0" tIns="0" rIns="0" bIns="0" anchor="t" anchorCtr="0">
            <a:spAutoFit/>
          </a:bodyPr>
          <a:lstStyle/>
          <a:p>
            <a:pPr lvl="0" algn="just">
              <a:lnSpc>
                <a:spcPct val="150000"/>
              </a:lnSpc>
            </a:pP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 is committed in providing expertise, guidance, and solutions to make sure that organizations will operate within the bounds of applicable laws, regulations, and ethical standards. We are committed in helping clients the </a:t>
            </a:r>
            <a:r>
              <a:rPr lang="en-US" sz="2800" dirty="0" smtClean="0">
                <a:solidFill>
                  <a:srgbClr val="2E2E2E"/>
                </a:solidFill>
                <a:latin typeface="Montserrat"/>
                <a:ea typeface="Montserrat"/>
                <a:cs typeface="Montserrat"/>
                <a:sym typeface="Montserrat"/>
              </a:rPr>
              <a:t> complex </a:t>
            </a:r>
            <a:r>
              <a:rPr lang="en-US" sz="2800" dirty="0">
                <a:solidFill>
                  <a:srgbClr val="2E2E2E"/>
                </a:solidFill>
                <a:latin typeface="Montserrat"/>
                <a:ea typeface="Montserrat"/>
                <a:cs typeface="Montserrat"/>
                <a:sym typeface="Montserrat"/>
              </a:rPr>
              <a:t>landscape of ethical consideration and regulations that will contribute to the integrity, sustainability, and the success of their business.</a:t>
            </a:r>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extLst>
      <p:ext uri="{BB962C8B-B14F-4D97-AF65-F5344CB8AC3E}">
        <p14:creationId xmlns:p14="http://schemas.microsoft.com/office/powerpoint/2010/main" val="3972505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3"/>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sp>
        <p:nvSpPr>
          <p:cNvPr id="128" name="Google Shape;128;g262f03d38f3_5_22"/>
          <p:cNvSpPr txBox="1"/>
          <p:nvPr/>
        </p:nvSpPr>
        <p:spPr>
          <a:xfrm>
            <a:off x="1028700" y="545752"/>
            <a:ext cx="10648950" cy="1384995"/>
          </a:xfrm>
          <a:prstGeom prst="rect">
            <a:avLst/>
          </a:prstGeom>
          <a:noFill/>
          <a:ln>
            <a:noFill/>
          </a:ln>
        </p:spPr>
        <p:txBody>
          <a:bodyPr spcFirstLastPara="1" wrap="square" lIns="0" tIns="0" rIns="0" bIns="0" anchor="t" anchorCtr="0">
            <a:spAutoFit/>
          </a:bodyPr>
          <a:lstStyle/>
          <a:p>
            <a:pPr lvl="0"/>
            <a:r>
              <a:rPr lang="en-US" sz="9000" b="1" dirty="0">
                <a:solidFill>
                  <a:srgbClr val="004AAD"/>
                </a:solidFill>
                <a:latin typeface="Montserrat"/>
                <a:ea typeface="Montserrat"/>
                <a:cs typeface="Montserrat"/>
                <a:sym typeface="Montserrat"/>
              </a:rPr>
              <a:t>OUR VALUES</a:t>
            </a:r>
            <a:endParaRPr lang="en-US" sz="9000" dirty="0"/>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5">
              <a:alphaModFix amt="50000"/>
            </a:blip>
            <a:stretch>
              <a:fillRect/>
            </a:stretch>
          </a:blipFill>
          <a:ln>
            <a:noFill/>
          </a:ln>
        </p:spPr>
      </p:sp>
      <p:sp>
        <p:nvSpPr>
          <p:cNvPr id="8" name="Google Shape;109;g262f03d38f3_5_0"/>
          <p:cNvSpPr txBox="1"/>
          <p:nvPr/>
        </p:nvSpPr>
        <p:spPr>
          <a:xfrm>
            <a:off x="1200150" y="2238616"/>
            <a:ext cx="12363450" cy="7125027"/>
          </a:xfrm>
          <a:prstGeom prst="rect">
            <a:avLst/>
          </a:prstGeom>
          <a:noFill/>
          <a:ln>
            <a:noFill/>
          </a:ln>
        </p:spPr>
        <p:txBody>
          <a:bodyPr spcFirstLastPara="1" wrap="square" lIns="0" tIns="0" rIns="0" bIns="0" anchor="t" anchorCtr="0">
            <a:spAutoFit/>
          </a:bodyPr>
          <a:lstStyle/>
          <a:p>
            <a:pPr lvl="0" algn="just"/>
            <a:endParaRPr lang="en-US" sz="100" b="1" dirty="0">
              <a:solidFill>
                <a:srgbClr val="2E2E2E"/>
              </a:solidFill>
              <a:latin typeface="Montserrat"/>
              <a:ea typeface="Montserrat"/>
              <a:cs typeface="Montserrat"/>
              <a:sym typeface="Montserrat"/>
            </a:endParaRPr>
          </a:p>
          <a:p>
            <a:pPr lvl="0" algn="just"/>
            <a:r>
              <a:rPr lang="en-US" sz="6600" b="1" dirty="0">
                <a:solidFill>
                  <a:srgbClr val="2E2E2E"/>
                </a:solidFill>
                <a:latin typeface="Montserrat"/>
                <a:ea typeface="Montserrat"/>
                <a:cs typeface="Montserrat"/>
                <a:sym typeface="Montserrat"/>
              </a:rPr>
              <a:t>I </a:t>
            </a:r>
            <a:r>
              <a:rPr lang="en-US" sz="4400" b="1" dirty="0">
                <a:solidFill>
                  <a:srgbClr val="2E2E2E"/>
                </a:solidFill>
                <a:latin typeface="Montserrat"/>
                <a:ea typeface="Montserrat"/>
                <a:cs typeface="Montserrat"/>
                <a:sym typeface="Montserrat"/>
              </a:rPr>
              <a:t> </a:t>
            </a:r>
            <a:r>
              <a:rPr lang="en-US" sz="5400" b="1" dirty="0">
                <a:solidFill>
                  <a:srgbClr val="2E2E2E"/>
                </a:solidFill>
                <a:latin typeface="Montserrat"/>
                <a:ea typeface="Montserrat"/>
                <a:cs typeface="Montserrat"/>
                <a:sym typeface="Montserrat"/>
              </a:rPr>
              <a:t>Integrity and Innovation</a:t>
            </a:r>
          </a:p>
          <a:p>
            <a:pPr lvl="0" algn="just">
              <a:lnSpc>
                <a:spcPct val="150000"/>
              </a:lnSpc>
            </a:pPr>
            <a:r>
              <a:rPr lang="en-US" sz="6600" b="1" dirty="0">
                <a:solidFill>
                  <a:srgbClr val="2E2E2E"/>
                </a:solidFill>
                <a:latin typeface="Montserrat"/>
                <a:ea typeface="Montserrat"/>
                <a:cs typeface="Montserrat"/>
                <a:sym typeface="Montserrat"/>
              </a:rPr>
              <a:t>C</a:t>
            </a:r>
            <a:r>
              <a:rPr lang="en-US" sz="5400" b="1" dirty="0">
                <a:solidFill>
                  <a:srgbClr val="2E2E2E"/>
                </a:solidFill>
                <a:latin typeface="Montserrat"/>
                <a:ea typeface="Montserrat"/>
                <a:cs typeface="Montserrat"/>
                <a:sym typeface="Montserrat"/>
              </a:rPr>
              <a:t> Compliance Excellence</a:t>
            </a:r>
          </a:p>
          <a:p>
            <a:pPr lvl="0" algn="just">
              <a:lnSpc>
                <a:spcPct val="150000"/>
              </a:lnSpc>
            </a:pPr>
            <a:r>
              <a:rPr lang="en-US" sz="6600" b="1" dirty="0">
                <a:solidFill>
                  <a:srgbClr val="2E2E2E"/>
                </a:solidFill>
                <a:latin typeface="Montserrat"/>
                <a:ea typeface="Montserrat"/>
                <a:cs typeface="Montserrat"/>
                <a:sym typeface="Montserrat"/>
              </a:rPr>
              <a:t>A</a:t>
            </a:r>
            <a:r>
              <a:rPr lang="en-US" sz="5400" b="1" dirty="0">
                <a:solidFill>
                  <a:srgbClr val="2E2E2E"/>
                </a:solidFill>
                <a:latin typeface="Montserrat"/>
                <a:ea typeface="Montserrat"/>
                <a:cs typeface="Montserrat"/>
                <a:sym typeface="Montserrat"/>
              </a:rPr>
              <a:t> Accountability</a:t>
            </a:r>
          </a:p>
          <a:p>
            <a:pPr lvl="0">
              <a:lnSpc>
                <a:spcPct val="150000"/>
              </a:lnSpc>
            </a:pPr>
            <a:r>
              <a:rPr lang="en-US" sz="6600" b="1" dirty="0" smtClean="0">
                <a:solidFill>
                  <a:srgbClr val="2E2E2E"/>
                </a:solidFill>
                <a:latin typeface="Montserrat"/>
                <a:ea typeface="Montserrat"/>
                <a:cs typeface="Montserrat"/>
                <a:sym typeface="Montserrat"/>
              </a:rPr>
              <a:t>R </a:t>
            </a:r>
            <a:r>
              <a:rPr lang="en-US" sz="5400" b="1" dirty="0" smtClean="0">
                <a:solidFill>
                  <a:srgbClr val="2E2E2E"/>
                </a:solidFill>
                <a:latin typeface="Montserrat"/>
                <a:ea typeface="Montserrat"/>
                <a:cs typeface="Montserrat"/>
                <a:sym typeface="Montserrat"/>
              </a:rPr>
              <a:t>Respect and Responsibility</a:t>
            </a:r>
            <a:endParaRPr lang="en-US" sz="5400" b="1" dirty="0">
              <a:solidFill>
                <a:srgbClr val="2E2E2E"/>
              </a:solidFill>
              <a:latin typeface="Montserrat"/>
              <a:ea typeface="Montserrat"/>
              <a:cs typeface="Montserrat"/>
              <a:sym typeface="Montserrat"/>
            </a:endParaRPr>
          </a:p>
          <a:p>
            <a:pPr lvl="0">
              <a:lnSpc>
                <a:spcPct val="150000"/>
              </a:lnSpc>
            </a:pPr>
            <a:r>
              <a:rPr lang="en-US" sz="6600" b="1" dirty="0">
                <a:solidFill>
                  <a:srgbClr val="2E2E2E"/>
                </a:solidFill>
                <a:latin typeface="Montserrat"/>
                <a:ea typeface="Montserrat"/>
                <a:cs typeface="Montserrat"/>
                <a:sym typeface="Montserrat"/>
              </a:rPr>
              <a:t>E</a:t>
            </a:r>
            <a:r>
              <a:rPr lang="en-US" sz="5400" b="1" dirty="0">
                <a:solidFill>
                  <a:srgbClr val="2E2E2E"/>
                </a:solidFill>
                <a:latin typeface="Montserrat"/>
                <a:ea typeface="Montserrat"/>
                <a:cs typeface="Montserrat"/>
                <a:sym typeface="Montserrat"/>
              </a:rPr>
              <a:t> Education and Empowerment</a:t>
            </a:r>
          </a:p>
        </p:txBody>
      </p:sp>
    </p:spTree>
    <p:extLst>
      <p:ext uri="{BB962C8B-B14F-4D97-AF65-F5344CB8AC3E}">
        <p14:creationId xmlns:p14="http://schemas.microsoft.com/office/powerpoint/2010/main" val="1829438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878915"/>
            <a:ext cx="17564100" cy="2554545"/>
          </a:xfrm>
          <a:prstGeom prst="rect">
            <a:avLst/>
          </a:prstGeom>
          <a:noFill/>
          <a:ln>
            <a:noFill/>
          </a:ln>
        </p:spPr>
        <p:txBody>
          <a:bodyPr spcFirstLastPara="1" wrap="square" lIns="0" tIns="0" rIns="0" bIns="0" anchor="t" anchorCtr="0">
            <a:spAutoFit/>
          </a:bodyPr>
          <a:lstStyle/>
          <a:p>
            <a:pPr algn="ct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NTEGRITY   AND</a:t>
            </a:r>
            <a:r>
              <a:rPr lang="en-US" sz="9000" b="1" dirty="0" smtClean="0">
                <a:solidFill>
                  <a:srgbClr val="004AAD"/>
                </a:solidFill>
                <a:latin typeface="Barlow"/>
                <a:ea typeface="Montserrat"/>
                <a:cs typeface="Montserrat"/>
                <a:sym typeface="Montserrat"/>
              </a:rPr>
              <a:t>  </a:t>
            </a: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NNOVATION</a:t>
            </a:r>
            <a:r>
              <a:rPr lang="en-US" sz="9000" b="1" dirty="0" smtClean="0">
                <a:solidFill>
                  <a:srgbClr val="004AAD"/>
                </a:solidFill>
                <a:latin typeface="Barlow"/>
                <a:ea typeface="Montserrat"/>
                <a:cs typeface="Montserrat"/>
                <a:sym typeface="Montserrat"/>
              </a:rPr>
              <a:t> </a:t>
            </a:r>
            <a:endParaRPr lang="en-US" sz="9000" b="1" dirty="0">
              <a:solidFill>
                <a:srgbClr val="004AAD"/>
              </a:solidFill>
              <a:latin typeface="Barlow"/>
              <a:ea typeface="Montserrat"/>
              <a:cs typeface="Montserrat"/>
              <a:sym typeface="Montserrat"/>
            </a:endParaRPr>
          </a:p>
        </p:txBody>
      </p:sp>
      <p:sp>
        <p:nvSpPr>
          <p:cNvPr id="146" name="Google Shape;146;p3"/>
          <p:cNvSpPr txBox="1"/>
          <p:nvPr/>
        </p:nvSpPr>
        <p:spPr>
          <a:xfrm>
            <a:off x="381000" y="3928043"/>
            <a:ext cx="8096250" cy="5324535"/>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Adherence to ethical principles, honesty, fairness, dedication and commitment, selflessness. It's doing the right thing all the time, every time.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334500" y="3928043"/>
            <a:ext cx="8401050" cy="4585871"/>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Implementation of new idea approaches to compliance challenges and to seek a solution to meet evolving regulatory requirements.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20" y="-2355116"/>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1028700" y="1216751"/>
            <a:ext cx="16021050" cy="2123658"/>
          </a:xfrm>
          <a:prstGeom prst="rect">
            <a:avLst/>
          </a:prstGeom>
          <a:noFill/>
          <a:ln>
            <a:noFill/>
          </a:ln>
        </p:spPr>
        <p:txBody>
          <a:bodyPr spcFirstLastPara="1" wrap="square" lIns="0" tIns="0" rIns="0" bIns="0" anchor="t" anchorCtr="0">
            <a:spAutoFit/>
          </a:bodyPr>
          <a:lstStyle/>
          <a:p>
            <a:pPr lvl="0"/>
            <a:r>
              <a:rPr lang="en-US" sz="13800" b="1" dirty="0" smtClean="0">
                <a:solidFill>
                  <a:srgbClr val="004AAD"/>
                </a:solidFill>
                <a:latin typeface="Barlow"/>
                <a:ea typeface="Montserrat"/>
                <a:cs typeface="Montserrat"/>
                <a:sym typeface="Montserrat"/>
              </a:rPr>
              <a:t>C</a:t>
            </a:r>
            <a:r>
              <a:rPr lang="en-US" sz="8000" b="1" dirty="0" smtClean="0">
                <a:solidFill>
                  <a:srgbClr val="004AAD"/>
                </a:solidFill>
                <a:latin typeface="Barlow"/>
                <a:ea typeface="Montserrat"/>
                <a:cs typeface="Montserrat"/>
                <a:sym typeface="Montserrat"/>
              </a:rPr>
              <a:t>OMPLIANCE EXCELLENCE</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028700" y="3366786"/>
            <a:ext cx="16021050" cy="4585871"/>
          </a:xfrm>
          <a:prstGeom prst="rect">
            <a:avLst/>
          </a:prstGeom>
          <a:noFill/>
          <a:ln>
            <a:noFill/>
          </a:ln>
        </p:spPr>
        <p:txBody>
          <a:bodyPr spcFirstLastPara="1" wrap="square" lIns="0" tIns="0" rIns="0" bIns="0" anchor="t" anchorCtr="0">
            <a:spAutoFit/>
          </a:bodyPr>
          <a:lstStyle/>
          <a:p>
            <a:pPr lvl="0" algn="just">
              <a:spcBef>
                <a:spcPts val="1200"/>
              </a:spcBef>
            </a:pPr>
            <a:r>
              <a:rPr lang="en-US" sz="4800" dirty="0">
                <a:latin typeface="Montserrat" charset="0"/>
              </a:rPr>
              <a:t>A priority to support the quality, safety, environmental, security and regulatory objectives of a company. This involves the application of continuous improvement, the elimination of waste and variability, and most importantly the reduction of risk.</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341396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857250" y="764615"/>
            <a:ext cx="16821150" cy="2554545"/>
          </a:xfrm>
          <a:prstGeom prst="rect">
            <a:avLst/>
          </a:prstGeom>
          <a:noFill/>
          <a:ln>
            <a:noFill/>
          </a:ln>
        </p:spPr>
        <p:txBody>
          <a:bodyPr spcFirstLastPara="1" wrap="square" lIns="0" tIns="0" rIns="0" bIns="0" anchor="t" anchorCtr="0">
            <a:spAutoFit/>
          </a:bodyPr>
          <a:lstStyle/>
          <a:p>
            <a:pPr lvl="0"/>
            <a:r>
              <a:rPr lang="en-US" sz="16600" b="1" dirty="0" smtClean="0">
                <a:solidFill>
                  <a:srgbClr val="004AAD"/>
                </a:solidFill>
                <a:latin typeface="Barlow"/>
                <a:ea typeface="Montserrat"/>
                <a:cs typeface="Montserrat"/>
                <a:sym typeface="Montserrat"/>
              </a:rPr>
              <a:t>A</a:t>
            </a:r>
            <a:r>
              <a:rPr lang="en-US" sz="8800" b="1" dirty="0" smtClean="0">
                <a:solidFill>
                  <a:srgbClr val="004AAD"/>
                </a:solidFill>
                <a:latin typeface="Barlow"/>
                <a:ea typeface="Montserrat"/>
                <a:cs typeface="Montserrat"/>
                <a:sym typeface="Montserrat"/>
              </a:rPr>
              <a:t>CCOUNTABILITY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857250" y="3366786"/>
            <a:ext cx="16821150" cy="4216539"/>
          </a:xfrm>
          <a:prstGeom prst="rect">
            <a:avLst/>
          </a:prstGeom>
          <a:noFill/>
          <a:ln>
            <a:noFill/>
          </a:ln>
        </p:spPr>
        <p:txBody>
          <a:bodyPr spcFirstLastPara="1" wrap="square" lIns="0" tIns="0" rIns="0" bIns="0" anchor="t" anchorCtr="0">
            <a:spAutoFit/>
          </a:bodyPr>
          <a:lstStyle/>
          <a:p>
            <a:pPr lvl="0" algn="just">
              <a:spcBef>
                <a:spcPts val="1200"/>
              </a:spcBef>
            </a:pPr>
            <a:r>
              <a:rPr lang="en-US" sz="6600" dirty="0">
                <a:latin typeface="Montserrat" charset="0"/>
              </a:rPr>
              <a:t>Holding oneself and others accountable for the compliance effort and taking responsibility for the actions and decisions.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23766107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307415"/>
            <a:ext cx="17564100" cy="2123658"/>
          </a:xfrm>
          <a:prstGeom prst="rect">
            <a:avLst/>
          </a:prstGeom>
          <a:noFill/>
          <a:ln>
            <a:noFill/>
          </a:ln>
        </p:spPr>
        <p:txBody>
          <a:bodyPr spcFirstLastPara="1" wrap="square" lIns="0" tIns="0" rIns="0" bIns="0" anchor="t" anchorCtr="0">
            <a:spAutoFit/>
          </a:bodyPr>
          <a:lstStyle/>
          <a:p>
            <a:pPr algn="ct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ESPECT   AND</a:t>
            </a:r>
            <a:r>
              <a:rPr lang="en-US" sz="8800" b="1" dirty="0" smtClean="0">
                <a:solidFill>
                  <a:srgbClr val="004AAD"/>
                </a:solidFill>
                <a:latin typeface="Barlow"/>
                <a:ea typeface="Montserrat"/>
                <a:cs typeface="Montserrat"/>
                <a:sym typeface="Montserrat"/>
              </a:rPr>
              <a:t>  </a:t>
            </a: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ESPONSIBILITY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381000" y="3000306"/>
            <a:ext cx="8096250" cy="4462760"/>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Respecting the rights and interest of all members and collaborators. As well as building and maintaining a positive relationship with the clients, regulatory body, and the community.</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163050" y="2651693"/>
            <a:ext cx="8401050" cy="6924973"/>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We aim for the company and organization to operate in full compliance with legal regulations and industry-specific guidelines. We monitor the internal policies and bylaws. In the event of regulatory risks or misconduct, we aim to address concerns and find solutions to these challenges</a:t>
            </a:r>
            <a:r>
              <a:rPr lang="en-US" sz="4000" dirty="0" smtClean="0">
                <a:latin typeface="Montserrat" charset="0"/>
              </a:rPr>
              <a:t>.</a:t>
            </a:r>
            <a:endParaRPr lang="en-US" sz="4000" dirty="0">
              <a:latin typeface="Montserrat" charset="0"/>
            </a:endParaRPr>
          </a:p>
        </p:txBody>
      </p:sp>
    </p:spTree>
    <p:extLst>
      <p:ext uri="{BB962C8B-B14F-4D97-AF65-F5344CB8AC3E}">
        <p14:creationId xmlns:p14="http://schemas.microsoft.com/office/powerpoint/2010/main" val="1310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1012265"/>
            <a:ext cx="17564100" cy="1769715"/>
          </a:xfrm>
          <a:prstGeom prst="rect">
            <a:avLst/>
          </a:prstGeom>
          <a:noFill/>
          <a:ln>
            <a:noFill/>
          </a:ln>
        </p:spPr>
        <p:txBody>
          <a:bodyPr spcFirstLastPara="1" wrap="square" lIns="0" tIns="0" rIns="0" bIns="0" anchor="t" anchorCtr="0">
            <a:spAutoFit/>
          </a:bodyPr>
          <a:lstStyle/>
          <a:p>
            <a:pPr algn="ct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DUCATION AND</a:t>
            </a:r>
            <a:r>
              <a:rPr lang="en-US" sz="7200" b="1" dirty="0" smtClean="0">
                <a:solidFill>
                  <a:srgbClr val="004AAD"/>
                </a:solidFill>
                <a:latin typeface="Barlow"/>
                <a:ea typeface="Montserrat"/>
                <a:cs typeface="Montserrat"/>
                <a:sym typeface="Montserrat"/>
              </a:rPr>
              <a:t> </a:t>
            </a: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MPOWERMENT</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485900" y="3459773"/>
            <a:ext cx="15354300" cy="3477875"/>
          </a:xfrm>
          <a:prstGeom prst="rect">
            <a:avLst/>
          </a:prstGeom>
          <a:noFill/>
          <a:ln>
            <a:noFill/>
          </a:ln>
        </p:spPr>
        <p:txBody>
          <a:bodyPr spcFirstLastPara="1" wrap="square" lIns="0" tIns="0" rIns="0" bIns="0" anchor="t" anchorCtr="0">
            <a:spAutoFit/>
          </a:bodyPr>
          <a:lstStyle/>
          <a:p>
            <a:pPr lvl="0" algn="just">
              <a:spcBef>
                <a:spcPts val="1200"/>
              </a:spcBef>
            </a:pPr>
            <a:r>
              <a:rPr lang="en-US" sz="5400" dirty="0">
                <a:latin typeface="Montserrat" charset="0"/>
              </a:rPr>
              <a:t>Empowering our Team and clients through education on compliance and regulatory matters and by facilitating a culture of accountability, awareness, and knowledge.</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7021964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p:nvPr/>
        </p:nvSpPr>
        <p:spPr>
          <a:xfrm rot="4408728">
            <a:off x="6461224" y="-4582532"/>
            <a:ext cx="15887340" cy="15887340"/>
          </a:xfrm>
          <a:custGeom>
            <a:avLst/>
            <a:gdLst/>
            <a:ahLst/>
            <a:cxnLst/>
            <a:rect l="l" t="t" r="r" b="b"/>
            <a:pathLst>
              <a:path w="15887340" h="15887340" extrusionOk="0">
                <a:moveTo>
                  <a:pt x="0" y="0"/>
                </a:moveTo>
                <a:lnTo>
                  <a:pt x="15887341" y="0"/>
                </a:lnTo>
                <a:lnTo>
                  <a:pt x="15887341" y="15887340"/>
                </a:lnTo>
                <a:lnTo>
                  <a:pt x="0" y="15887340"/>
                </a:lnTo>
                <a:lnTo>
                  <a:pt x="0" y="0"/>
                </a:lnTo>
                <a:close/>
              </a:path>
            </a:pathLst>
          </a:custGeom>
          <a:blipFill rotWithShape="1">
            <a:blip r:embed="rId3">
              <a:alphaModFix amt="35000"/>
            </a:blip>
            <a:stretch>
              <a:fillRect/>
            </a:stretch>
          </a:blipFill>
          <a:ln>
            <a:noFill/>
          </a:ln>
        </p:spPr>
      </p:sp>
      <p:sp>
        <p:nvSpPr>
          <p:cNvPr id="165" name="Google Shape;165;p7"/>
          <p:cNvSpPr/>
          <p:nvPr/>
        </p:nvSpPr>
        <p:spPr>
          <a:xfrm rot="148401" flipH="1">
            <a:off x="15297701" y="384797"/>
            <a:ext cx="6729406" cy="5469172"/>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blip>
            <a:stretch>
              <a:fillRect/>
            </a:stretch>
          </a:blipFill>
          <a:ln>
            <a:noFill/>
          </a:ln>
        </p:spPr>
      </p:sp>
      <p:sp>
        <p:nvSpPr>
          <p:cNvPr id="172" name="Google Shape;172;p7"/>
          <p:cNvSpPr txBox="1"/>
          <p:nvPr/>
        </p:nvSpPr>
        <p:spPr>
          <a:xfrm>
            <a:off x="419097" y="576608"/>
            <a:ext cx="10572754" cy="1661993"/>
          </a:xfrm>
          <a:prstGeom prst="rect">
            <a:avLst/>
          </a:prstGeom>
          <a:noFill/>
          <a:ln>
            <a:noFill/>
          </a:ln>
        </p:spPr>
        <p:txBody>
          <a:bodyPr spcFirstLastPara="1" wrap="square" lIns="0" tIns="0" rIns="0" bIns="0" anchor="t" anchorCtr="0">
            <a:spAutoFit/>
          </a:bodyPr>
          <a:lstStyle/>
          <a:p>
            <a:pPr lvl="0" algn="ctr"/>
            <a:r>
              <a:rPr lang="en-US" sz="5400" dirty="0">
                <a:solidFill>
                  <a:srgbClr val="004AAD"/>
                </a:solidFill>
                <a:latin typeface="Montserrat"/>
                <a:ea typeface="Montserrat"/>
                <a:cs typeface="Montserrat"/>
                <a:sym typeface="Montserrat"/>
              </a:rPr>
              <a:t>“Where process meets industry connectivity”</a:t>
            </a:r>
            <a:endParaRPr sz="800" dirty="0"/>
          </a:p>
        </p:txBody>
      </p:sp>
      <p:sp>
        <p:nvSpPr>
          <p:cNvPr id="173" name="Google Shape;173;p7"/>
          <p:cNvSpPr txBox="1"/>
          <p:nvPr/>
        </p:nvSpPr>
        <p:spPr>
          <a:xfrm>
            <a:off x="7837510" y="6667673"/>
            <a:ext cx="10248899" cy="2954655"/>
          </a:xfrm>
          <a:prstGeom prst="rect">
            <a:avLst/>
          </a:prstGeom>
          <a:noFill/>
          <a:ln>
            <a:noFill/>
          </a:ln>
        </p:spPr>
        <p:txBody>
          <a:bodyPr spcFirstLastPara="1" wrap="square" lIns="0" tIns="0" rIns="0" bIns="0" anchor="t" anchorCtr="0">
            <a:spAutoFit/>
          </a:bodyPr>
          <a:lstStyle/>
          <a:p>
            <a:pPr lvl="0" algn="ctr"/>
            <a:r>
              <a:rPr lang="en-US" sz="4800" b="1" dirty="0">
                <a:solidFill>
                  <a:srgbClr val="0B5394"/>
                </a:solidFill>
                <a:latin typeface="Montserrat"/>
                <a:ea typeface="Montserrat"/>
                <a:cs typeface="Montserrat"/>
                <a:sym typeface="Montserrat"/>
              </a:rPr>
              <a:t>Developed for “You”, the owner, entrepreneur, operator, the agent in charge of a facility or process, the practitioner</a:t>
            </a:r>
            <a:endParaRPr lang="en-US" sz="5400" b="1" dirty="0"/>
          </a:p>
        </p:txBody>
      </p:sp>
      <p:sp>
        <p:nvSpPr>
          <p:cNvPr id="174" name="Google Shape;174;p7"/>
          <p:cNvSpPr/>
          <p:nvPr/>
        </p:nvSpPr>
        <p:spPr>
          <a:xfrm rot="1082301">
            <a:off x="-5072607" y="6650746"/>
            <a:ext cx="11928886" cy="8231043"/>
          </a:xfrm>
          <a:custGeom>
            <a:avLst/>
            <a:gdLst/>
            <a:ahLst/>
            <a:cxnLst/>
            <a:rect l="l" t="t" r="r" b="b"/>
            <a:pathLst>
              <a:path w="11928886" h="8231043" extrusionOk="0">
                <a:moveTo>
                  <a:pt x="0" y="0"/>
                </a:moveTo>
                <a:lnTo>
                  <a:pt x="11928886" y="0"/>
                </a:lnTo>
                <a:lnTo>
                  <a:pt x="11928886" y="8231043"/>
                </a:lnTo>
                <a:lnTo>
                  <a:pt x="0" y="8231043"/>
                </a:lnTo>
                <a:lnTo>
                  <a:pt x="0" y="0"/>
                </a:lnTo>
                <a:close/>
              </a:path>
            </a:pathLst>
          </a:custGeom>
          <a:blipFill rotWithShape="1">
            <a:blip r:embed="rId5">
              <a:alphaModFix amt="50000"/>
            </a:blip>
            <a:stretch>
              <a:fillRect/>
            </a:stretch>
          </a:blipFill>
          <a:ln>
            <a:noFill/>
          </a:ln>
        </p:spPr>
      </p:sp>
      <p:pic>
        <p:nvPicPr>
          <p:cNvPr id="25" name="Google Shape;184;p30"/>
          <p:cNvPicPr preferRelativeResize="0"/>
          <p:nvPr/>
        </p:nvPicPr>
        <p:blipFill>
          <a:blip r:embed="rId6">
            <a:alphaModFix/>
          </a:blip>
          <a:stretch>
            <a:fillRect/>
          </a:stretch>
        </p:blipFill>
        <p:spPr>
          <a:xfrm>
            <a:off x="1733550" y="2272440"/>
            <a:ext cx="14801850" cy="508086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p:nvPr/>
        </p:nvSpPr>
        <p:spPr>
          <a:xfrm rot="-4073461">
            <a:off x="-9281994" y="-4887821"/>
            <a:ext cx="17617704" cy="17617704"/>
          </a:xfrm>
          <a:custGeom>
            <a:avLst/>
            <a:gdLst/>
            <a:ahLst/>
            <a:cxnLst/>
            <a:rect l="l" t="t" r="r" b="b"/>
            <a:pathLst>
              <a:path w="17617704" h="17617704" extrusionOk="0">
                <a:moveTo>
                  <a:pt x="0" y="0"/>
                </a:moveTo>
                <a:lnTo>
                  <a:pt x="17617703" y="0"/>
                </a:lnTo>
                <a:lnTo>
                  <a:pt x="17617703" y="17617703"/>
                </a:lnTo>
                <a:lnTo>
                  <a:pt x="0" y="17617703"/>
                </a:lnTo>
                <a:lnTo>
                  <a:pt x="0" y="0"/>
                </a:lnTo>
                <a:close/>
              </a:path>
            </a:pathLst>
          </a:custGeom>
          <a:blipFill rotWithShape="1">
            <a:blip r:embed="rId3">
              <a:alphaModFix amt="35000"/>
            </a:blip>
            <a:stretch>
              <a:fillRect/>
            </a:stretch>
          </a:blipFill>
          <a:ln>
            <a:noFill/>
          </a:ln>
        </p:spPr>
      </p:sp>
      <p:sp>
        <p:nvSpPr>
          <p:cNvPr id="183" name="Google Shape;183;p8"/>
          <p:cNvSpPr/>
          <p:nvPr/>
        </p:nvSpPr>
        <p:spPr>
          <a:xfrm rot="-5400000" flipH="1">
            <a:off x="8778703" y="-4549008"/>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7" name="Google Shape;191;p31"/>
          <p:cNvPicPr preferRelativeResize="0"/>
          <p:nvPr/>
        </p:nvPicPr>
        <p:blipFill>
          <a:blip r:embed="rId5">
            <a:alphaModFix/>
          </a:blip>
          <a:stretch>
            <a:fillRect/>
          </a:stretch>
        </p:blipFill>
        <p:spPr>
          <a:xfrm>
            <a:off x="4768312" y="350326"/>
            <a:ext cx="6019800" cy="2990850"/>
          </a:xfrm>
          <a:prstGeom prst="rect">
            <a:avLst/>
          </a:prstGeom>
          <a:noFill/>
          <a:ln>
            <a:noFill/>
          </a:ln>
        </p:spPr>
      </p:pic>
      <p:sp>
        <p:nvSpPr>
          <p:cNvPr id="8" name="Google Shape;189;p31"/>
          <p:cNvSpPr txBox="1">
            <a:spLocks/>
          </p:cNvSpPr>
          <p:nvPr/>
        </p:nvSpPr>
        <p:spPr>
          <a:xfrm>
            <a:off x="133350" y="2764709"/>
            <a:ext cx="17297400" cy="669997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40970" lvl="0">
              <a:lnSpc>
                <a:spcPct val="150000"/>
              </a:lnSpc>
              <a:buClr>
                <a:srgbClr val="FFFFFF"/>
              </a:buClr>
              <a:buSzPts val="1380"/>
            </a:pPr>
            <a:endParaRPr lang="en-SG" sz="2400" dirty="0">
              <a:solidFill>
                <a:schemeClr val="tx1"/>
              </a:solidFill>
              <a:latin typeface="Merriweather"/>
              <a:sym typeface="Merriweather"/>
            </a:endParaRPr>
          </a:p>
        </p:txBody>
      </p:sp>
      <p:sp>
        <p:nvSpPr>
          <p:cNvPr id="2" name="TextBox 1"/>
          <p:cNvSpPr txBox="1"/>
          <p:nvPr/>
        </p:nvSpPr>
        <p:spPr>
          <a:xfrm>
            <a:off x="602246" y="3069509"/>
            <a:ext cx="17012654" cy="9510296"/>
          </a:xfrm>
          <a:prstGeom prst="rect">
            <a:avLst/>
          </a:prstGeom>
          <a:noFill/>
        </p:spPr>
        <p:txBody>
          <a:bodyPr wrap="square" numCol="2" rtlCol="0">
            <a:spAutoFit/>
          </a:bodyPr>
          <a:lstStyle/>
          <a:p>
            <a:pPr marL="285750" indent="-285750">
              <a:buFont typeface="Arial" pitchFamily="34" charset="0"/>
              <a:buChar char="•"/>
            </a:pPr>
            <a:r>
              <a:rPr lang="en-SG" sz="3200" dirty="0"/>
              <a:t>Compliance Dashboard Module</a:t>
            </a:r>
          </a:p>
          <a:p>
            <a:pPr marL="285750" indent="-285750">
              <a:buFont typeface="Arial" pitchFamily="34" charset="0"/>
              <a:buChar char="•"/>
            </a:pPr>
            <a:r>
              <a:rPr lang="en-SG" sz="3200" dirty="0"/>
              <a:t>HR Management Module</a:t>
            </a:r>
          </a:p>
          <a:p>
            <a:pPr marL="285750" indent="-285750">
              <a:buFont typeface="Arial" pitchFamily="34" charset="0"/>
              <a:buChar char="•"/>
            </a:pPr>
            <a:r>
              <a:rPr lang="en-SG" sz="3200" dirty="0"/>
              <a:t>Facility Management Module</a:t>
            </a:r>
          </a:p>
          <a:p>
            <a:pPr marL="285750" indent="-285750">
              <a:buFont typeface="Arial" pitchFamily="34" charset="0"/>
              <a:buChar char="•"/>
            </a:pPr>
            <a:r>
              <a:rPr lang="en-SG" sz="3200" dirty="0"/>
              <a:t>Supplier Management Module</a:t>
            </a:r>
          </a:p>
          <a:p>
            <a:pPr marL="285750" indent="-285750">
              <a:buFont typeface="Arial" pitchFamily="34" charset="0"/>
              <a:buChar char="•"/>
            </a:pPr>
            <a:r>
              <a:rPr lang="en-SG" sz="3200" dirty="0"/>
              <a:t>Customer Management  Module</a:t>
            </a:r>
          </a:p>
          <a:p>
            <a:pPr marL="285750" indent="-285750">
              <a:buFont typeface="Arial" pitchFamily="34" charset="0"/>
              <a:buChar char="•"/>
            </a:pPr>
            <a:r>
              <a:rPr lang="en-SG" sz="3200" dirty="0"/>
              <a:t>Products/Services Directory Module</a:t>
            </a:r>
          </a:p>
          <a:p>
            <a:pPr marL="285750" indent="-285750">
              <a:buFont typeface="Arial" pitchFamily="34" charset="0"/>
              <a:buChar char="•"/>
            </a:pPr>
            <a:r>
              <a:rPr lang="en-SG" sz="3200" dirty="0"/>
              <a:t>Enterprise Module</a:t>
            </a:r>
          </a:p>
          <a:p>
            <a:pPr marL="285750" indent="-285750">
              <a:buFont typeface="Arial" pitchFamily="34" charset="0"/>
              <a:buChar char="•"/>
            </a:pPr>
            <a:r>
              <a:rPr lang="en-SG" sz="3200" dirty="0"/>
              <a:t>Job Ticket Module</a:t>
            </a:r>
          </a:p>
          <a:p>
            <a:pPr marL="285750" indent="-285750">
              <a:buFont typeface="Arial" pitchFamily="34" charset="0"/>
              <a:buChar char="•"/>
            </a:pPr>
            <a:r>
              <a:rPr lang="en-SG" sz="3200" dirty="0"/>
              <a:t>Library Module</a:t>
            </a:r>
          </a:p>
          <a:p>
            <a:pPr marL="285750" indent="-285750">
              <a:buFont typeface="Arial" pitchFamily="34" charset="0"/>
              <a:buChar char="•"/>
            </a:pPr>
            <a:r>
              <a:rPr lang="en-SG" sz="3200" dirty="0"/>
              <a:t>Archive </a:t>
            </a:r>
            <a:r>
              <a:rPr lang="en-SG" sz="3200" dirty="0" smtClean="0"/>
              <a:t>Module</a:t>
            </a:r>
            <a:endParaRPr lang="en-SG" sz="3200" dirty="0"/>
          </a:p>
          <a:p>
            <a:pPr marL="285750" indent="-285750">
              <a:buFont typeface="Arial" pitchFamily="34" charset="0"/>
              <a:buChar char="•"/>
            </a:pPr>
            <a:r>
              <a:rPr lang="en-SG" sz="3200" dirty="0"/>
              <a:t>Crisis Management </a:t>
            </a:r>
            <a:r>
              <a:rPr lang="en-SG" sz="3200" dirty="0" smtClean="0"/>
              <a:t>Module</a:t>
            </a:r>
          </a:p>
          <a:p>
            <a:pPr marL="285750" indent="-285750">
              <a:buFont typeface="Arial" pitchFamily="34" charset="0"/>
              <a:buChar char="•"/>
            </a:pPr>
            <a:r>
              <a:rPr lang="en-SG" sz="3200" dirty="0"/>
              <a:t>Meeting Minutes </a:t>
            </a:r>
            <a:r>
              <a:rPr lang="en-SG" sz="3200" dirty="0" smtClean="0"/>
              <a:t>Module</a:t>
            </a:r>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SG" sz="3200" dirty="0" smtClean="0"/>
          </a:p>
          <a:p>
            <a:pPr marL="285750" indent="-285750">
              <a:buFont typeface="Arial" pitchFamily="34" charset="0"/>
              <a:buChar char="•"/>
            </a:pPr>
            <a:r>
              <a:rPr lang="en-SG" sz="3200" dirty="0" smtClean="0"/>
              <a:t>Records </a:t>
            </a:r>
            <a:r>
              <a:rPr lang="en-SG" sz="3200" dirty="0"/>
              <a:t>Verification Management Module</a:t>
            </a:r>
          </a:p>
          <a:p>
            <a:pPr marL="285750" indent="-285750">
              <a:buFont typeface="Arial" pitchFamily="34" charset="0"/>
              <a:buChar char="•"/>
            </a:pPr>
            <a:r>
              <a:rPr lang="en-SG" sz="3200" dirty="0"/>
              <a:t>Food Fraud Vulnerability Assessment </a:t>
            </a:r>
            <a:endParaRPr lang="en-SG" sz="3200" dirty="0" smtClean="0"/>
          </a:p>
          <a:p>
            <a:pPr marL="285750" indent="-285750">
              <a:buFont typeface="Arial" pitchFamily="34" charset="0"/>
              <a:buChar char="•"/>
            </a:pPr>
            <a:r>
              <a:rPr lang="en-SG" sz="3200" dirty="0" smtClean="0"/>
              <a:t>(</a:t>
            </a:r>
            <a:r>
              <a:rPr lang="en-SG" sz="3200" dirty="0"/>
              <a:t>FFVA) </a:t>
            </a:r>
            <a:r>
              <a:rPr lang="en-SG" sz="3200" dirty="0" smtClean="0"/>
              <a:t>Management Module</a:t>
            </a:r>
          </a:p>
          <a:p>
            <a:pPr marL="285750" indent="-285750">
              <a:buFont typeface="Arial" pitchFamily="34" charset="0"/>
              <a:buChar char="•"/>
            </a:pPr>
            <a:r>
              <a:rPr lang="en-SG" sz="3200" dirty="0" smtClean="0"/>
              <a:t>Internal </a:t>
            </a:r>
            <a:r>
              <a:rPr lang="en-SG" sz="3200" dirty="0"/>
              <a:t>Audit (IA) Management Module</a:t>
            </a:r>
          </a:p>
          <a:p>
            <a:pPr marL="285750" indent="-285750">
              <a:buFont typeface="Arial" pitchFamily="34" charset="0"/>
              <a:buChar char="•"/>
            </a:pPr>
            <a:r>
              <a:rPr lang="en-SG" sz="3200" dirty="0" err="1"/>
              <a:t>MyPro</a:t>
            </a:r>
            <a:r>
              <a:rPr lang="en-SG" sz="3200" dirty="0"/>
              <a:t> Management Module</a:t>
            </a:r>
          </a:p>
          <a:p>
            <a:pPr marL="285750" indent="-285750">
              <a:buFont typeface="Arial" pitchFamily="34" charset="0"/>
              <a:buChar char="•"/>
            </a:pPr>
            <a:r>
              <a:rPr lang="en-SG" sz="3200" dirty="0"/>
              <a:t>Preventive Maintenance Program (PMP) Management Module.</a:t>
            </a:r>
          </a:p>
          <a:p>
            <a:pPr marL="285750" indent="-285750">
              <a:buFont typeface="Arial" pitchFamily="34" charset="0"/>
              <a:buChar char="•"/>
            </a:pPr>
            <a:endParaRPr lang="en-SG"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p:nvPr/>
        </p:nvSpPr>
        <p:spPr>
          <a:xfrm rot="6144593">
            <a:off x="8023448" y="-2009860"/>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189" name="Google Shape;189;p9"/>
          <p:cNvSpPr/>
          <p:nvPr/>
        </p:nvSpPr>
        <p:spPr>
          <a:xfrm rot="4662819">
            <a:off x="8489744" y="-2841143"/>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4">
              <a:alphaModFix amt="50000"/>
            </a:blip>
            <a:stretch>
              <a:fillRect/>
            </a:stretch>
          </a:blipFill>
          <a:ln>
            <a:noFill/>
          </a:ln>
        </p:spPr>
      </p:sp>
      <p:sp>
        <p:nvSpPr>
          <p:cNvPr id="200" name="Google Shape;200;p9"/>
          <p:cNvSpPr/>
          <p:nvPr/>
        </p:nvSpPr>
        <p:spPr>
          <a:xfrm rot="8905814" flipH="1">
            <a:off x="-4266374" y="6074235"/>
            <a:ext cx="11300655" cy="9184351"/>
          </a:xfrm>
          <a:custGeom>
            <a:avLst/>
            <a:gdLst/>
            <a:ahLst/>
            <a:cxnLst/>
            <a:rect l="l" t="t" r="r" b="b"/>
            <a:pathLst>
              <a:path w="11300655" h="9184351" extrusionOk="0">
                <a:moveTo>
                  <a:pt x="11300655" y="0"/>
                </a:moveTo>
                <a:lnTo>
                  <a:pt x="0" y="0"/>
                </a:lnTo>
                <a:lnTo>
                  <a:pt x="0" y="9184351"/>
                </a:lnTo>
                <a:lnTo>
                  <a:pt x="11300655" y="9184351"/>
                </a:lnTo>
                <a:lnTo>
                  <a:pt x="11300655" y="0"/>
                </a:lnTo>
                <a:close/>
              </a:path>
            </a:pathLst>
          </a:custGeom>
          <a:blipFill rotWithShape="1">
            <a:blip r:embed="rId5">
              <a:alphaModFix amt="50000"/>
            </a:blip>
            <a:stretch>
              <a:fillRect/>
            </a:stretch>
          </a:blipFill>
          <a:ln>
            <a:noFill/>
          </a:ln>
        </p:spPr>
      </p:sp>
      <p:sp>
        <p:nvSpPr>
          <p:cNvPr id="23" name="Google Shape;196;p32"/>
          <p:cNvSpPr txBox="1">
            <a:spLocks/>
          </p:cNvSpPr>
          <p:nvPr/>
        </p:nvSpPr>
        <p:spPr>
          <a:xfrm>
            <a:off x="311724" y="952299"/>
            <a:ext cx="8290499" cy="284341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n-US" sz="2400" i="1" dirty="0" smtClean="0">
                <a:latin typeface="Montserrat"/>
                <a:ea typeface="Montserrat"/>
                <a:cs typeface="Montserrat"/>
                <a:sym typeface="Montserrat"/>
              </a:rPr>
              <a:t>Unlimited system users (except for </a:t>
            </a:r>
            <a:r>
              <a:rPr lang="en-US" sz="2400" i="1" dirty="0" err="1" smtClean="0">
                <a:latin typeface="Montserrat"/>
                <a:ea typeface="Montserrat"/>
                <a:cs typeface="Montserrat"/>
                <a:sym typeface="Montserrat"/>
              </a:rPr>
              <a:t>MyPro</a:t>
            </a:r>
            <a:r>
              <a:rPr lang="en-US" sz="2400" i="1" dirty="0" smtClean="0">
                <a:latin typeface="Montserrat"/>
                <a:ea typeface="Montserrat"/>
                <a:cs typeface="Montserrat"/>
                <a:sym typeface="Montserrat"/>
              </a:rPr>
              <a:t> Management Module) – Customer, Supplier, and Employees Coaching, Navigation and Mentorship </a:t>
            </a:r>
            <a:r>
              <a:rPr lang="en-US" sz="2400" b="1" i="1" dirty="0" smtClean="0">
                <a:latin typeface="Montserrat"/>
                <a:ea typeface="Montserrat"/>
                <a:cs typeface="Montserrat"/>
                <a:sym typeface="Montserrat"/>
              </a:rPr>
              <a:t>- Developed by IT Blaster</a:t>
            </a:r>
            <a:endParaRPr lang="en-US" sz="1600" dirty="0"/>
          </a:p>
        </p:txBody>
      </p:sp>
      <p:pic>
        <p:nvPicPr>
          <p:cNvPr id="24" name="Google Shape;199;p32"/>
          <p:cNvPicPr preferRelativeResize="0"/>
          <p:nvPr/>
        </p:nvPicPr>
        <p:blipFill>
          <a:blip r:embed="rId6">
            <a:alphaModFix/>
          </a:blip>
          <a:stretch>
            <a:fillRect/>
          </a:stretch>
        </p:blipFill>
        <p:spPr>
          <a:xfrm>
            <a:off x="164686" y="3760719"/>
            <a:ext cx="7351685" cy="6076546"/>
          </a:xfrm>
          <a:prstGeom prst="rect">
            <a:avLst/>
          </a:prstGeom>
          <a:ln w="38100" cap="sq">
            <a:noFill/>
            <a:prstDash val="solid"/>
            <a:miter lim="800000"/>
          </a:ln>
          <a:effectLst>
            <a:outerShdw blurRad="50800" dist="38100" dir="2700000" algn="tl" rotWithShape="0">
              <a:srgbClr val="000000">
                <a:alpha val="43000"/>
              </a:srgbClr>
            </a:outerShdw>
          </a:effectLst>
        </p:spPr>
      </p:pic>
      <p:pic>
        <p:nvPicPr>
          <p:cNvPr id="25" name="Google Shape;198;p32"/>
          <p:cNvPicPr preferRelativeResize="0"/>
          <p:nvPr/>
        </p:nvPicPr>
        <p:blipFill>
          <a:blip r:embed="rId7">
            <a:alphaModFix/>
          </a:blip>
          <a:stretch>
            <a:fillRect/>
          </a:stretch>
        </p:blipFill>
        <p:spPr>
          <a:xfrm>
            <a:off x="9441238" y="313853"/>
            <a:ext cx="7894261" cy="2975842"/>
          </a:xfrm>
          <a:prstGeom prst="rect">
            <a:avLst/>
          </a:prstGeom>
          <a:noFill/>
          <a:ln>
            <a:noFill/>
          </a:ln>
        </p:spPr>
      </p:pic>
      <p:sp>
        <p:nvSpPr>
          <p:cNvPr id="26" name="Google Shape;197;p32"/>
          <p:cNvSpPr txBox="1">
            <a:spLocks/>
          </p:cNvSpPr>
          <p:nvPr/>
        </p:nvSpPr>
        <p:spPr>
          <a:xfrm>
            <a:off x="9221968" y="2744116"/>
            <a:ext cx="8475482" cy="725713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5912">
              <a:lnSpc>
                <a:spcPct val="150000"/>
              </a:lnSpc>
              <a:spcBef>
                <a:spcPts val="1200"/>
              </a:spcBef>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Corrective Action Preventive Action Management (CAPAM)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CRM - Customer Relationship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Environmental/Pathogen Monitoring Management</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Sanitation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Inventory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Formula / Recipe Management Module</a:t>
            </a:r>
            <a:endParaRPr lang="en-SG" sz="2800" dirty="0">
              <a:solidFill>
                <a:schemeClr val="tx1"/>
              </a:solidFill>
              <a:latin typeface="Montserrat" charset="0"/>
              <a:ea typeface="Merriweather"/>
              <a:cs typeface="Merriweather"/>
              <a:sym typeface="Merriweathe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p:nvPr/>
        </p:nvSpPr>
        <p:spPr>
          <a:xfrm rot="-1930669">
            <a:off x="-7971294" y="-10725049"/>
            <a:ext cx="18539921" cy="18539921"/>
          </a:xfrm>
          <a:custGeom>
            <a:avLst/>
            <a:gdLst/>
            <a:ahLst/>
            <a:cxnLst/>
            <a:rect l="l" t="t" r="r" b="b"/>
            <a:pathLst>
              <a:path w="18539921" h="18539921" extrusionOk="0">
                <a:moveTo>
                  <a:pt x="0" y="0"/>
                </a:moveTo>
                <a:lnTo>
                  <a:pt x="18539921" y="0"/>
                </a:lnTo>
                <a:lnTo>
                  <a:pt x="18539921" y="18539921"/>
                </a:lnTo>
                <a:lnTo>
                  <a:pt x="0" y="18539921"/>
                </a:lnTo>
                <a:lnTo>
                  <a:pt x="0" y="0"/>
                </a:lnTo>
                <a:close/>
              </a:path>
            </a:pathLst>
          </a:custGeom>
          <a:blipFill rotWithShape="1">
            <a:blip r:embed="rId3">
              <a:alphaModFix amt="35000"/>
            </a:blip>
            <a:stretch>
              <a:fillRect/>
            </a:stretch>
          </a:blipFill>
          <a:ln>
            <a:noFill/>
          </a:ln>
        </p:spPr>
      </p:sp>
      <p:sp>
        <p:nvSpPr>
          <p:cNvPr id="217" name="Google Shape;217;p10"/>
          <p:cNvSpPr/>
          <p:nvPr/>
        </p:nvSpPr>
        <p:spPr>
          <a:xfrm rot="5242519" flipH="1">
            <a:off x="-1194419" y="738303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15" name="Google Shape;206;p33"/>
          <p:cNvPicPr preferRelativeResize="0"/>
          <p:nvPr/>
        </p:nvPicPr>
        <p:blipFill>
          <a:blip r:embed="rId5">
            <a:alphaModFix/>
          </a:blip>
          <a:stretch>
            <a:fillRect/>
          </a:stretch>
        </p:blipFill>
        <p:spPr>
          <a:xfrm>
            <a:off x="8973210" y="133350"/>
            <a:ext cx="9181440" cy="10058400"/>
          </a:xfrm>
          <a:prstGeom prst="rect">
            <a:avLst/>
          </a:prstGeom>
          <a:noFill/>
          <a:ln>
            <a:noFill/>
          </a:ln>
        </p:spPr>
      </p:pic>
      <p:sp>
        <p:nvSpPr>
          <p:cNvPr id="16" name="Google Shape;204;p33"/>
          <p:cNvSpPr txBox="1">
            <a:spLocks/>
          </p:cNvSpPr>
          <p:nvPr/>
        </p:nvSpPr>
        <p:spPr>
          <a:xfrm>
            <a:off x="578424" y="400050"/>
            <a:ext cx="9289476" cy="95059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5400" dirty="0" smtClean="0">
              <a:latin typeface="Montserrat" charset="0"/>
              <a:ea typeface="Montserrat"/>
              <a:cs typeface="Montserrat"/>
              <a:sym typeface="Montserrat"/>
            </a:endParaRPr>
          </a:p>
          <a:p>
            <a:endParaRPr lang="en-US" sz="5400" dirty="0" smtClean="0">
              <a:latin typeface="Montserrat" charset="0"/>
              <a:ea typeface="Montserrat"/>
              <a:cs typeface="Montserrat"/>
              <a:sym typeface="Montserrat"/>
            </a:endParaRPr>
          </a:p>
          <a:p>
            <a:endParaRPr lang="en-US" sz="5400" dirty="0">
              <a:latin typeface="Montserrat" charset="0"/>
              <a:ea typeface="Montserrat"/>
              <a:cs typeface="Montserrat"/>
              <a:sym typeface="Montserrat"/>
            </a:endParaRPr>
          </a:p>
          <a:p>
            <a:r>
              <a:rPr lang="en-US" sz="5400" dirty="0" smtClean="0">
                <a:latin typeface="Montserrat" charset="0"/>
                <a:ea typeface="Montserrat"/>
                <a:cs typeface="Montserrat"/>
                <a:sym typeface="Montserrat"/>
              </a:rPr>
              <a:t>Provides end-to-end managed services that meets your expectations and deliverables</a:t>
            </a:r>
            <a:endParaRPr lang="en-US" sz="5400" dirty="0" smtClean="0">
              <a:latin typeface="Montserrat" charset="0"/>
              <a:ea typeface="Roboto"/>
              <a:cs typeface="Roboto"/>
              <a:sym typeface="Roboto"/>
            </a:endParaRPr>
          </a:p>
          <a:p>
            <a:endParaRPr lang="en-US" sz="5400" dirty="0">
              <a:latin typeface="Montserrat" charset="0"/>
            </a:endParaRPr>
          </a:p>
        </p:txBody>
      </p:sp>
      <p:sp>
        <p:nvSpPr>
          <p:cNvPr id="17" name="Google Shape;189;p9"/>
          <p:cNvSpPr/>
          <p:nvPr/>
        </p:nvSpPr>
        <p:spPr>
          <a:xfrm rot="1885945">
            <a:off x="1903566" y="-3442579"/>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542329" y="1132582"/>
            <a:ext cx="12331712" cy="1077218"/>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IT BLASTER </a:t>
            </a:r>
            <a:endParaRPr sz="7000" dirty="0">
              <a:latin typeface="Barlow"/>
            </a:endParaRPr>
          </a:p>
        </p:txBody>
      </p:sp>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047750" y="2209800"/>
            <a:ext cx="14020800" cy="7639050"/>
          </a:xfrm>
          <a:prstGeom prst="rect">
            <a:avLst/>
          </a:prstGeom>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Application Development</a:t>
            </a:r>
          </a:p>
          <a:p>
            <a:pPr marL="457200" indent="-307022">
              <a:lnSpc>
                <a:spcPct val="150000"/>
              </a:lnSpc>
              <a:buClr>
                <a:srgbClr val="2E2E2E"/>
              </a:buClr>
              <a:buSzPct val="100000"/>
              <a:buFont typeface="Arial"/>
              <a:buChar char="•"/>
            </a:pPr>
            <a:r>
              <a:rPr lang="en-SG" sz="2800" dirty="0" err="1" smtClean="0">
                <a:solidFill>
                  <a:srgbClr val="2E2E2E"/>
                </a:solidFill>
                <a:latin typeface="Montserrat" charset="0"/>
                <a:ea typeface="Montserrat"/>
                <a:cs typeface="Montserrat"/>
                <a:sym typeface="Montserrat"/>
              </a:rPr>
              <a:t>Cybersecurity</a:t>
            </a:r>
            <a:r>
              <a:rPr lang="en-SG" sz="2800" dirty="0" smtClean="0">
                <a:solidFill>
                  <a:srgbClr val="2E2E2E"/>
                </a:solidFill>
                <a:latin typeface="Montserrat" charset="0"/>
                <a:ea typeface="Montserrat"/>
                <a:cs typeface="Montserrat"/>
                <a:sym typeface="Montserrat"/>
              </a:rPr>
              <a:t> Support Services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Database Management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 Protection &amp; Strategy</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E-Commerce Development &amp; Maintenance (</a:t>
            </a:r>
            <a:r>
              <a:rPr lang="en-SG" sz="2800" dirty="0" err="1" smtClean="0">
                <a:solidFill>
                  <a:srgbClr val="2E2E2E"/>
                </a:solidFill>
                <a:latin typeface="Montserrat" charset="0"/>
                <a:ea typeface="Montserrat"/>
                <a:cs typeface="Montserrat"/>
                <a:sym typeface="Montserrat"/>
              </a:rPr>
              <a:t>Shopify</a:t>
            </a:r>
            <a:r>
              <a:rPr lang="en-SG" sz="2800" dirty="0" smtClean="0">
                <a:solidFill>
                  <a:srgbClr val="2E2E2E"/>
                </a:solidFill>
                <a:latin typeface="Montserrat" charset="0"/>
                <a:ea typeface="Montserrat"/>
                <a:cs typeface="Montserrat"/>
                <a:sym typeface="Montserrat"/>
              </a:rPr>
              <a:t>, etc.)</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Infrastructure Development &amp; Development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Internet of Things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IT Architecture</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Help Desk </a:t>
            </a:r>
            <a:r>
              <a:rPr lang="en-US" sz="2800" dirty="0" smtClean="0">
                <a:solidFill>
                  <a:srgbClr val="2E2E2E"/>
                </a:solidFill>
                <a:latin typeface="Montserrat" charset="0"/>
                <a:ea typeface="Montserrat"/>
                <a:cs typeface="Montserrat"/>
                <a:sym typeface="Montserrat"/>
              </a:rPr>
              <a:t>Support</a:t>
            </a:r>
            <a:endParaRPr lang="en-US" sz="2800" dirty="0">
              <a:solidFill>
                <a:srgbClr val="2E2E2E"/>
              </a:solidFill>
              <a:latin typeface="Montserrat" charset="0"/>
              <a:ea typeface="Montserrat"/>
              <a:cs typeface="Montserrat"/>
              <a:sym typeface="Montserrat"/>
            </a:endParaRP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Maintenance &amp;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Project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Staff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System Engineering Software Development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Technical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SEO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Website Development &amp; Deployment</a:t>
            </a:r>
          </a:p>
          <a:p>
            <a:pPr lvl="0">
              <a:spcAft>
                <a:spcPts val="1200"/>
              </a:spcAft>
            </a:pPr>
            <a:endParaRPr lang="en-US" sz="2800" dirty="0">
              <a:latin typeface="Montserrat" charset="0"/>
            </a:endParaRPr>
          </a:p>
          <a:p>
            <a:pPr marL="457200" indent="-307022">
              <a:lnSpc>
                <a:spcPct val="150000"/>
              </a:lnSpc>
              <a:buClr>
                <a:srgbClr val="2E2E2E"/>
              </a:buClr>
              <a:buSzPct val="100000"/>
              <a:buFont typeface="Arial"/>
              <a:buChar char="•"/>
            </a:pPr>
            <a:endParaRPr lang="en-SG" sz="2800" dirty="0" smtClean="0">
              <a:solidFill>
                <a:srgbClr val="2E2E2E"/>
              </a:solidFill>
              <a:latin typeface="Montserrat" charset="0"/>
              <a:ea typeface="Montserrat"/>
              <a:cs typeface="Montserrat"/>
              <a:sym typeface="Montserrat"/>
            </a:endParaRPr>
          </a:p>
          <a:p>
            <a:pPr>
              <a:spcAft>
                <a:spcPts val="1200"/>
              </a:spcAft>
            </a:pPr>
            <a:endParaRPr lang="en-SG" sz="2800" dirty="0">
              <a:latin typeface="Montserrat" charset="0"/>
            </a:endParaRPr>
          </a:p>
        </p:txBody>
      </p:sp>
      <p:sp>
        <p:nvSpPr>
          <p:cNvPr id="8" name="Google Shape;189;p9"/>
          <p:cNvSpPr/>
          <p:nvPr/>
        </p:nvSpPr>
        <p:spPr>
          <a:xfrm rot="2464099">
            <a:off x="-6638914" y="-473083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9" name="Google Shape;214;p34"/>
          <p:cNvPicPr preferRelativeResize="0"/>
          <p:nvPr/>
        </p:nvPicPr>
        <p:blipFill>
          <a:blip r:embed="rId6">
            <a:alphaModFix/>
          </a:blip>
          <a:stretch>
            <a:fillRect/>
          </a:stretch>
        </p:blipFill>
        <p:spPr>
          <a:xfrm>
            <a:off x="13487400" y="336623"/>
            <a:ext cx="4057650" cy="3746353"/>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8724900" y="495300"/>
            <a:ext cx="9353550" cy="933450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0178">
              <a:lnSpc>
                <a:spcPct val="150000"/>
              </a:lnSpc>
              <a:buClr>
                <a:srgbClr val="2E2E2E"/>
              </a:buClr>
              <a:buSzPct val="100000"/>
            </a:pPr>
            <a:endParaRPr lang="en-US" sz="4400" dirty="0" smtClean="0">
              <a:solidFill>
                <a:srgbClr val="2E2E2E"/>
              </a:solidFill>
              <a:latin typeface="Montserrat" charset="0"/>
              <a:ea typeface="Montserrat"/>
              <a:cs typeface="Montserrat"/>
              <a:sym typeface="Montserrat"/>
            </a:endParaRPr>
          </a:p>
          <a:p>
            <a:pPr marL="457200" indent="-307022">
              <a:lnSpc>
                <a:spcPct val="150000"/>
              </a:lnSpc>
              <a:buClr>
                <a:srgbClr val="2E2E2E"/>
              </a:buClr>
              <a:buSzPct val="100000"/>
              <a:buFont typeface="Arial"/>
              <a:buChar char="•"/>
            </a:pPr>
            <a:r>
              <a:rPr lang="en-US" sz="5400" dirty="0" smtClean="0">
                <a:solidFill>
                  <a:srgbClr val="2E2E2E"/>
                </a:solidFill>
                <a:latin typeface="Montserrat" charset="0"/>
                <a:ea typeface="Montserrat"/>
                <a:cs typeface="Montserrat"/>
                <a:sym typeface="Montserrat"/>
              </a:rPr>
              <a:t>One </a:t>
            </a:r>
            <a:r>
              <a:rPr lang="en-US" sz="5400" dirty="0">
                <a:solidFill>
                  <a:srgbClr val="2E2E2E"/>
                </a:solidFill>
                <a:latin typeface="Montserrat" charset="0"/>
                <a:ea typeface="Montserrat"/>
                <a:cs typeface="Montserrat"/>
                <a:sym typeface="Montserrat"/>
              </a:rPr>
              <a:t>Stop </a:t>
            </a:r>
            <a:r>
              <a:rPr lang="en-US" sz="5400" dirty="0" smtClean="0">
                <a:solidFill>
                  <a:srgbClr val="2E2E2E"/>
                </a:solidFill>
                <a:latin typeface="Montserrat" charset="0"/>
                <a:ea typeface="Montserrat"/>
                <a:cs typeface="Montserrat"/>
                <a:sym typeface="Montserrat"/>
              </a:rPr>
              <a:t>SOP Templates </a:t>
            </a:r>
            <a:r>
              <a:rPr lang="en-US" sz="5400" dirty="0">
                <a:solidFill>
                  <a:srgbClr val="2E2E2E"/>
                </a:solidFill>
                <a:latin typeface="Montserrat" charset="0"/>
                <a:ea typeface="Montserrat"/>
                <a:cs typeface="Montserrat"/>
                <a:sym typeface="Montserrat"/>
              </a:rPr>
              <a:t>Shop</a:t>
            </a:r>
          </a:p>
          <a:p>
            <a:pPr marL="607378" indent="-457200">
              <a:lnSpc>
                <a:spcPct val="150000"/>
              </a:lnSpc>
              <a:buClr>
                <a:srgbClr val="2E2E2E"/>
              </a:buClr>
              <a:buSzPct val="100000"/>
              <a:buFont typeface="Arial" pitchFamily="34" charset="0"/>
              <a:buChar char="•"/>
            </a:pPr>
            <a:r>
              <a:rPr lang="en-US" sz="5400" dirty="0">
                <a:solidFill>
                  <a:srgbClr val="2E2E2E"/>
                </a:solidFill>
                <a:latin typeface="Montserrat" charset="0"/>
                <a:ea typeface="Montserrat"/>
                <a:cs typeface="Montserrat"/>
                <a:sym typeface="Montserrat"/>
              </a:rPr>
              <a:t>Programs, Policies, SOPs, Forms, and Training Materials Customizable Templates</a:t>
            </a:r>
          </a:p>
        </p:txBody>
      </p:sp>
      <p:sp>
        <p:nvSpPr>
          <p:cNvPr id="8" name="Google Shape;189;p9"/>
          <p:cNvSpPr/>
          <p:nvPr/>
        </p:nvSpPr>
        <p:spPr>
          <a:xfrm rot="2464099">
            <a:off x="625631" y="-4884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10" name="Google Shape;221;p35"/>
          <p:cNvPicPr preferRelativeResize="0"/>
          <p:nvPr/>
        </p:nvPicPr>
        <p:blipFill>
          <a:blip r:embed="rId6">
            <a:alphaModFix/>
          </a:blip>
          <a:stretch>
            <a:fillRect/>
          </a:stretch>
        </p:blipFill>
        <p:spPr>
          <a:xfrm>
            <a:off x="371797" y="1345174"/>
            <a:ext cx="8924604" cy="7398775"/>
          </a:xfrm>
          <a:prstGeom prst="rect">
            <a:avLst/>
          </a:prstGeom>
          <a:noFill/>
          <a:ln>
            <a:noFill/>
          </a:ln>
        </p:spPr>
      </p:pic>
    </p:spTree>
    <p:extLst>
      <p:ext uri="{BB962C8B-B14F-4D97-AF65-F5344CB8AC3E}">
        <p14:creationId xmlns:p14="http://schemas.microsoft.com/office/powerpoint/2010/main" val="727248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12746" y="85965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a:t>
            </a:r>
            <a:r>
              <a:rPr lang="en-US" sz="7000" b="1" dirty="0" smtClean="0">
                <a:solidFill>
                  <a:srgbClr val="004AAD"/>
                </a:solidFill>
                <a:latin typeface="Barlow"/>
                <a:ea typeface="Montserrat"/>
                <a:cs typeface="Montserrat"/>
                <a:sym typeface="Montserrat"/>
              </a:rPr>
              <a:t>COMPLIANCE </a:t>
            </a:r>
            <a:r>
              <a:rPr lang="en-US" sz="7000" b="1" dirty="0">
                <a:solidFill>
                  <a:srgbClr val="004AAD"/>
                </a:solidFill>
                <a:latin typeface="Barlow"/>
                <a:ea typeface="Montserrat"/>
                <a:cs typeface="Montserrat"/>
                <a:sym typeface="Montserrat"/>
              </a:rPr>
              <a:t>SERVICES</a:t>
            </a:r>
            <a:endParaRPr sz="7000" dirty="0">
              <a:latin typeface="Barlow"/>
            </a:endParaRPr>
          </a:p>
        </p:txBody>
      </p:sp>
      <p:sp>
        <p:nvSpPr>
          <p:cNvPr id="248" name="Google Shape;248;p13"/>
          <p:cNvSpPr txBox="1"/>
          <p:nvPr/>
        </p:nvSpPr>
        <p:spPr>
          <a:xfrm>
            <a:off x="816428" y="3139608"/>
            <a:ext cx="16279585" cy="6555641"/>
          </a:xfrm>
          <a:prstGeom prst="rect">
            <a:avLst/>
          </a:prstGeom>
          <a:noFill/>
          <a:ln>
            <a:noFill/>
          </a:ln>
        </p:spPr>
        <p:txBody>
          <a:bodyPr spcFirstLastPara="1" wrap="square" lIns="0" tIns="0" rIns="0" bIns="0" anchor="t" anchorCtr="0">
            <a:spAutoFit/>
          </a:bodyPr>
          <a:lstStyle/>
          <a:p>
            <a:pPr lvl="0"/>
            <a:r>
              <a:rPr lang="en-US" sz="2400" b="1" u="sng" dirty="0">
                <a:solidFill>
                  <a:srgbClr val="2E2E2E"/>
                </a:solidFill>
                <a:latin typeface="Montserrat"/>
                <a:ea typeface="Montserrat"/>
                <a:cs typeface="Montserrat"/>
                <a:sym typeface="Montserrat"/>
              </a:rPr>
              <a:t>Set-Up</a:t>
            </a:r>
          </a:p>
          <a:p>
            <a:pPr lvl="0"/>
            <a:r>
              <a:rPr lang="en-US" sz="2200" dirty="0">
                <a:solidFill>
                  <a:srgbClr val="2E2E2E"/>
                </a:solidFill>
                <a:latin typeface="Montserrat"/>
                <a:ea typeface="Montserrat"/>
                <a:cs typeface="Montserrat"/>
                <a:sym typeface="Montserrat"/>
              </a:rPr>
              <a:t>Where we cover the complete set-up of your programs, policies, procedures, forms for record, and training material requirements development and customization for use in complying with the Compliance,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SOPKing.com</a:t>
            </a:r>
          </a:p>
          <a:p>
            <a:pPr lvl="0"/>
            <a:r>
              <a:rPr lang="en-US" sz="2200" dirty="0">
                <a:solidFill>
                  <a:srgbClr val="2E2E2E"/>
                </a:solidFill>
                <a:latin typeface="Montserrat"/>
                <a:ea typeface="Montserrat"/>
                <a:cs typeface="Montserrat"/>
                <a:sym typeface="Montserrat"/>
              </a:rPr>
              <a:t>Provides D-I-Y (Do It Yourself) templates for any process through Accreditation,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Software </a:t>
            </a:r>
          </a:p>
          <a:p>
            <a:pPr lvl="0"/>
            <a:r>
              <a:rPr lang="en-US" sz="2200" dirty="0" err="1">
                <a:solidFill>
                  <a:srgbClr val="2E2E2E"/>
                </a:solidFill>
                <a:latin typeface="Montserrat"/>
                <a:ea typeface="Montserrat"/>
                <a:cs typeface="Montserrat"/>
                <a:sym typeface="Montserrat"/>
              </a:rPr>
              <a:t>InterlinkIQ</a:t>
            </a:r>
            <a:r>
              <a:rPr lang="en-US" sz="2200" dirty="0">
                <a:solidFill>
                  <a:srgbClr val="2E2E2E"/>
                </a:solidFill>
                <a:latin typeface="Montserrat"/>
                <a:ea typeface="Montserrat"/>
                <a:cs typeface="Montserrat"/>
                <a:sym typeface="Montserrat"/>
              </a:rPr>
              <a:t> connects technologies and services that enable enterprises and users to interlink their activities and processes such as: Customer &amp; Supplier Requirements, Document Sharing, Inventory Management, Production Planning, Product Release, Formulation, Master Manufacturing Records, Traceability, Employees Assigned Duties, QC Forms, SOPs, Training Materials, and System Software.</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Services (End-to-End/ Support)</a:t>
            </a:r>
            <a:endParaRPr lang="en-US" sz="2200" b="1" u="sng" dirty="0">
              <a:solidFill>
                <a:srgbClr val="2E2E2E"/>
              </a:solidFill>
              <a:latin typeface="Montserrat"/>
              <a:ea typeface="Montserrat"/>
              <a:cs typeface="Montserrat"/>
              <a:sym typeface="Montserrat"/>
            </a:endParaRPr>
          </a:p>
          <a:p>
            <a:pPr lvl="0"/>
            <a:r>
              <a:rPr lang="en-US" sz="2200" dirty="0">
                <a:solidFill>
                  <a:srgbClr val="2E2E2E"/>
                </a:solidFill>
                <a:latin typeface="Montserrat"/>
                <a:ea typeface="Montserrat"/>
                <a:cs typeface="Montserrat"/>
                <a:sym typeface="Montserrat"/>
              </a:rPr>
              <a:t>Covers engagement on a monthly basis and is designed to provide full and support assistance in complying with Regulatory, Accreditation, and Certification requirements.</a:t>
            </a:r>
          </a:p>
          <a:p>
            <a:pPr lvl="0"/>
            <a:endParaRPr lang="en-US" sz="2200" dirty="0" err="1">
              <a:solidFill>
                <a:srgbClr val="2E2E2E"/>
              </a:solidFill>
              <a:latin typeface="Montserrat"/>
              <a:ea typeface="Montserrat"/>
              <a:cs typeface="Montserrat"/>
              <a:sym typeface="Montserrat"/>
            </a:endParaRPr>
          </a:p>
        </p:txBody>
      </p:sp>
      <p:sp>
        <p:nvSpPr>
          <p:cNvPr id="8" name="Google Shape;225;p11"/>
          <p:cNvSpPr/>
          <p:nvPr/>
        </p:nvSpPr>
        <p:spPr>
          <a:xfrm rot="8243363" flipH="1">
            <a:off x="-2153622" y="617684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616720"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4519551" y="-335836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5F3F7"/>
        </a:solidFill>
        <a:effectLst/>
      </p:bgPr>
    </p:bg>
    <p:spTree>
      <p:nvGrpSpPr>
        <p:cNvPr id="1" name="Shape 252"/>
        <p:cNvGrpSpPr/>
        <p:nvPr/>
      </p:nvGrpSpPr>
      <p:grpSpPr>
        <a:xfrm>
          <a:off x="0" y="0"/>
          <a:ext cx="0" cy="0"/>
          <a:chOff x="0" y="0"/>
          <a:chExt cx="0" cy="0"/>
        </a:xfrm>
      </p:grpSpPr>
      <p:sp>
        <p:nvSpPr>
          <p:cNvPr id="8" name="Google Shape;233;p37"/>
          <p:cNvSpPr txBox="1">
            <a:spLocks/>
          </p:cNvSpPr>
          <p:nvPr/>
        </p:nvSpPr>
        <p:spPr>
          <a:xfrm>
            <a:off x="1" y="202474"/>
            <a:ext cx="18287999" cy="13469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SG" sz="7000" b="1" u="sng" dirty="0" smtClean="0">
                <a:solidFill>
                  <a:srgbClr val="0070C0"/>
                </a:solidFill>
                <a:latin typeface="Barlow"/>
              </a:rPr>
              <a:t>OUR TEAM</a:t>
            </a:r>
            <a:endParaRPr lang="en-SG" sz="7000" b="1" u="sng" dirty="0">
              <a:solidFill>
                <a:srgbClr val="0070C0"/>
              </a:solidFill>
              <a:latin typeface="Barlow"/>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49399"/>
            <a:ext cx="17583150" cy="842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0550" y="1486762"/>
            <a:ext cx="6057900" cy="584775"/>
          </a:xfrm>
          <a:prstGeom prst="rect">
            <a:avLst/>
          </a:prstGeom>
          <a:noFill/>
        </p:spPr>
        <p:txBody>
          <a:bodyPr wrap="square" rtlCol="0">
            <a:spAutoFit/>
          </a:bodyPr>
          <a:lstStyle/>
          <a:p>
            <a:r>
              <a:rPr lang="en-US" sz="3200" b="1" dirty="0" smtClean="0">
                <a:latin typeface="Montserrat" charset="0"/>
              </a:rPr>
              <a:t>CONSULTARE INC. GROUP</a:t>
            </a:r>
            <a:endParaRPr lang="en-SG" sz="3200" b="1" dirty="0">
              <a:latin typeface="Montserrat"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1159328" y="771868"/>
            <a:ext cx="8058150" cy="1077218"/>
          </a:xfrm>
          <a:prstGeom prst="rect">
            <a:avLst/>
          </a:prstGeom>
          <a:noFill/>
          <a:ln>
            <a:noFill/>
          </a:ln>
        </p:spPr>
        <p:txBody>
          <a:bodyPr spcFirstLastPara="1" wrap="square" lIns="0" tIns="0" rIns="0" bIns="0" anchor="t" anchorCtr="0">
            <a:spAutoFit/>
          </a:bodyPr>
          <a:lstStyle/>
          <a:p>
            <a:pPr lvl="0" algn="ctr"/>
            <a:r>
              <a:rPr lang="en-US" sz="7000" b="1" u="sng" dirty="0">
                <a:solidFill>
                  <a:srgbClr val="004AAD"/>
                </a:solidFill>
                <a:latin typeface="Barlow"/>
                <a:ea typeface="Montserrat"/>
                <a:cs typeface="Montserrat"/>
                <a:sym typeface="Montserrat"/>
              </a:rPr>
              <a:t>WORK SCHEDULE</a:t>
            </a:r>
            <a:endParaRPr sz="7000" u="sng" dirty="0">
              <a:latin typeface="Barlow"/>
            </a:endParaRPr>
          </a:p>
        </p:txBody>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225" name="Google Shape;225;p11"/>
          <p:cNvSpPr/>
          <p:nvPr/>
        </p:nvSpPr>
        <p:spPr>
          <a:xfrm rot="8243363" flipH="1">
            <a:off x="-1831866" y="81162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sp>
        <p:nvSpPr>
          <p:cNvPr id="7" name="Google Shape;212;p34"/>
          <p:cNvSpPr txBox="1">
            <a:spLocks/>
          </p:cNvSpPr>
          <p:nvPr/>
        </p:nvSpPr>
        <p:spPr>
          <a:xfrm>
            <a:off x="1159328" y="1830505"/>
            <a:ext cx="9318172" cy="771525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lvl="0" indent="-571500">
              <a:buFont typeface="Wingdings" pitchFamily="2" charset="2"/>
              <a:buChar char="ü"/>
            </a:pPr>
            <a:r>
              <a:rPr lang="en-US" sz="4000" dirty="0">
                <a:latin typeface="Montserrat" charset="0"/>
              </a:rPr>
              <a:t>Monday to </a:t>
            </a:r>
            <a:r>
              <a:rPr lang="en-US" sz="4000" dirty="0" smtClean="0">
                <a:latin typeface="Montserrat" charset="0"/>
              </a:rPr>
              <a:t>Friday</a:t>
            </a:r>
          </a:p>
          <a:p>
            <a:pPr marL="571500" lvl="0" indent="-571500">
              <a:buFont typeface="Wingdings" pitchFamily="2" charset="2"/>
              <a:buChar char="ü"/>
            </a:pPr>
            <a:r>
              <a:rPr lang="en-US" sz="4000" dirty="0" smtClean="0">
                <a:latin typeface="Montserrat" charset="0"/>
              </a:rPr>
              <a:t>11:00 PM </a:t>
            </a:r>
            <a:r>
              <a:rPr lang="en-US" sz="4000" dirty="0">
                <a:latin typeface="Montserrat" charset="0"/>
              </a:rPr>
              <a:t>to </a:t>
            </a:r>
            <a:r>
              <a:rPr lang="en-US" sz="4000" dirty="0" smtClean="0">
                <a:latin typeface="Montserrat" charset="0"/>
              </a:rPr>
              <a:t>7:00 AM </a:t>
            </a:r>
            <a:r>
              <a:rPr lang="en-US" sz="4000" dirty="0" err="1" smtClean="0">
                <a:latin typeface="Montserrat" charset="0"/>
              </a:rPr>
              <a:t>PhT</a:t>
            </a:r>
            <a:endParaRPr lang="en-US" sz="4000" dirty="0" smtClean="0">
              <a:latin typeface="Montserrat" charset="0"/>
            </a:endParaRPr>
          </a:p>
          <a:p>
            <a:pPr marL="571500" lvl="0" indent="-571500">
              <a:buFont typeface="Wingdings" pitchFamily="2" charset="2"/>
              <a:buChar char="ü"/>
            </a:pPr>
            <a:r>
              <a:rPr lang="en-US" sz="4000" dirty="0" smtClean="0">
                <a:latin typeface="Montserrat" charset="0"/>
              </a:rPr>
              <a:t>9:00 AM </a:t>
            </a:r>
            <a:r>
              <a:rPr lang="en-US" sz="4000" dirty="0">
                <a:latin typeface="Montserrat" charset="0"/>
              </a:rPr>
              <a:t>to </a:t>
            </a:r>
            <a:r>
              <a:rPr lang="en-US" sz="4000" dirty="0" smtClean="0">
                <a:latin typeface="Montserrat" charset="0"/>
              </a:rPr>
              <a:t>5:00 PM </a:t>
            </a:r>
            <a:r>
              <a:rPr lang="en-US" sz="4000" dirty="0">
                <a:latin typeface="Montserrat" charset="0"/>
              </a:rPr>
              <a:t>CST Time</a:t>
            </a:r>
            <a:endParaRPr lang="en-SG" sz="2400" dirty="0">
              <a:latin typeface="Montserrat" charset="0"/>
            </a:endParaRPr>
          </a:p>
        </p:txBody>
      </p:sp>
      <p:sp>
        <p:nvSpPr>
          <p:cNvPr id="8" name="Google Shape;189;p9"/>
          <p:cNvSpPr/>
          <p:nvPr/>
        </p:nvSpPr>
        <p:spPr>
          <a:xfrm rot="2464099">
            <a:off x="-918515" y="-4076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11" name="Google Shape;243;p38"/>
          <p:cNvSpPr txBox="1">
            <a:spLocks/>
          </p:cNvSpPr>
          <p:nvPr/>
        </p:nvSpPr>
        <p:spPr>
          <a:xfrm>
            <a:off x="1159328" y="3941491"/>
            <a:ext cx="9435921" cy="5295900"/>
          </a:xfrm>
          <a:prstGeom prst="rect">
            <a:avLst/>
          </a:prstGeom>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8200" b="1" u="sng" dirty="0" smtClean="0">
                <a:solidFill>
                  <a:srgbClr val="004AAD"/>
                </a:solidFill>
                <a:latin typeface="Barlow"/>
                <a:ea typeface="Montserrat"/>
                <a:cs typeface="Montserrat"/>
                <a:sym typeface="Montserrat"/>
              </a:rPr>
              <a:t>LEAVE AND BENEFITS</a:t>
            </a:r>
            <a:endParaRPr lang="en-US" sz="8200" u="sng" dirty="0">
              <a:latin typeface="Barlow"/>
            </a:endParaRPr>
          </a:p>
          <a:p>
            <a:pPr marL="571500" lvl="0" indent="-571500">
              <a:lnSpc>
                <a:spcPct val="150000"/>
              </a:lnSpc>
              <a:buFont typeface="Wingdings" pitchFamily="2" charset="2"/>
              <a:buChar char="ü"/>
            </a:pPr>
            <a:r>
              <a:rPr lang="en-US" sz="3600" b="1" dirty="0" smtClean="0">
                <a:latin typeface="Montserrat" charset="0"/>
              </a:rPr>
              <a:t>24 </a:t>
            </a:r>
            <a:r>
              <a:rPr lang="en-US" sz="3600" b="1" dirty="0">
                <a:latin typeface="Montserrat" charset="0"/>
              </a:rPr>
              <a:t>days Paid Time Off</a:t>
            </a:r>
          </a:p>
          <a:p>
            <a:pPr marL="571500" lvl="0" indent="-571500">
              <a:lnSpc>
                <a:spcPct val="150000"/>
              </a:lnSpc>
              <a:buFont typeface="Wingdings" pitchFamily="2" charset="2"/>
              <a:buChar char="ü"/>
            </a:pPr>
            <a:r>
              <a:rPr lang="en-US" sz="3600" b="1" dirty="0">
                <a:latin typeface="Montserrat" charset="0"/>
              </a:rPr>
              <a:t>1 week Paternity Leave</a:t>
            </a:r>
          </a:p>
          <a:p>
            <a:pPr marL="571500" lvl="0" indent="-571500">
              <a:lnSpc>
                <a:spcPct val="150000"/>
              </a:lnSpc>
              <a:buFont typeface="Wingdings" pitchFamily="2" charset="2"/>
              <a:buChar char="ü"/>
            </a:pPr>
            <a:r>
              <a:rPr lang="en-US" sz="3600" b="1" dirty="0">
                <a:latin typeface="Montserrat" charset="0"/>
              </a:rPr>
              <a:t>6 weeks Maternity </a:t>
            </a:r>
            <a:r>
              <a:rPr lang="en-US" sz="3600" b="1" dirty="0" smtClean="0">
                <a:latin typeface="Montserrat" charset="0"/>
              </a:rPr>
              <a:t>Leave</a:t>
            </a:r>
          </a:p>
          <a:p>
            <a:pPr marL="571500" lvl="0" indent="-571500">
              <a:lnSpc>
                <a:spcPct val="150000"/>
              </a:lnSpc>
              <a:buFont typeface="Wingdings" pitchFamily="2" charset="2"/>
              <a:buChar char="ü"/>
            </a:pPr>
            <a:r>
              <a:rPr lang="en-US" sz="3600" b="1" dirty="0">
                <a:latin typeface="Montserrat" charset="0"/>
              </a:rPr>
              <a:t>6 US Holidays </a:t>
            </a:r>
            <a:r>
              <a:rPr lang="en-US" sz="3600" dirty="0">
                <a:latin typeface="Montserrat" charset="0"/>
              </a:rPr>
              <a:t>(Memorial Day, Independence Day, Labor Day, Thanksgiving, Christmas and New Years Day)</a:t>
            </a:r>
          </a:p>
          <a:p>
            <a:pPr marL="571500" lvl="0" indent="-571500">
              <a:lnSpc>
                <a:spcPct val="150000"/>
              </a:lnSpc>
              <a:buFont typeface="Wingdings" pitchFamily="2" charset="2"/>
              <a:buChar char="ü"/>
            </a:pPr>
            <a:endParaRPr lang="en-SG" sz="2000" dirty="0">
              <a:latin typeface="Montserrat" charset="0"/>
            </a:endParaRPr>
          </a:p>
          <a:p>
            <a:pPr marL="603250" indent="-457200">
              <a:lnSpc>
                <a:spcPct val="110000"/>
              </a:lnSpc>
              <a:spcBef>
                <a:spcPts val="1200"/>
              </a:spcBef>
              <a:buClr>
                <a:schemeClr val="dk1"/>
              </a:buClr>
              <a:buSzPts val="1300"/>
              <a:buFont typeface="Wingdings" pitchFamily="2" charset="2"/>
              <a:buChar char="ü"/>
            </a:pPr>
            <a:endParaRPr lang="en-US" dirty="0">
              <a:latin typeface="Montserrat" charset="0"/>
            </a:endParaRPr>
          </a:p>
          <a:p>
            <a:pPr marL="457200">
              <a:spcBef>
                <a:spcPts val="1200"/>
              </a:spcBef>
            </a:pPr>
            <a:endParaRPr lang="en-US" sz="3200" dirty="0" smtClean="0">
              <a:solidFill>
                <a:schemeClr val="tx1"/>
              </a:solidFill>
              <a:latin typeface="Montserrat" charset="0"/>
            </a:endParaRPr>
          </a:p>
          <a:p>
            <a:pPr>
              <a:spcBef>
                <a:spcPts val="1200"/>
              </a:spcBef>
              <a:spcAft>
                <a:spcPts val="1200"/>
              </a:spcAft>
            </a:pPr>
            <a:endParaRPr lang="en-US" dirty="0">
              <a:solidFill>
                <a:schemeClr val="bg2">
                  <a:lumMod val="75000"/>
                </a:schemeClr>
              </a:solidFill>
              <a:latin typeface="Montserrat" charset="0"/>
            </a:endParaRPr>
          </a:p>
        </p:txBody>
      </p:sp>
      <p:pic>
        <p:nvPicPr>
          <p:cNvPr id="12" name="Google Shape;244;p38"/>
          <p:cNvPicPr preferRelativeResize="0"/>
          <p:nvPr/>
        </p:nvPicPr>
        <p:blipFill>
          <a:blip r:embed="rId6">
            <a:alphaModFix/>
          </a:blip>
          <a:stretch>
            <a:fillRect/>
          </a:stretch>
        </p:blipFill>
        <p:spPr>
          <a:xfrm>
            <a:off x="11325172" y="1567813"/>
            <a:ext cx="6612028" cy="7037073"/>
          </a:xfrm>
          <a:prstGeom prst="rect">
            <a:avLst/>
          </a:prstGeom>
          <a:noFill/>
          <a:ln>
            <a:noFill/>
          </a:ln>
        </p:spPr>
      </p:pic>
    </p:spTree>
    <p:extLst>
      <p:ext uri="{BB962C8B-B14F-4D97-AF65-F5344CB8AC3E}">
        <p14:creationId xmlns:p14="http://schemas.microsoft.com/office/powerpoint/2010/main" val="16099931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14778" y="830796"/>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1355271" y="3027790"/>
            <a:ext cx="15822386" cy="5909310"/>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Full-time Virtual </a:t>
            </a:r>
            <a:r>
              <a:rPr lang="en-US" sz="3200" b="1" dirty="0" smtClean="0">
                <a:solidFill>
                  <a:srgbClr val="2E2E2E"/>
                </a:solidFill>
                <a:latin typeface="Montserrat"/>
                <a:ea typeface="Montserrat"/>
                <a:cs typeface="Montserrat"/>
                <a:sym typeface="Montserrat"/>
              </a:rPr>
              <a:t>Assistants - </a:t>
            </a:r>
            <a:r>
              <a:rPr lang="en-US" sz="3200" dirty="0" smtClean="0">
                <a:solidFill>
                  <a:srgbClr val="2E2E2E"/>
                </a:solidFill>
                <a:latin typeface="Montserrat"/>
                <a:ea typeface="Montserrat"/>
                <a:cs typeface="Montserrat"/>
                <a:sym typeface="Montserrat"/>
              </a:rPr>
              <a:t>perform </a:t>
            </a:r>
            <a:r>
              <a:rPr lang="en-US" sz="3200" dirty="0">
                <a:solidFill>
                  <a:srgbClr val="2E2E2E"/>
                </a:solidFill>
                <a:latin typeface="Montserrat"/>
                <a:ea typeface="Montserrat"/>
                <a:cs typeface="Montserrat"/>
                <a:sym typeface="Montserrat"/>
              </a:rPr>
              <a:t>at least 8 hours per day or 40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Virtual Assistant - </a:t>
            </a:r>
            <a:r>
              <a:rPr lang="en-US" sz="3200" dirty="0">
                <a:solidFill>
                  <a:srgbClr val="2E2E2E"/>
                </a:solidFill>
                <a:latin typeface="Montserrat"/>
                <a:ea typeface="Montserrat"/>
                <a:cs typeface="Montserrat"/>
                <a:sym typeface="Montserrat"/>
              </a:rPr>
              <a:t>perform at least 4-6 hours a day or 20- 30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Apprentice – </a:t>
            </a:r>
            <a:r>
              <a:rPr lang="en-US" sz="3200" dirty="0">
                <a:solidFill>
                  <a:srgbClr val="2E2E2E"/>
                </a:solidFill>
                <a:latin typeface="Montserrat"/>
                <a:ea typeface="Montserrat"/>
                <a:cs typeface="Montserrat"/>
                <a:sym typeface="Montserrat"/>
              </a:rPr>
              <a:t>a working student to perform 20 to 30 hours a week assigned to a specific department</a:t>
            </a:r>
            <a:r>
              <a:rPr lang="en-US" sz="3200" dirty="0" smtClean="0">
                <a:solidFill>
                  <a:srgbClr val="2E2E2E"/>
                </a:solidFill>
                <a:latin typeface="Montserrat"/>
                <a:ea typeface="Montserrat"/>
                <a:cs typeface="Montserrat"/>
                <a:sym typeface="Montserrat"/>
              </a:rPr>
              <a:t>.</a:t>
            </a:r>
          </a:p>
          <a:p>
            <a:pPr marL="34290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project-based – </a:t>
            </a:r>
            <a:r>
              <a:rPr lang="en-US" sz="3200" dirty="0">
                <a:solidFill>
                  <a:srgbClr val="2E2E2E"/>
                </a:solidFill>
                <a:latin typeface="Montserrat"/>
                <a:ea typeface="Montserrat"/>
                <a:cs typeface="Montserrat"/>
                <a:sym typeface="Montserrat"/>
              </a:rPr>
              <a:t>a specialist to perform 20 to 30 hours a week, Monday to Friday</a:t>
            </a:r>
            <a:r>
              <a:rPr lang="en-US" sz="3200" dirty="0" smtClean="0">
                <a:solidFill>
                  <a:srgbClr val="2E2E2E"/>
                </a:solidFill>
                <a:latin typeface="Montserrat"/>
                <a:ea typeface="Montserrat"/>
                <a:cs typeface="Montserrat"/>
                <a:sym typeface="Montserrat"/>
              </a:rPr>
              <a:t>.</a:t>
            </a:r>
            <a:endParaRPr lang="en-US" sz="3200" dirty="0">
              <a:solidFill>
                <a:srgbClr val="2E2E2E"/>
              </a:solidFill>
              <a:latin typeface="Montserrat"/>
              <a:ea typeface="Montserrat"/>
              <a:cs typeface="Montserrat"/>
              <a:sym typeface="Montserrat"/>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6" y="-295041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368838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53340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751114" y="2635905"/>
            <a:ext cx="16099972" cy="5355312"/>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2900" b="1" dirty="0" smtClean="0">
                <a:solidFill>
                  <a:srgbClr val="2E2E2E"/>
                </a:solidFill>
                <a:latin typeface="Montserrat"/>
                <a:ea typeface="Montserrat"/>
                <a:cs typeface="Montserrat"/>
                <a:sym typeface="Montserrat"/>
              </a:rPr>
              <a:t>Freelancer </a:t>
            </a:r>
            <a:r>
              <a:rPr lang="en-US" sz="2900" b="1" dirty="0">
                <a:solidFill>
                  <a:srgbClr val="2E2E2E"/>
                </a:solidFill>
                <a:latin typeface="Montserrat"/>
                <a:ea typeface="Montserrat"/>
                <a:cs typeface="Montserrat"/>
                <a:sym typeface="Montserrat"/>
              </a:rPr>
              <a:t>- </a:t>
            </a:r>
            <a:r>
              <a:rPr lang="en-US" sz="2900" dirty="0">
                <a:solidFill>
                  <a:srgbClr val="2E2E2E"/>
                </a:solidFill>
                <a:latin typeface="Montserrat"/>
                <a:ea typeface="Montserrat"/>
                <a:cs typeface="Montserrat"/>
                <a:sym typeface="Montserrat"/>
              </a:rPr>
              <a:t>performs and completes the task/project:</a:t>
            </a: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IT Freelancers – </a:t>
            </a:r>
            <a:r>
              <a:rPr lang="en-US" sz="2900" dirty="0">
                <a:solidFill>
                  <a:srgbClr val="2E2E2E"/>
                </a:solidFill>
                <a:latin typeface="Montserrat"/>
                <a:ea typeface="Montserrat"/>
                <a:cs typeface="Montserrat"/>
                <a:sym typeface="Montserrat"/>
              </a:rPr>
              <a:t>perform tasks based on per Project total hours evaluated and approved by IT </a:t>
            </a:r>
            <a:r>
              <a:rPr lang="en-US" sz="2900" dirty="0" smtClean="0">
                <a:solidFill>
                  <a:srgbClr val="2E2E2E"/>
                </a:solidFill>
                <a:latin typeface="Montserrat"/>
                <a:ea typeface="Montserrat"/>
                <a:cs typeface="Montserrat"/>
                <a:sym typeface="Montserrat"/>
              </a:rPr>
              <a:t>Manager.</a:t>
            </a:r>
          </a:p>
          <a:p>
            <a:pPr marL="914400" lvl="0" indent="-342900" algn="just">
              <a:lnSpc>
                <a:spcPct val="150000"/>
              </a:lnSpc>
              <a:buFont typeface="Arial" pitchFamily="34" charset="0"/>
              <a:buChar char="•"/>
            </a:pPr>
            <a:r>
              <a:rPr lang="en-US" sz="2900" b="1" dirty="0" smtClean="0">
                <a:solidFill>
                  <a:srgbClr val="2E2E2E"/>
                </a:solidFill>
                <a:latin typeface="Montserrat"/>
                <a:ea typeface="Montserrat"/>
                <a:cs typeface="Montserrat"/>
                <a:sym typeface="Montserrat"/>
              </a:rPr>
              <a:t>Freelance </a:t>
            </a:r>
            <a:r>
              <a:rPr lang="en-US" sz="2900" b="1" dirty="0">
                <a:solidFill>
                  <a:srgbClr val="2E2E2E"/>
                </a:solidFill>
                <a:latin typeface="Montserrat"/>
                <a:ea typeface="Montserrat"/>
                <a:cs typeface="Montserrat"/>
                <a:sym typeface="Montserrat"/>
              </a:rPr>
              <a:t>Writer – </a:t>
            </a:r>
            <a:r>
              <a:rPr lang="en-US" sz="2900" dirty="0">
                <a:solidFill>
                  <a:srgbClr val="2E2E2E"/>
                </a:solidFill>
                <a:latin typeface="Montserrat"/>
                <a:ea typeface="Montserrat"/>
                <a:cs typeface="Montserrat"/>
                <a:sym typeface="Montserrat"/>
              </a:rPr>
              <a:t>QMS - on an hourly basis and/or on writing and creating images for </a:t>
            </a:r>
            <a:r>
              <a:rPr lang="en-US" sz="2900" dirty="0" smtClean="0">
                <a:solidFill>
                  <a:srgbClr val="2E2E2E"/>
                </a:solidFill>
                <a:latin typeface="Montserrat"/>
                <a:ea typeface="Montserrat"/>
                <a:cs typeface="Montserrat"/>
                <a:sym typeface="Montserrat"/>
              </a:rPr>
              <a:t>Program </a:t>
            </a:r>
            <a:r>
              <a:rPr lang="en-US" sz="2900" dirty="0">
                <a:solidFill>
                  <a:srgbClr val="2E2E2E"/>
                </a:solidFill>
                <a:latin typeface="Montserrat"/>
                <a:ea typeface="Montserrat"/>
                <a:cs typeface="Montserrat"/>
                <a:sym typeface="Montserrat"/>
              </a:rPr>
              <a:t>Form </a:t>
            </a:r>
            <a:r>
              <a:rPr lang="en-US" sz="2900" dirty="0" smtClean="0">
                <a:solidFill>
                  <a:srgbClr val="2E2E2E"/>
                </a:solidFill>
                <a:latin typeface="Montserrat"/>
                <a:ea typeface="Montserrat"/>
                <a:cs typeface="Montserrat"/>
                <a:sym typeface="Montserrat"/>
              </a:rPr>
              <a:t>Lesson </a:t>
            </a:r>
            <a:r>
              <a:rPr lang="en-US" sz="2900" dirty="0">
                <a:solidFill>
                  <a:srgbClr val="2E2E2E"/>
                </a:solidFill>
                <a:latin typeface="Montserrat"/>
                <a:ea typeface="Montserrat"/>
                <a:cs typeface="Montserrat"/>
                <a:sym typeface="Montserrat"/>
              </a:rPr>
              <a:t>Bundle can be a Document/Project/Task in a given period.</a:t>
            </a: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Freelance Video Editor – </a:t>
            </a:r>
            <a:r>
              <a:rPr lang="en-US" sz="2900" dirty="0">
                <a:solidFill>
                  <a:srgbClr val="2E2E2E"/>
                </a:solidFill>
                <a:latin typeface="Montserrat"/>
                <a:ea typeface="Montserrat"/>
                <a:cs typeface="Montserrat"/>
                <a:sym typeface="Montserrat"/>
              </a:rPr>
              <a:t>performs tasks based on per Project total hours is evaluated and approved by </a:t>
            </a:r>
            <a:r>
              <a:rPr lang="en-US" sz="2900" dirty="0" smtClean="0">
                <a:solidFill>
                  <a:srgbClr val="2E2E2E"/>
                </a:solidFill>
                <a:latin typeface="Montserrat"/>
                <a:ea typeface="Montserrat"/>
                <a:cs typeface="Montserrat"/>
                <a:sym typeface="Montserrat"/>
              </a:rPr>
              <a:t>QMS/Compliance </a:t>
            </a:r>
            <a:r>
              <a:rPr lang="en-US" sz="2900" dirty="0">
                <a:solidFill>
                  <a:srgbClr val="2E2E2E"/>
                </a:solidFill>
                <a:latin typeface="Montserrat"/>
                <a:ea typeface="Montserrat"/>
                <a:cs typeface="Montserrat"/>
                <a:sym typeface="Montserrat"/>
              </a:rPr>
              <a:t>Manager.</a:t>
            </a: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3117420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397329" y="856868"/>
            <a:ext cx="17411700" cy="1615827"/>
          </a:xfrm>
          <a:prstGeom prst="rect">
            <a:avLst/>
          </a:prstGeom>
          <a:noFill/>
          <a:ln>
            <a:noFill/>
          </a:ln>
        </p:spPr>
        <p:txBody>
          <a:bodyPr spcFirstLastPara="1" wrap="square" lIns="0" tIns="0" rIns="0" bIns="0" anchor="t" anchorCtr="0">
            <a:spAutoFit/>
          </a:bodyPr>
          <a:lstStyle/>
          <a:p>
            <a:pPr lvl="0" algn="ctr">
              <a:lnSpc>
                <a:spcPct val="150000"/>
              </a:lnSpc>
            </a:pPr>
            <a:r>
              <a:rPr lang="en-US" sz="7000" b="1" dirty="0">
                <a:solidFill>
                  <a:srgbClr val="004AAD"/>
                </a:solidFill>
                <a:latin typeface="Barlow"/>
                <a:ea typeface="Montserrat"/>
                <a:cs typeface="Montserrat"/>
                <a:sym typeface="Montserrat"/>
              </a:rPr>
              <a:t>INTERNAL TRAINING</a:t>
            </a:r>
            <a:endParaRPr sz="7000" dirty="0">
              <a:latin typeface="Barlow"/>
            </a:endParaRPr>
          </a:p>
        </p:txBody>
      </p:sp>
      <p:sp>
        <p:nvSpPr>
          <p:cNvPr id="248" name="Google Shape;248;p13"/>
          <p:cNvSpPr txBox="1"/>
          <p:nvPr/>
        </p:nvSpPr>
        <p:spPr>
          <a:xfrm>
            <a:off x="1224643" y="2975176"/>
            <a:ext cx="15757072" cy="5355312"/>
          </a:xfrm>
          <a:prstGeom prst="rect">
            <a:avLst/>
          </a:prstGeom>
          <a:noFill/>
          <a:ln>
            <a:noFill/>
          </a:ln>
        </p:spPr>
        <p:txBody>
          <a:bodyPr spcFirstLastPara="1" wrap="square" lIns="0" tIns="0" rIns="0" bIns="0" anchor="t" anchorCtr="0">
            <a:spAutoFit/>
          </a:bodyPr>
          <a:lstStyle/>
          <a:p>
            <a:pPr lvl="0"/>
            <a:r>
              <a:rPr lang="en-US" sz="4400" i="1" dirty="0">
                <a:solidFill>
                  <a:srgbClr val="2E2E2E"/>
                </a:solidFill>
                <a:latin typeface="Montserrat" charset="0"/>
              </a:rPr>
              <a:t>Full-time Virtual Assistants of the Company are on an introductory period during their </a:t>
            </a:r>
            <a:r>
              <a:rPr lang="en-US" sz="4400" b="1" i="1" dirty="0">
                <a:solidFill>
                  <a:srgbClr val="2E2E2E"/>
                </a:solidFill>
                <a:latin typeface="Montserrat" charset="0"/>
              </a:rPr>
              <a:t>first 90 days of employment</a:t>
            </a:r>
            <a:r>
              <a:rPr lang="en-US" sz="4400" i="1" dirty="0">
                <a:solidFill>
                  <a:srgbClr val="2E2E2E"/>
                </a:solidFill>
                <a:latin typeface="Montserrat" charset="0"/>
              </a:rPr>
              <a:t>.</a:t>
            </a:r>
          </a:p>
          <a:p>
            <a:pPr lvl="0">
              <a:spcBef>
                <a:spcPts val="1200"/>
              </a:spcBef>
            </a:pPr>
            <a:endParaRPr lang="en-US" sz="4400" i="1" dirty="0">
              <a:solidFill>
                <a:srgbClr val="2E2E2E"/>
              </a:solidFill>
              <a:latin typeface="Montserrat" charset="0"/>
            </a:endParaRPr>
          </a:p>
          <a:p>
            <a:pPr lvl="0">
              <a:spcBef>
                <a:spcPts val="1200"/>
              </a:spcBef>
            </a:pPr>
            <a:r>
              <a:rPr lang="en-US" sz="4400" i="1" dirty="0">
                <a:solidFill>
                  <a:srgbClr val="2E2E2E"/>
                </a:solidFill>
                <a:latin typeface="Montserrat" charset="0"/>
              </a:rPr>
              <a:t>EVALUATION IS </a:t>
            </a:r>
            <a:r>
              <a:rPr lang="en-US" sz="4400" b="1" i="1" dirty="0">
                <a:solidFill>
                  <a:srgbClr val="2E2E2E"/>
                </a:solidFill>
                <a:latin typeface="Montserrat" charset="0"/>
              </a:rPr>
              <a:t>EVERY 15 DAYS</a:t>
            </a:r>
            <a:r>
              <a:rPr lang="en-US" sz="4400" i="1" dirty="0">
                <a:solidFill>
                  <a:srgbClr val="2E2E2E"/>
                </a:solidFill>
                <a:latin typeface="Montserrat" charset="0"/>
              </a:rPr>
              <a:t> OF TRAINING PER DEPARTMENT. </a:t>
            </a:r>
          </a:p>
          <a:p>
            <a:pPr lvl="0">
              <a:spcBef>
                <a:spcPts val="1200"/>
              </a:spcBef>
              <a:spcAft>
                <a:spcPts val="1200"/>
              </a:spcAft>
            </a:pPr>
            <a:endParaRPr lang="en-US" sz="44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958836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217866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73629" y="4052577"/>
            <a:ext cx="15430500" cy="4493538"/>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400" dirty="0">
                <a:solidFill>
                  <a:srgbClr val="2E2E2E"/>
                </a:solidFill>
                <a:latin typeface="Montserrat" charset="0"/>
              </a:rPr>
              <a:t>All Virtual Assistants must electronically or manually record their actual hours performed  via the Service Log, which can be found in the </a:t>
            </a:r>
            <a:r>
              <a:rPr lang="en-US" sz="4400" dirty="0" err="1">
                <a:solidFill>
                  <a:srgbClr val="2E2E2E"/>
                </a:solidFill>
                <a:latin typeface="Montserrat" charset="0"/>
              </a:rPr>
              <a:t>InterlinkIQ</a:t>
            </a:r>
            <a:r>
              <a:rPr lang="en-US" sz="4400" dirty="0">
                <a:solidFill>
                  <a:srgbClr val="2E2E2E"/>
                </a:solidFill>
                <a:latin typeface="Montserrat" charset="0"/>
              </a:rPr>
              <a:t> (IIQ) System</a:t>
            </a:r>
            <a:r>
              <a:rPr lang="en-US" sz="4400" dirty="0" smtClean="0">
                <a:solidFill>
                  <a:srgbClr val="2E2E2E"/>
                </a:solidFill>
                <a:latin typeface="Montserrat" charset="0"/>
              </a:rPr>
              <a:t>.</a:t>
            </a:r>
          </a:p>
          <a:p>
            <a:pPr marL="571500" lvl="0" indent="-571500">
              <a:buFont typeface="Wingdings" pitchFamily="2" charset="2"/>
              <a:buChar char="Ø"/>
            </a:pPr>
            <a:endParaRPr lang="en-US" sz="2800" dirty="0" smtClean="0">
              <a:latin typeface="Montserrat" charset="0"/>
            </a:endParaRPr>
          </a:p>
          <a:p>
            <a:pPr marL="571500" lvl="0" indent="-571500">
              <a:buFont typeface="Wingdings" pitchFamily="2" charset="2"/>
              <a:buChar char="Ø"/>
            </a:pPr>
            <a:r>
              <a:rPr lang="en-US" sz="4400" dirty="0" smtClean="0">
                <a:latin typeface="Montserrat" charset="0"/>
              </a:rPr>
              <a:t>The </a:t>
            </a:r>
            <a:r>
              <a:rPr lang="en-US" sz="4400" dirty="0">
                <a:latin typeface="Montserrat" charset="0"/>
              </a:rPr>
              <a:t>work schedule is weekdays from Monday to Friday. </a:t>
            </a: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820848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191636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24643" y="3814508"/>
            <a:ext cx="15953014" cy="4001095"/>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000" dirty="0" smtClean="0">
                <a:latin typeface="Montserrat" charset="0"/>
              </a:rPr>
              <a:t>All </a:t>
            </a:r>
            <a:r>
              <a:rPr lang="en-US" sz="4000" dirty="0">
                <a:latin typeface="Montserrat" charset="0"/>
              </a:rPr>
              <a:t>Virtual Assistants are required to complete their service logs within 24 hours. “No service logs, no payroll” is strictly implemented.</a:t>
            </a:r>
          </a:p>
          <a:p>
            <a:pPr marL="571500" lvl="0" indent="-571500">
              <a:buFont typeface="Wingdings" pitchFamily="2" charset="2"/>
              <a:buChar char="Ø"/>
            </a:pPr>
            <a:endParaRPr lang="en-US" sz="2000" dirty="0">
              <a:latin typeface="Montserrat" charset="0"/>
            </a:endParaRPr>
          </a:p>
          <a:p>
            <a:pPr marL="571500" lvl="0" indent="-571500">
              <a:buFont typeface="Wingdings" pitchFamily="2" charset="2"/>
              <a:buChar char="Ø"/>
            </a:pPr>
            <a:r>
              <a:rPr lang="en-US" sz="4000" dirty="0">
                <a:latin typeface="Montserrat" charset="0"/>
              </a:rPr>
              <a:t>All service log hours must be completed according to employment status. The performance tab in the IIQ must be reviewed before the payroll cut-off</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95472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29758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261258" y="2893264"/>
            <a:ext cx="15165290"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000" dirty="0">
                <a:solidFill>
                  <a:srgbClr val="2E2E2E"/>
                </a:solidFill>
                <a:latin typeface="Montserrat" charset="0"/>
              </a:rPr>
              <a:t>Virtual Assistant compensation is released </a:t>
            </a:r>
            <a:r>
              <a:rPr lang="en-US" sz="4000" b="1" dirty="0">
                <a:solidFill>
                  <a:srgbClr val="2E2E2E"/>
                </a:solidFill>
                <a:latin typeface="Montserrat" charset="0"/>
              </a:rPr>
              <a:t>every 15th and 30th of the month</a:t>
            </a:r>
            <a:r>
              <a:rPr lang="en-US" sz="4000" dirty="0">
                <a:solidFill>
                  <a:srgbClr val="2E2E2E"/>
                </a:solidFill>
                <a:latin typeface="Montserrat" charset="0"/>
              </a:rPr>
              <a:t> and processed through Wise, World remit, and/or </a:t>
            </a:r>
            <a:r>
              <a:rPr lang="en-US" sz="4000" dirty="0" err="1">
                <a:solidFill>
                  <a:srgbClr val="2E2E2E"/>
                </a:solidFill>
                <a:latin typeface="Montserrat" charset="0"/>
              </a:rPr>
              <a:t>Paypal</a:t>
            </a:r>
            <a:r>
              <a:rPr lang="en-US" sz="4000" dirty="0" smtClean="0">
                <a:solidFill>
                  <a:srgbClr val="2E2E2E"/>
                </a:solidFill>
                <a:latin typeface="Montserrat" charset="0"/>
              </a:rPr>
              <a:t>.</a:t>
            </a:r>
            <a:endParaRPr lang="en-US" sz="4000" dirty="0" smtClean="0">
              <a:latin typeface="Montserrat" charset="0"/>
            </a:endParaRPr>
          </a:p>
          <a:p>
            <a:pPr marL="571500" lvl="0" indent="-571500">
              <a:lnSpc>
                <a:spcPct val="150000"/>
              </a:lnSpc>
              <a:buFont typeface="Wingdings" pitchFamily="2" charset="2"/>
              <a:buChar char="Ø"/>
            </a:pPr>
            <a:r>
              <a:rPr lang="en-US" sz="4000" dirty="0">
                <a:latin typeface="Montserrat" charset="0"/>
              </a:rPr>
              <a:t>Payroll processing is on the </a:t>
            </a:r>
            <a:r>
              <a:rPr lang="en-US" sz="4000" b="1" dirty="0">
                <a:latin typeface="Montserrat" charset="0"/>
              </a:rPr>
              <a:t>10th for the 15th and 25th for the 30th </a:t>
            </a:r>
            <a:r>
              <a:rPr lang="en-US" sz="4000" dirty="0">
                <a:latin typeface="Montserrat" charset="0"/>
              </a:rPr>
              <a:t>pay. Remittance posting is </a:t>
            </a:r>
            <a:r>
              <a:rPr lang="en-US" sz="4000" b="1" dirty="0">
                <a:latin typeface="Montserrat" charset="0"/>
              </a:rPr>
              <a:t>1 to 2  banking days</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4126607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4162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996042" y="3313897"/>
            <a:ext cx="15789729" cy="5262979"/>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completed service logs are reviewed along with PTO, absences, and deductions. The accountant will prepare the payroll a day after the cut-off period</a:t>
            </a:r>
            <a:r>
              <a:rPr lang="en-US" sz="3800" dirty="0" smtClean="0">
                <a:latin typeface="Montserrat" charset="0"/>
              </a:rPr>
              <a:t>.</a:t>
            </a:r>
            <a:endParaRPr lang="en-US" sz="3800" dirty="0">
              <a:latin typeface="Montserrat" charset="0"/>
            </a:endParaRPr>
          </a:p>
          <a:p>
            <a:pPr marL="571500" lvl="0" indent="-571500">
              <a:lnSpc>
                <a:spcPct val="150000"/>
              </a:lnSpc>
              <a:buFont typeface="Wingdings" pitchFamily="2" charset="2"/>
              <a:buChar char="Ø"/>
            </a:pPr>
            <a:r>
              <a:rPr lang="en-US" sz="3800" dirty="0">
                <a:latin typeface="Montserrat" charset="0"/>
              </a:rPr>
              <a:t>Payroll will be submitted to Admin Manager for review</a:t>
            </a:r>
            <a:r>
              <a:rPr lang="en-US" sz="3800" dirty="0" smtClean="0">
                <a:latin typeface="Montserrat" charset="0"/>
              </a:rPr>
              <a:t>.</a:t>
            </a:r>
          </a:p>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review is done, it will be forwarded to the CFO for final approval and processing of payments</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969566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513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632857" y="3334874"/>
            <a:ext cx="14369144" cy="4385816"/>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payment is processed, all references and charges will be recorded</a:t>
            </a:r>
            <a:r>
              <a:rPr lang="en-US" sz="3800" dirty="0" smtClean="0">
                <a:latin typeface="Montserrat" charset="0"/>
              </a:rPr>
              <a:t>.</a:t>
            </a:r>
          </a:p>
          <a:p>
            <a:pPr marL="571500" lvl="0" indent="-571500">
              <a:lnSpc>
                <a:spcPct val="150000"/>
              </a:lnSpc>
              <a:buFont typeface="Wingdings" pitchFamily="2" charset="2"/>
              <a:buChar char="Ø"/>
            </a:pPr>
            <a:r>
              <a:rPr lang="en-US" sz="3800" dirty="0">
                <a:latin typeface="Montserrat" charset="0"/>
              </a:rPr>
              <a:t>To complete the payroll process, the Virtual Assistant must click the </a:t>
            </a:r>
            <a:r>
              <a:rPr lang="en-US" sz="3800" b="1" dirty="0">
                <a:latin typeface="Montserrat" charset="0"/>
              </a:rPr>
              <a:t>“RECEIVED” </a:t>
            </a:r>
            <a:r>
              <a:rPr lang="en-US" sz="3800" dirty="0">
                <a:latin typeface="Montserrat" charset="0"/>
              </a:rPr>
              <a:t>button in their </a:t>
            </a:r>
            <a:r>
              <a:rPr lang="en-US" sz="3800" dirty="0" err="1">
                <a:latin typeface="Montserrat" charset="0"/>
              </a:rPr>
              <a:t>Payslip</a:t>
            </a:r>
            <a:r>
              <a:rPr lang="en-US" sz="3800" dirty="0">
                <a:latin typeface="Montserrat" charset="0"/>
              </a:rPr>
              <a:t> once the salary is received</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80923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24202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90500" y="1857848"/>
            <a:ext cx="7105650" cy="7725192"/>
          </a:xfrm>
          <a:prstGeom prst="rect">
            <a:avLst/>
          </a:prstGeom>
          <a:noFill/>
          <a:ln>
            <a:noFill/>
          </a:ln>
        </p:spPr>
        <p:txBody>
          <a:bodyPr spcFirstLastPara="1" wrap="square" lIns="0" tIns="0" rIns="0" bIns="0" anchor="t" anchorCtr="0">
            <a:spAutoFit/>
          </a:bodyPr>
          <a:lstStyle/>
          <a:p>
            <a:pPr lvl="0"/>
            <a:r>
              <a:rPr lang="en-US" sz="3600" u="sng" dirty="0">
                <a:solidFill>
                  <a:schemeClr val="dk1"/>
                </a:solidFill>
              </a:rPr>
              <a:t>Salaries will be put </a:t>
            </a:r>
            <a:r>
              <a:rPr lang="en-US" sz="4000" b="1" u="sng" dirty="0">
                <a:solidFill>
                  <a:schemeClr val="dk1"/>
                </a:solidFill>
              </a:rPr>
              <a:t>ON </a:t>
            </a:r>
            <a:r>
              <a:rPr lang="en-US" sz="4000" b="1" u="sng" dirty="0" smtClean="0">
                <a:solidFill>
                  <a:schemeClr val="dk1"/>
                </a:solidFill>
              </a:rPr>
              <a:t>HOLD:</a:t>
            </a:r>
            <a:endParaRPr lang="en-US" sz="4000" b="1" u="sng" dirty="0">
              <a:solidFill>
                <a:schemeClr val="dk1"/>
              </a:solidFill>
            </a:endParaRPr>
          </a:p>
          <a:p>
            <a:pPr marL="571500" lvl="0" indent="-571500">
              <a:spcBef>
                <a:spcPts val="1200"/>
              </a:spcBef>
              <a:buFont typeface="Wingdings" pitchFamily="2" charset="2"/>
              <a:buChar char="ü"/>
            </a:pPr>
            <a:r>
              <a:rPr lang="en-US" sz="3600" dirty="0">
                <a:solidFill>
                  <a:schemeClr val="dk1"/>
                </a:solidFill>
              </a:rPr>
              <a:t>If service logs is not updated within one cut-off period. Service logs should be updated daily. The admin manager will check the service logs regularly.</a:t>
            </a:r>
          </a:p>
          <a:p>
            <a:pPr marL="571500" lvl="0" indent="-571500">
              <a:spcBef>
                <a:spcPts val="1200"/>
              </a:spcBef>
              <a:buFont typeface="Wingdings" pitchFamily="2" charset="2"/>
              <a:buChar char="ü"/>
            </a:pPr>
            <a:r>
              <a:rPr lang="en-US" sz="3600" dirty="0">
                <a:solidFill>
                  <a:schemeClr val="dk1"/>
                </a:solidFill>
              </a:rPr>
              <a:t>If </a:t>
            </a:r>
            <a:r>
              <a:rPr lang="en-US" sz="3600" dirty="0" err="1">
                <a:solidFill>
                  <a:schemeClr val="dk1"/>
                </a:solidFill>
              </a:rPr>
              <a:t>Payslip</a:t>
            </a:r>
            <a:r>
              <a:rPr lang="en-US" sz="3600" dirty="0">
                <a:solidFill>
                  <a:schemeClr val="dk1"/>
                </a:solidFill>
              </a:rPr>
              <a:t> of the previous cut-off is not received.</a:t>
            </a:r>
          </a:p>
          <a:p>
            <a:pPr marL="571500" lvl="0" indent="-571500">
              <a:spcBef>
                <a:spcPts val="1200"/>
              </a:spcBef>
              <a:buFont typeface="Wingdings" pitchFamily="2" charset="2"/>
              <a:buChar char="ü"/>
            </a:pPr>
            <a:r>
              <a:rPr lang="en-US" sz="3600" dirty="0">
                <a:solidFill>
                  <a:schemeClr val="dk1"/>
                </a:solidFill>
              </a:rPr>
              <a:t>On-hold pay will be processed late 3 to 5 days after pay schedule and will received an Incident report for non-compliance.</a:t>
            </a:r>
          </a:p>
        </p:txBody>
      </p:sp>
      <p:sp>
        <p:nvSpPr>
          <p:cNvPr id="8" name="Google Shape;225;p11"/>
          <p:cNvSpPr/>
          <p:nvPr/>
        </p:nvSpPr>
        <p:spPr>
          <a:xfrm rot="8243363" flipH="1">
            <a:off x="-1920761" y="75847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240899" y="-38773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03744" y="-2773907"/>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7" name="Google Shape;277;p43"/>
          <p:cNvPicPr preferRelativeResize="0"/>
          <p:nvPr/>
        </p:nvPicPr>
        <p:blipFill>
          <a:blip r:embed="rId6">
            <a:alphaModFix/>
          </a:blip>
          <a:stretch>
            <a:fillRect/>
          </a:stretch>
        </p:blipFill>
        <p:spPr>
          <a:xfrm>
            <a:off x="8528041" y="1985151"/>
            <a:ext cx="9626610" cy="7920849"/>
          </a:xfrm>
          <a:prstGeom prst="rect">
            <a:avLst/>
          </a:prstGeom>
          <a:noFill/>
          <a:ln>
            <a:noFill/>
          </a:ln>
        </p:spPr>
      </p:pic>
    </p:spTree>
    <p:extLst>
      <p:ext uri="{BB962C8B-B14F-4D97-AF65-F5344CB8AC3E}">
        <p14:creationId xmlns:p14="http://schemas.microsoft.com/office/powerpoint/2010/main" val="16919628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382674"/>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DEDUCTIONS</a:t>
            </a:r>
            <a:endParaRPr sz="7000" dirty="0">
              <a:latin typeface="Barlow"/>
            </a:endParaRPr>
          </a:p>
        </p:txBody>
      </p:sp>
      <p:sp>
        <p:nvSpPr>
          <p:cNvPr id="248" name="Google Shape;248;p13"/>
          <p:cNvSpPr txBox="1"/>
          <p:nvPr/>
        </p:nvSpPr>
        <p:spPr>
          <a:xfrm>
            <a:off x="1679122" y="2954481"/>
            <a:ext cx="10910207"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800" dirty="0">
                <a:solidFill>
                  <a:srgbClr val="2E2E2E"/>
                </a:solidFill>
                <a:latin typeface="Montserrat" charset="0"/>
              </a:rPr>
              <a:t>Absences</a:t>
            </a:r>
          </a:p>
          <a:p>
            <a:pPr marL="571500" lvl="0" indent="-571500">
              <a:lnSpc>
                <a:spcPct val="150000"/>
              </a:lnSpc>
              <a:buFont typeface="Wingdings" pitchFamily="2" charset="2"/>
              <a:buChar char="Ø"/>
            </a:pPr>
            <a:r>
              <a:rPr lang="en-US" sz="4800" dirty="0" smtClean="0">
                <a:solidFill>
                  <a:srgbClr val="2E2E2E"/>
                </a:solidFill>
                <a:latin typeface="Montserrat" charset="0"/>
              </a:rPr>
              <a:t>Company </a:t>
            </a:r>
            <a:r>
              <a:rPr lang="en-US" sz="4800" dirty="0">
                <a:solidFill>
                  <a:srgbClr val="2E2E2E"/>
                </a:solidFill>
                <a:latin typeface="Montserrat" charset="0"/>
              </a:rPr>
              <a:t>Loans</a:t>
            </a:r>
          </a:p>
          <a:p>
            <a:pPr marL="571500" lvl="0" indent="-571500">
              <a:lnSpc>
                <a:spcPct val="150000"/>
              </a:lnSpc>
              <a:buFont typeface="Wingdings" pitchFamily="2" charset="2"/>
              <a:buChar char="Ø"/>
            </a:pPr>
            <a:r>
              <a:rPr lang="en-US" sz="4800" dirty="0" smtClean="0">
                <a:solidFill>
                  <a:srgbClr val="2E2E2E"/>
                </a:solidFill>
                <a:latin typeface="Montserrat" charset="0"/>
              </a:rPr>
              <a:t>Cash </a:t>
            </a:r>
            <a:r>
              <a:rPr lang="en-US" sz="4800" dirty="0">
                <a:solidFill>
                  <a:srgbClr val="2E2E2E"/>
                </a:solidFill>
                <a:latin typeface="Montserrat" charset="0"/>
              </a:rPr>
              <a:t>Advances</a:t>
            </a:r>
          </a:p>
          <a:p>
            <a:pPr marL="571500" lvl="0" indent="-571500">
              <a:lnSpc>
                <a:spcPct val="150000"/>
              </a:lnSpc>
              <a:buFont typeface="Wingdings" pitchFamily="2" charset="2"/>
              <a:buChar char="Ø"/>
            </a:pPr>
            <a:r>
              <a:rPr lang="en-US" sz="4800" dirty="0" smtClean="0">
                <a:solidFill>
                  <a:srgbClr val="2E2E2E"/>
                </a:solidFill>
                <a:latin typeface="Montserrat" charset="0"/>
              </a:rPr>
              <a:t>Asset </a:t>
            </a:r>
            <a:r>
              <a:rPr lang="en-US" sz="4800" dirty="0">
                <a:solidFill>
                  <a:srgbClr val="2E2E2E"/>
                </a:solidFill>
                <a:latin typeface="Montserrat" charset="0"/>
              </a:rPr>
              <a:t>requisition</a:t>
            </a:r>
          </a:p>
          <a:p>
            <a:pPr marL="571500" lvl="0" indent="-571500">
              <a:lnSpc>
                <a:spcPct val="150000"/>
              </a:lnSpc>
              <a:buFont typeface="Wingdings" pitchFamily="2" charset="2"/>
              <a:buChar char="Ø"/>
            </a:pPr>
            <a:r>
              <a:rPr lang="en-US" sz="4800" dirty="0" smtClean="0">
                <a:solidFill>
                  <a:srgbClr val="2E2E2E"/>
                </a:solidFill>
                <a:latin typeface="Montserrat" charset="0"/>
              </a:rPr>
              <a:t>Remittance </a:t>
            </a:r>
            <a:r>
              <a:rPr lang="en-US" sz="4800" dirty="0">
                <a:solidFill>
                  <a:srgbClr val="2E2E2E"/>
                </a:solidFill>
                <a:latin typeface="Montserrat" charset="0"/>
              </a:rPr>
              <a:t>transaction fees</a:t>
            </a:r>
            <a:r>
              <a:rPr lang="en-US" sz="4800" dirty="0" smtClean="0">
                <a:solidFill>
                  <a:srgbClr val="2E2E2E"/>
                </a:solidFill>
                <a:latin typeface="Montserrat" charset="0"/>
              </a:rPr>
              <a:t>.</a:t>
            </a:r>
            <a:endParaRPr lang="en-US" sz="4800" dirty="0">
              <a:solidFill>
                <a:srgbClr val="2E2E2E"/>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947234" y="-38392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24142" y="-2852829"/>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4655997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Definition of Terms</a:t>
            </a:r>
            <a:endParaRPr sz="7000" dirty="0">
              <a:latin typeface="Barlow"/>
            </a:endParaRPr>
          </a:p>
        </p:txBody>
      </p:sp>
      <p:sp>
        <p:nvSpPr>
          <p:cNvPr id="248" name="Google Shape;248;p13"/>
          <p:cNvSpPr txBox="1"/>
          <p:nvPr/>
        </p:nvSpPr>
        <p:spPr>
          <a:xfrm>
            <a:off x="438150" y="2462957"/>
            <a:ext cx="17411700" cy="6093976"/>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6600" b="1" dirty="0">
                <a:solidFill>
                  <a:schemeClr val="tx1"/>
                </a:solidFill>
                <a:latin typeface="Montserrat" charset="0"/>
              </a:rPr>
              <a:t>Incident Report </a:t>
            </a:r>
            <a:r>
              <a:rPr lang="en-US" sz="6600" dirty="0">
                <a:solidFill>
                  <a:schemeClr val="tx1"/>
                </a:solidFill>
                <a:latin typeface="Montserrat" charset="0"/>
              </a:rPr>
              <a:t>– a document issued reporting the events, documenting the facts related to the incident in the workplace.</a:t>
            </a: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3442822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2031325"/>
          </a:xfrm>
          <a:prstGeom prst="rect">
            <a:avLst/>
          </a:prstGeom>
          <a:noFill/>
          <a:ln>
            <a:noFill/>
          </a:ln>
        </p:spPr>
        <p:txBody>
          <a:bodyPr spcFirstLastPara="1" wrap="square" lIns="0" tIns="0" rIns="0" bIns="0" anchor="t" anchorCtr="0">
            <a:spAutoFit/>
          </a:bodyPr>
          <a:lstStyle/>
          <a:p>
            <a:pPr lvl="1" algn="ctr">
              <a:lnSpc>
                <a:spcPct val="150000"/>
              </a:lnSpc>
            </a:pPr>
            <a:r>
              <a:rPr lang="en-US" sz="8800" b="1" dirty="0">
                <a:solidFill>
                  <a:srgbClr val="004AAD"/>
                </a:solidFill>
                <a:latin typeface="Barlow"/>
                <a:ea typeface="Montserrat"/>
                <a:cs typeface="Montserrat"/>
                <a:sym typeface="Montserrat"/>
              </a:rPr>
              <a:t>Definition of Terms</a:t>
            </a:r>
            <a:endParaRPr lang="en-US" sz="8800" dirty="0">
              <a:latin typeface="Barlow"/>
            </a:endParaRPr>
          </a:p>
        </p:txBody>
      </p:sp>
      <p:sp>
        <p:nvSpPr>
          <p:cNvPr id="248" name="Google Shape;248;p13"/>
          <p:cNvSpPr txBox="1"/>
          <p:nvPr/>
        </p:nvSpPr>
        <p:spPr>
          <a:xfrm>
            <a:off x="979714" y="3260600"/>
            <a:ext cx="16214272" cy="6232475"/>
          </a:xfrm>
          <a:prstGeom prst="rect">
            <a:avLst/>
          </a:prstGeom>
          <a:noFill/>
          <a:ln>
            <a:noFill/>
          </a:ln>
        </p:spPr>
        <p:txBody>
          <a:bodyPr spcFirstLastPara="1" wrap="square" lIns="0" tIns="0" rIns="0" bIns="0" anchor="t" anchorCtr="0">
            <a:spAutoFit/>
          </a:bodyPr>
          <a:lstStyle/>
          <a:p>
            <a:pPr marL="571500" indent="-571500" algn="just">
              <a:lnSpc>
                <a:spcPct val="150000"/>
              </a:lnSpc>
              <a:buFont typeface="Wingdings" pitchFamily="2" charset="2"/>
              <a:buChar char="Ø"/>
            </a:pPr>
            <a:r>
              <a:rPr lang="en-US" sz="5400" b="1" dirty="0" smtClean="0">
                <a:solidFill>
                  <a:schemeClr val="tx1"/>
                </a:solidFill>
                <a:latin typeface="Montserrat" charset="0"/>
              </a:rPr>
              <a:t>Notice </a:t>
            </a:r>
            <a:r>
              <a:rPr lang="en-US" sz="5400" b="1" dirty="0">
                <a:solidFill>
                  <a:schemeClr val="tx1"/>
                </a:solidFill>
                <a:latin typeface="Montserrat" charset="0"/>
              </a:rPr>
              <a:t>to </a:t>
            </a:r>
            <a:r>
              <a:rPr lang="en-US" sz="5400" b="1" dirty="0" smtClean="0">
                <a:solidFill>
                  <a:schemeClr val="tx1"/>
                </a:solidFill>
                <a:latin typeface="Montserrat" charset="0"/>
              </a:rPr>
              <a:t>Explain - </a:t>
            </a:r>
            <a:r>
              <a:rPr lang="en-US" sz="5400" dirty="0" smtClean="0">
                <a:solidFill>
                  <a:schemeClr val="tx1"/>
                </a:solidFill>
                <a:latin typeface="Montserrat" charset="0"/>
              </a:rPr>
              <a:t>is </a:t>
            </a:r>
            <a:r>
              <a:rPr lang="en-US" sz="5400" dirty="0">
                <a:solidFill>
                  <a:schemeClr val="tx1"/>
                </a:solidFill>
                <a:latin typeface="Montserrat" charset="0"/>
              </a:rPr>
              <a:t>a document issued to any Virtual </a:t>
            </a:r>
            <a:r>
              <a:rPr lang="en-US" sz="5400" dirty="0" smtClean="0">
                <a:solidFill>
                  <a:schemeClr val="tx1"/>
                </a:solidFill>
                <a:latin typeface="Montserrat" charset="0"/>
              </a:rPr>
              <a:t>Assistant </a:t>
            </a:r>
            <a:r>
              <a:rPr lang="en-US" sz="5400" dirty="0">
                <a:solidFill>
                  <a:schemeClr val="tx1"/>
                </a:solidFill>
                <a:latin typeface="Montserrat" charset="0"/>
              </a:rPr>
              <a:t>who violated the company policy, rules, and procedures</a:t>
            </a:r>
            <a:r>
              <a:rPr lang="en-US" sz="5400" dirty="0" smtClean="0">
                <a:solidFill>
                  <a:schemeClr val="tx1"/>
                </a:solidFill>
                <a:latin typeface="Montserrat" charset="0"/>
              </a:rPr>
              <a:t>. An </a:t>
            </a:r>
            <a:r>
              <a:rPr lang="en-US" sz="5400" dirty="0">
                <a:solidFill>
                  <a:schemeClr val="tx1"/>
                </a:solidFill>
                <a:latin typeface="Montserrat" charset="0"/>
              </a:rPr>
              <a:t>incident that violated the company policy rules and procedures</a:t>
            </a:r>
            <a:r>
              <a:rPr lang="en-US" sz="5400" dirty="0" smtClean="0">
                <a:solidFill>
                  <a:schemeClr val="tx1"/>
                </a:solidFill>
                <a:latin typeface="Montserrat" charset="0"/>
              </a:rPr>
              <a:t>.</a:t>
            </a:r>
            <a:endParaRPr lang="en-US" sz="5400" dirty="0">
              <a:solidFill>
                <a:schemeClr val="tx1"/>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5823912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1740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653143" y="3443563"/>
            <a:ext cx="16671472" cy="5539978"/>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4800" dirty="0" smtClean="0">
                <a:solidFill>
                  <a:schemeClr val="tx1"/>
                </a:solidFill>
                <a:latin typeface="Montserrat" charset="0"/>
              </a:rPr>
              <a:t>An </a:t>
            </a:r>
            <a:r>
              <a:rPr lang="en-US" sz="4800" dirty="0">
                <a:solidFill>
                  <a:schemeClr val="tx1"/>
                </a:solidFill>
                <a:latin typeface="Montserrat" charset="0"/>
              </a:rPr>
              <a:t>NTE 1 will be issued to a Virtual Assistant with a supporting incident report and factual evidence.</a:t>
            </a:r>
          </a:p>
          <a:p>
            <a:pPr marL="1371600" lvl="0" indent="-506413" algn="just">
              <a:lnSpc>
                <a:spcPct val="150000"/>
              </a:lnSpc>
              <a:buFont typeface="+mj-lt"/>
              <a:buAutoNum type="alphaLcParenR"/>
            </a:pPr>
            <a:r>
              <a:rPr lang="en-US" sz="4800" dirty="0">
                <a:solidFill>
                  <a:schemeClr val="tx1"/>
                </a:solidFill>
                <a:latin typeface="Montserrat" charset="0"/>
              </a:rPr>
              <a:t> </a:t>
            </a:r>
            <a:r>
              <a:rPr lang="en-US" sz="4800" dirty="0" smtClean="0">
                <a:solidFill>
                  <a:schemeClr val="tx1"/>
                </a:solidFill>
                <a:latin typeface="Montserrat" charset="0"/>
              </a:rPr>
              <a:t>The </a:t>
            </a:r>
            <a:r>
              <a:rPr lang="en-US" sz="4800" dirty="0">
                <a:solidFill>
                  <a:schemeClr val="tx1"/>
                </a:solidFill>
                <a:latin typeface="Montserrat" charset="0"/>
              </a:rPr>
              <a:t>Virtual Assistant will be given 24 hours to explain and to present her factual evidence to prove otherwise the NTE </a:t>
            </a:r>
            <a:r>
              <a:rPr lang="en-US" sz="4800" dirty="0" smtClean="0">
                <a:solidFill>
                  <a:schemeClr val="tx1"/>
                </a:solidFill>
                <a:latin typeface="Montserrat" charset="0"/>
              </a:rPr>
              <a:t>issued.</a:t>
            </a:r>
          </a:p>
        </p:txBody>
      </p:sp>
      <p:sp>
        <p:nvSpPr>
          <p:cNvPr id="8" name="Google Shape;225;p11"/>
          <p:cNvSpPr/>
          <p:nvPr/>
        </p:nvSpPr>
        <p:spPr>
          <a:xfrm rot="8243363" flipH="1">
            <a:off x="-2720402" y="538092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3672453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3373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918355" y="2449562"/>
            <a:ext cx="15573502" cy="6786473"/>
          </a:xfrm>
          <a:prstGeom prst="rect">
            <a:avLst/>
          </a:prstGeom>
          <a:noFill/>
          <a:ln>
            <a:noFill/>
          </a:ln>
        </p:spPr>
        <p:txBody>
          <a:bodyPr spcFirstLastPara="1" wrap="square" lIns="0" tIns="0" rIns="0" bIns="0" anchor="t" anchorCtr="0">
            <a:spAutoFit/>
          </a:bodyPr>
          <a:lstStyle/>
          <a:p>
            <a:pPr marL="865187"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a:t>
            </a:r>
            <a:r>
              <a:rPr lang="en-US" sz="4200" dirty="0" err="1" smtClean="0">
                <a:solidFill>
                  <a:schemeClr val="tx1"/>
                </a:solidFill>
                <a:latin typeface="Montserrat" charset="0"/>
              </a:rPr>
              <a:t>tenureship</a:t>
            </a:r>
            <a:r>
              <a:rPr lang="en-US" sz="4200" dirty="0">
                <a:solidFill>
                  <a:schemeClr val="tx1"/>
                </a:solidFill>
                <a:latin typeface="Montserrat" charset="0"/>
              </a:rPr>
              <a:t>, bonuses, and incentives within six (6) </a:t>
            </a:r>
            <a:r>
              <a:rPr lang="en-US" sz="4200" dirty="0" smtClean="0">
                <a:solidFill>
                  <a:schemeClr val="tx1"/>
                </a:solidFill>
                <a:latin typeface="Montserrat" charset="0"/>
              </a:rPr>
              <a:t>months.</a:t>
            </a:r>
          </a:p>
          <a:p>
            <a:pPr marL="865187" lvl="0" algn="just">
              <a:lnSpc>
                <a:spcPct val="150000"/>
              </a:lnSpc>
            </a:pPr>
            <a:r>
              <a:rPr lang="en-US" sz="4200" dirty="0">
                <a:solidFill>
                  <a:schemeClr val="tx1"/>
                </a:solidFill>
                <a:latin typeface="Montserrat" charset="0"/>
              </a:rPr>
              <a:t>c.) The 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2327159" y="58087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663944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09196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438150" y="2901297"/>
            <a:ext cx="16344900" cy="5078313"/>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400" dirty="0">
                <a:solidFill>
                  <a:schemeClr val="tx1"/>
                </a:solidFill>
                <a:latin typeface="Montserrat" charset="0"/>
              </a:rPr>
              <a:t>An NTE 2 will be issued to Virtual </a:t>
            </a:r>
            <a:r>
              <a:rPr lang="en-US" sz="4400" dirty="0" smtClean="0">
                <a:solidFill>
                  <a:schemeClr val="tx1"/>
                </a:solidFill>
                <a:latin typeface="Montserrat" charset="0"/>
              </a:rPr>
              <a:t>assistant </a:t>
            </a:r>
            <a:r>
              <a:rPr lang="en-US" sz="4400" dirty="0">
                <a:solidFill>
                  <a:schemeClr val="tx1"/>
                </a:solidFill>
                <a:latin typeface="Montserrat" charset="0"/>
              </a:rPr>
              <a:t>after the issuance of NTE 1 within one (1) year calendar period. </a:t>
            </a:r>
            <a:endParaRPr lang="en-US" sz="4400" dirty="0" smtClean="0">
              <a:solidFill>
                <a:schemeClr val="tx1"/>
              </a:solidFill>
              <a:latin typeface="Montserrat" charset="0"/>
            </a:endParaRPr>
          </a:p>
          <a:p>
            <a:pPr marL="2286000" lvl="0" indent="-787400" algn="just">
              <a:lnSpc>
                <a:spcPct val="150000"/>
              </a:lnSpc>
              <a:buFont typeface="+mj-lt"/>
              <a:buAutoNum type="alphaLcParenR"/>
            </a:pPr>
            <a:r>
              <a:rPr lang="en-US" sz="4400" dirty="0">
                <a:solidFill>
                  <a:schemeClr val="tx1"/>
                </a:solidFill>
                <a:latin typeface="Montserrat" charset="0"/>
              </a:rPr>
              <a:t>The Virtual Assistant will be given 24 hours to explain and to present her factual evidence to prove otherwise the NTE </a:t>
            </a:r>
            <a:r>
              <a:rPr lang="en-US" sz="4400" dirty="0" smtClean="0">
                <a:solidFill>
                  <a:schemeClr val="tx1"/>
                </a:solidFill>
                <a:latin typeface="Montserrat" charset="0"/>
              </a:rPr>
              <a:t>issued.</a:t>
            </a:r>
          </a:p>
        </p:txBody>
      </p:sp>
      <p:sp>
        <p:nvSpPr>
          <p:cNvPr id="8" name="Google Shape;225;p11"/>
          <p:cNvSpPr/>
          <p:nvPr/>
        </p:nvSpPr>
        <p:spPr>
          <a:xfrm rot="8243363" flipH="1">
            <a:off x="-3593395" y="55801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528973"/>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402139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263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685801" y="2981216"/>
            <a:ext cx="16099970" cy="6786473"/>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tenure ship, promotion, bonuses and incentives within one (1) </a:t>
            </a:r>
            <a:r>
              <a:rPr lang="en-US" sz="4200" dirty="0" smtClean="0">
                <a:solidFill>
                  <a:schemeClr val="tx1"/>
                </a:solidFill>
                <a:latin typeface="Montserrat" charset="0"/>
              </a:rPr>
              <a:t>year.</a:t>
            </a:r>
          </a:p>
          <a:p>
            <a:pPr marL="1498600" lvl="0" algn="just">
              <a:lnSpc>
                <a:spcPct val="150000"/>
              </a:lnSpc>
            </a:pPr>
            <a:r>
              <a:rPr lang="en-US" sz="4200" dirty="0" smtClean="0">
                <a:solidFill>
                  <a:schemeClr val="tx1"/>
                </a:solidFill>
                <a:latin typeface="Montserrat" charset="0"/>
              </a:rPr>
              <a:t>c) The </a:t>
            </a:r>
            <a:r>
              <a:rPr lang="en-US" sz="4200" dirty="0">
                <a:solidFill>
                  <a:schemeClr val="tx1"/>
                </a:solidFill>
                <a:latin typeface="Montserrat" charset="0"/>
              </a:rPr>
              <a:t>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7788159" y="4843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7905651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5873"/>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82553" y="3067115"/>
            <a:ext cx="16910048" cy="4847481"/>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200" dirty="0">
                <a:solidFill>
                  <a:schemeClr val="tx1"/>
                </a:solidFill>
                <a:latin typeface="Montserrat" charset="0"/>
              </a:rPr>
              <a:t>An NTE 3 will be issued to Virtual </a:t>
            </a:r>
            <a:r>
              <a:rPr lang="en-US" sz="4200" dirty="0" smtClean="0">
                <a:solidFill>
                  <a:schemeClr val="tx1"/>
                </a:solidFill>
                <a:latin typeface="Montserrat" charset="0"/>
              </a:rPr>
              <a:t>assistant </a:t>
            </a:r>
            <a:r>
              <a:rPr lang="en-US" sz="4200" dirty="0">
                <a:solidFill>
                  <a:schemeClr val="tx1"/>
                </a:solidFill>
                <a:latin typeface="Montserrat" charset="0"/>
              </a:rPr>
              <a:t>after issuance of NTE within one (1) fiscal year period. </a:t>
            </a:r>
            <a:endParaRPr lang="en-US" sz="4200" dirty="0" smtClean="0">
              <a:solidFill>
                <a:schemeClr val="tx1"/>
              </a:solidFill>
              <a:latin typeface="Montserrat" charset="0"/>
            </a:endParaRPr>
          </a:p>
          <a:p>
            <a:pPr marL="2286000" lvl="0" indent="-787400" algn="just">
              <a:lnSpc>
                <a:spcPct val="150000"/>
              </a:lnSpc>
              <a:buFont typeface="+mj-lt"/>
              <a:buAutoNum type="alphaLcParenR"/>
            </a:pPr>
            <a:r>
              <a:rPr lang="en-US" sz="4200" dirty="0">
                <a:solidFill>
                  <a:schemeClr val="tx1"/>
                </a:solidFill>
                <a:latin typeface="Montserrat" charset="0"/>
              </a:rPr>
              <a:t>The Virtual Assistant will be given 24 hours to explain and to present her factual evidence to prove otherwise the NTE issued</a:t>
            </a:r>
            <a:r>
              <a:rPr lang="en-US" sz="4200" dirty="0" smtClean="0">
                <a:solidFill>
                  <a:schemeClr val="tx1"/>
                </a:solidFill>
                <a:latin typeface="Montserrat" charset="0"/>
              </a:rPr>
              <a:t>.</a:t>
            </a:r>
          </a:p>
        </p:txBody>
      </p:sp>
      <p:sp>
        <p:nvSpPr>
          <p:cNvPr id="8" name="Google Shape;225;p11"/>
          <p:cNvSpPr/>
          <p:nvPr/>
        </p:nvSpPr>
        <p:spPr>
          <a:xfrm rot="8243363" flipH="1">
            <a:off x="-2802947" y="5732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9" y="-210257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566298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99074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120650" y="2671600"/>
            <a:ext cx="17411700" cy="4985980"/>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5400" dirty="0" smtClean="0">
                <a:solidFill>
                  <a:schemeClr val="tx1"/>
                </a:solidFill>
                <a:latin typeface="Montserrat" charset="0"/>
              </a:rPr>
              <a:t>b</a:t>
            </a:r>
            <a:r>
              <a:rPr lang="en-US" sz="5400" dirty="0">
                <a:solidFill>
                  <a:schemeClr val="tx1"/>
                </a:solidFill>
                <a:latin typeface="Montserrat" charset="0"/>
              </a:rPr>
              <a:t>) Once a response is received and proof of violation is presented, the Virtual Assistant is terminated to all his company access and will be issued a Notice of Termination.</a:t>
            </a:r>
            <a:endParaRPr lang="en-US" sz="5400" dirty="0" smtClean="0">
              <a:solidFill>
                <a:schemeClr val="tx1"/>
              </a:solidFill>
              <a:latin typeface="Montserrat" charset="0"/>
            </a:endParaRPr>
          </a:p>
        </p:txBody>
      </p:sp>
      <p:sp>
        <p:nvSpPr>
          <p:cNvPr id="8" name="Google Shape;225;p11"/>
          <p:cNvSpPr/>
          <p:nvPr/>
        </p:nvSpPr>
        <p:spPr>
          <a:xfrm rot="8243363" flipH="1">
            <a:off x="-2720402" y="4843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5367253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849086" y="1257625"/>
            <a:ext cx="16622485" cy="8125301"/>
          </a:xfrm>
          <a:prstGeom prst="rect">
            <a:avLst/>
          </a:prstGeom>
          <a:noFill/>
          <a:ln>
            <a:noFill/>
          </a:ln>
        </p:spPr>
        <p:txBody>
          <a:bodyPr spcFirstLastPara="1" wrap="square" lIns="0" tIns="0" rIns="0" bIns="0" anchor="t" anchorCtr="0">
            <a:spAutoFit/>
          </a:bodyPr>
          <a:lstStyle/>
          <a:p>
            <a:pPr marL="177800" lvl="0" algn="just">
              <a:lnSpc>
                <a:spcPct val="150000"/>
              </a:lnSpc>
            </a:pPr>
            <a:r>
              <a:rPr lang="en-US" sz="4400" dirty="0">
                <a:solidFill>
                  <a:schemeClr val="tx1"/>
                </a:solidFill>
                <a:latin typeface="Montserrat" charset="0"/>
              </a:rPr>
              <a:t>A Virtual Assistant who has been issued an NTE 1, NTE 2, and NTE 3 will reset every fiscal year.</a:t>
            </a:r>
          </a:p>
          <a:p>
            <a:pPr marL="1371600" lvl="0" indent="-457200" algn="just">
              <a:lnSpc>
                <a:spcPct val="150000"/>
              </a:lnSpc>
              <a:buFont typeface="Wingdings" pitchFamily="2" charset="2"/>
              <a:buChar char="Ø"/>
            </a:pPr>
            <a:r>
              <a:rPr lang="en-US" sz="4400" dirty="0">
                <a:solidFill>
                  <a:schemeClr val="tx1"/>
                </a:solidFill>
                <a:latin typeface="Montserrat" charset="0"/>
              </a:rPr>
              <a:t>	</a:t>
            </a:r>
            <a:r>
              <a:rPr lang="en-US" sz="4400" dirty="0" smtClean="0">
                <a:solidFill>
                  <a:schemeClr val="tx1"/>
                </a:solidFill>
                <a:latin typeface="Montserrat" charset="0"/>
              </a:rPr>
              <a:t>An </a:t>
            </a:r>
            <a:r>
              <a:rPr lang="en-US" sz="4400" dirty="0">
                <a:solidFill>
                  <a:schemeClr val="tx1"/>
                </a:solidFill>
                <a:latin typeface="Montserrat" charset="0"/>
              </a:rPr>
              <a:t>NTE will be cleared within one (1) year from issuing the last NTE date.</a:t>
            </a:r>
          </a:p>
          <a:p>
            <a:pPr marL="177800" lvl="0" algn="just">
              <a:lnSpc>
                <a:spcPct val="150000"/>
              </a:lnSpc>
            </a:pPr>
            <a:r>
              <a:rPr lang="en-US" sz="4400" dirty="0">
                <a:solidFill>
                  <a:schemeClr val="tx1"/>
                </a:solidFill>
                <a:latin typeface="Montserrat" charset="0"/>
              </a:rPr>
              <a:t>		Example:</a:t>
            </a:r>
          </a:p>
          <a:p>
            <a:pPr marL="177800" lvl="0" algn="just">
              <a:lnSpc>
                <a:spcPct val="150000"/>
              </a:lnSpc>
            </a:pPr>
            <a:r>
              <a:rPr lang="en-US" sz="4400" dirty="0">
                <a:solidFill>
                  <a:schemeClr val="tx1"/>
                </a:solidFill>
                <a:latin typeface="Montserrat" charset="0"/>
              </a:rPr>
              <a:t>			NTE 1 - issued January 5, 2022</a:t>
            </a:r>
          </a:p>
          <a:p>
            <a:pPr marL="177800" lvl="0" algn="just">
              <a:lnSpc>
                <a:spcPct val="150000"/>
              </a:lnSpc>
            </a:pPr>
            <a:r>
              <a:rPr lang="en-US" sz="4400" dirty="0">
                <a:solidFill>
                  <a:schemeClr val="tx1"/>
                </a:solidFill>
                <a:latin typeface="Montserrat" charset="0"/>
              </a:rPr>
              <a:t>   			NTE 2 – issued December 26, 2022</a:t>
            </a:r>
          </a:p>
          <a:p>
            <a:pPr marL="177800" lvl="0" algn="just">
              <a:lnSpc>
                <a:spcPct val="150000"/>
              </a:lnSpc>
            </a:pPr>
            <a:r>
              <a:rPr lang="en-US" sz="4400" dirty="0">
                <a:solidFill>
                  <a:schemeClr val="tx1"/>
                </a:solidFill>
                <a:latin typeface="Montserrat" charset="0"/>
              </a:rPr>
              <a:t>			Clearance – December 27, 2023</a:t>
            </a:r>
          </a:p>
        </p:txBody>
      </p:sp>
      <p:sp>
        <p:nvSpPr>
          <p:cNvPr id="8" name="Google Shape;225;p11"/>
          <p:cNvSpPr/>
          <p:nvPr/>
        </p:nvSpPr>
        <p:spPr>
          <a:xfrm rot="8243363" flipH="1">
            <a:off x="-2602792" y="5478587"/>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7947898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issuance of NTE, a 15 days evaluation based on action item and recommendation.    </a:t>
            </a:r>
            <a:endParaRPr lang="en-US" sz="4400" dirty="0" smtClean="0">
              <a:solidFill>
                <a:schemeClr val="tx1"/>
              </a:solidFill>
              <a:latin typeface="Montserrat" charset="0"/>
            </a:endParaRPr>
          </a:p>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three (3) months of evaluations and observations, NTE can be lifted based on manager recommendation and top management approval.</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2781341"/>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387350" y="10670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NTE 1 Clearance</a:t>
            </a:r>
            <a:endParaRPr lang="en-US" sz="7000" dirty="0">
              <a:latin typeface="Barlow"/>
            </a:endParaRPr>
          </a:p>
        </p:txBody>
      </p:sp>
    </p:spTree>
    <p:extLst>
      <p:ext uri="{BB962C8B-B14F-4D97-AF65-F5344CB8AC3E}">
        <p14:creationId xmlns:p14="http://schemas.microsoft.com/office/powerpoint/2010/main" val="1771732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8" name="Google Shape;225;p11"/>
          <p:cNvSpPr/>
          <p:nvPr/>
        </p:nvSpPr>
        <p:spPr>
          <a:xfrm rot="8243363" flipH="1">
            <a:off x="-4816359" y="55039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aphicFrame>
        <p:nvGraphicFramePr>
          <p:cNvPr id="7" name="Table 6"/>
          <p:cNvGraphicFramePr>
            <a:graphicFrameLocks noGrp="1"/>
          </p:cNvGraphicFramePr>
          <p:nvPr>
            <p:extLst>
              <p:ext uri="{D42A27DB-BD31-4B8C-83A1-F6EECF244321}">
                <p14:modId xmlns:p14="http://schemas.microsoft.com/office/powerpoint/2010/main" val="3963446538"/>
              </p:ext>
            </p:extLst>
          </p:nvPr>
        </p:nvGraphicFramePr>
        <p:xfrm>
          <a:off x="711199" y="736597"/>
          <a:ext cx="16789401" cy="9042402"/>
        </p:xfrm>
        <a:graphic>
          <a:graphicData uri="http://schemas.openxmlformats.org/drawingml/2006/table">
            <a:tbl>
              <a:tblPr/>
              <a:tblGrid>
                <a:gridCol w="6367086"/>
                <a:gridCol w="2084463"/>
                <a:gridCol w="2084463"/>
                <a:gridCol w="2084463"/>
                <a:gridCol w="2084463"/>
                <a:gridCol w="2084463"/>
              </a:tblGrid>
              <a:tr h="1507067">
                <a:tc>
                  <a:txBody>
                    <a:bodyPr/>
                    <a:lstStyle/>
                    <a:p>
                      <a:pPr algn="l" fontAlgn="b"/>
                      <a:r>
                        <a:rPr lang="en-SG" sz="4000" b="0" i="0" u="none" strike="noStrike" dirty="0">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1st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2nd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3rd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4th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5th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dirty="0">
                          <a:solidFill>
                            <a:srgbClr val="000000"/>
                          </a:solidFill>
                          <a:effectLst/>
                          <a:latin typeface="Arial Narrow" pitchFamily="34" charset="0"/>
                        </a:rPr>
                        <a:t>Verbal Warning from Immediate Head</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from HR personnel with IR</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1</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2</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6DC2"/>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NTE 3 – Notice of Termination</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just" fontAlgn="ctr"/>
                      <a:r>
                        <a:rPr lang="en-PH" sz="3200" b="0" i="0" u="none" strike="noStrike" dirty="0">
                          <a:solidFill>
                            <a:srgbClr val="000000"/>
                          </a:solidFill>
                          <a:effectLst/>
                          <a:latin typeface="Arial Narrow" pitchFamily="34" charset="0"/>
                        </a:rPr>
                        <a:t> </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r>
            </a:tbl>
          </a:graphicData>
        </a:graphic>
      </p:graphicFrame>
    </p:spTree>
    <p:extLst>
      <p:ext uri="{BB962C8B-B14F-4D97-AF65-F5344CB8AC3E}">
        <p14:creationId xmlns:p14="http://schemas.microsoft.com/office/powerpoint/2010/main" val="10638691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a:solidFill>
                  <a:schemeClr val="tx1"/>
                </a:solidFill>
                <a:latin typeface="Montserrat" charset="0"/>
              </a:rPr>
              <a:t>Abandonment of duties and responsibilities within 48 hours will automatically be </a:t>
            </a:r>
            <a:r>
              <a:rPr lang="en-US" sz="4400" dirty="0" smtClean="0">
                <a:solidFill>
                  <a:schemeClr val="tx1"/>
                </a:solidFill>
                <a:latin typeface="Montserrat" charset="0"/>
              </a:rPr>
              <a:t>terminated </a:t>
            </a:r>
            <a:r>
              <a:rPr lang="en-US" sz="4400" dirty="0">
                <a:solidFill>
                  <a:schemeClr val="tx1"/>
                </a:solidFill>
                <a:latin typeface="Montserrat" charset="0"/>
              </a:rPr>
              <a:t>and tagged as AWOL – absence without leave.</a:t>
            </a:r>
          </a:p>
          <a:p>
            <a:pPr marL="863600" lvl="0" indent="-685800" algn="just">
              <a:lnSpc>
                <a:spcPct val="150000"/>
              </a:lnSpc>
              <a:buFont typeface="Wingdings" pitchFamily="2" charset="2"/>
              <a:buChar char="Ø"/>
            </a:pPr>
            <a:r>
              <a:rPr lang="en-US" sz="4400" dirty="0" smtClean="0">
                <a:solidFill>
                  <a:schemeClr val="tx1"/>
                </a:solidFill>
                <a:latin typeface="Montserrat" charset="0"/>
              </a:rPr>
              <a:t>An </a:t>
            </a:r>
            <a:r>
              <a:rPr lang="en-US" sz="4400" dirty="0">
                <a:solidFill>
                  <a:schemeClr val="tx1"/>
                </a:solidFill>
                <a:latin typeface="Montserrat" charset="0"/>
              </a:rPr>
              <a:t>AWOL Virtual Assistant will not receive the final pay and Certificate of Employment.</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425911" y="128131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ABANDONMENT</a:t>
            </a:r>
            <a:endParaRPr lang="en-US" sz="7000" dirty="0">
              <a:latin typeface="Barlow"/>
            </a:endParaRPr>
          </a:p>
        </p:txBody>
      </p:sp>
    </p:spTree>
    <p:extLst>
      <p:ext uri="{BB962C8B-B14F-4D97-AF65-F5344CB8AC3E}">
        <p14:creationId xmlns:p14="http://schemas.microsoft.com/office/powerpoint/2010/main" val="11817309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938071"/>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88526" y="2924374"/>
            <a:ext cx="17627974"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Tree>
    <p:extLst>
      <p:ext uri="{BB962C8B-B14F-4D97-AF65-F5344CB8AC3E}">
        <p14:creationId xmlns:p14="http://schemas.microsoft.com/office/powerpoint/2010/main" val="2226366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958</TotalTime>
  <Words>2769</Words>
  <Application>Microsoft Office PowerPoint</Application>
  <PresentationFormat>Custom</PresentationFormat>
  <Paragraphs>424</Paragraphs>
  <Slides>48</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Calibri</vt:lpstr>
      <vt:lpstr>Roboto</vt:lpstr>
      <vt:lpstr>Arial Narrow</vt:lpstr>
      <vt:lpstr>Montserrat</vt:lpstr>
      <vt:lpstr>Wingdings</vt:lpstr>
      <vt:lpstr>Barlow</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lenovo</cp:lastModifiedBy>
  <cp:revision>38</cp:revision>
  <dcterms:created xsi:type="dcterms:W3CDTF">2006-08-16T00:00:00Z</dcterms:created>
  <dcterms:modified xsi:type="dcterms:W3CDTF">2024-02-21T17:55:11Z</dcterms:modified>
</cp:coreProperties>
</file>