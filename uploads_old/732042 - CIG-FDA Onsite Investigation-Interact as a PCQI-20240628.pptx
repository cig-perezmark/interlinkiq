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Montserrat"/>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0" roundtripDataSignature="AMtx7mhI+HxMdmDyqlBH4KqvcwG/OQfb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Montserrat-bold.fntdata"/><Relationship Id="rId14" Type="http://schemas.openxmlformats.org/officeDocument/2006/relationships/slide" Target="slides/slide9.xml"/><Relationship Id="rId36" Type="http://schemas.openxmlformats.org/officeDocument/2006/relationships/font" Target="fonts/Montserrat-regular.fntdata"/><Relationship Id="rId17" Type="http://schemas.openxmlformats.org/officeDocument/2006/relationships/slide" Target="slides/slide12.xml"/><Relationship Id="rId39" Type="http://schemas.openxmlformats.org/officeDocument/2006/relationships/font" Target="fonts/Montserrat-boldItalic.fntdata"/><Relationship Id="rId16" Type="http://schemas.openxmlformats.org/officeDocument/2006/relationships/slide" Target="slides/slide11.xml"/><Relationship Id="rId38" Type="http://schemas.openxmlformats.org/officeDocument/2006/relationships/font" Target="fonts/Montserrat-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4" name="Google Shape;35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4" name="Google Shape;36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4" name="Google Shape;37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3" name="Google Shape;13;p3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4" name="Google Shape;14;p3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3"/>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7" name="Google Shape;17;p33"/>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Clr>
                <a:srgbClr val="888888"/>
              </a:buClr>
              <a:buSzPts val="1600"/>
              <a:buNone/>
              <a:defRPr>
                <a:solidFill>
                  <a:srgbClr val="888888"/>
                </a:solidFill>
              </a:defRPr>
            </a:lvl1pPr>
            <a:lvl2pPr lvl="1" algn="ctr">
              <a:lnSpc>
                <a:spcPct val="100000"/>
              </a:lnSpc>
              <a:spcBef>
                <a:spcPts val="300"/>
              </a:spcBef>
              <a:spcAft>
                <a:spcPts val="0"/>
              </a:spcAft>
              <a:buClr>
                <a:srgbClr val="888888"/>
              </a:buClr>
              <a:buSzPts val="1400"/>
              <a:buNone/>
              <a:defRPr>
                <a:solidFill>
                  <a:srgbClr val="888888"/>
                </a:solidFill>
              </a:defRPr>
            </a:lvl2pPr>
            <a:lvl3pPr lvl="2" algn="ctr">
              <a:lnSpc>
                <a:spcPct val="100000"/>
              </a:lnSpc>
              <a:spcBef>
                <a:spcPts val="200"/>
              </a:spcBef>
              <a:spcAft>
                <a:spcPts val="0"/>
              </a:spcAft>
              <a:buClr>
                <a:srgbClr val="888888"/>
              </a:buClr>
              <a:buSzPts val="1200"/>
              <a:buNone/>
              <a:defRPr>
                <a:solidFill>
                  <a:srgbClr val="888888"/>
                </a:solidFill>
              </a:defRPr>
            </a:lvl3pPr>
            <a:lvl4pPr lvl="3" algn="ctr">
              <a:lnSpc>
                <a:spcPct val="100000"/>
              </a:lnSpc>
              <a:spcBef>
                <a:spcPts val="200"/>
              </a:spcBef>
              <a:spcAft>
                <a:spcPts val="0"/>
              </a:spcAft>
              <a:buClr>
                <a:srgbClr val="888888"/>
              </a:buClr>
              <a:buSzPts val="10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200"/>
              </a:spcBef>
              <a:spcAft>
                <a:spcPts val="0"/>
              </a:spcAft>
              <a:buClr>
                <a:srgbClr val="888888"/>
              </a:buClr>
              <a:buSzPts val="1000"/>
              <a:buNone/>
              <a:defRPr>
                <a:solidFill>
                  <a:srgbClr val="888888"/>
                </a:solidFill>
              </a:defRPr>
            </a:lvl6pPr>
            <a:lvl7pPr lvl="6" algn="ctr">
              <a:lnSpc>
                <a:spcPct val="100000"/>
              </a:lnSpc>
              <a:spcBef>
                <a:spcPts val="200"/>
              </a:spcBef>
              <a:spcAft>
                <a:spcPts val="0"/>
              </a:spcAft>
              <a:buClr>
                <a:srgbClr val="888888"/>
              </a:buClr>
              <a:buSzPts val="1000"/>
              <a:buNone/>
              <a:defRPr>
                <a:solidFill>
                  <a:srgbClr val="888888"/>
                </a:solidFill>
              </a:defRPr>
            </a:lvl7pPr>
            <a:lvl8pPr lvl="7" algn="ctr">
              <a:lnSpc>
                <a:spcPct val="100000"/>
              </a:lnSpc>
              <a:spcBef>
                <a:spcPts val="200"/>
              </a:spcBef>
              <a:spcAft>
                <a:spcPts val="0"/>
              </a:spcAft>
              <a:buClr>
                <a:srgbClr val="888888"/>
              </a:buClr>
              <a:buSzPts val="1000"/>
              <a:buNone/>
              <a:defRPr>
                <a:solidFill>
                  <a:srgbClr val="888888"/>
                </a:solidFill>
              </a:defRPr>
            </a:lvl8pPr>
            <a:lvl9pPr lvl="8" algn="ctr">
              <a:lnSpc>
                <a:spcPct val="100000"/>
              </a:lnSpc>
              <a:spcBef>
                <a:spcPts val="200"/>
              </a:spcBef>
              <a:spcAft>
                <a:spcPts val="0"/>
              </a:spcAft>
              <a:buClr>
                <a:srgbClr val="888888"/>
              </a:buClr>
              <a:buSzPts val="1000"/>
              <a:buNone/>
              <a:defRPr>
                <a:solidFill>
                  <a:srgbClr val="888888"/>
                </a:solidFill>
              </a:defRPr>
            </a:lvl9pPr>
          </a:lstStyle>
          <a:p/>
        </p:txBody>
      </p:sp>
      <p:sp>
        <p:nvSpPr>
          <p:cNvPr id="18" name="Google Shape;18;p3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9" name="Google Shape;19;p3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0" name="Google Shape;20;p3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4"/>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3" name="Google Shape;23;p34"/>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24" name="Google Shape;24;p3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5" name="Google Shape;25;p3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6" name="Google Shape;26;p3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5"/>
          <p:cNvSpPr txBox="1"/>
          <p:nvPr>
            <p:ph type="title"/>
          </p:nvPr>
        </p:nvSpPr>
        <p:spPr>
          <a:xfrm>
            <a:off x="361156" y="2203450"/>
            <a:ext cx="3886200" cy="681000"/>
          </a:xfrm>
          <a:prstGeom prst="rect">
            <a:avLst/>
          </a:prstGeom>
          <a:noFill/>
          <a:ln>
            <a:noFill/>
          </a:ln>
        </p:spPr>
        <p:txBody>
          <a:bodyPr anchorCtr="0" anchor="t" bIns="22850" lIns="45725" spcFirstLastPara="1" rIns="45725" wrap="square" tIns="22850">
            <a:norm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9" name="Google Shape;29;p35"/>
          <p:cNvSpPr txBox="1"/>
          <p:nvPr>
            <p:ph idx="1" type="body"/>
          </p:nvPr>
        </p:nvSpPr>
        <p:spPr>
          <a:xfrm>
            <a:off x="361156" y="1453357"/>
            <a:ext cx="3886200" cy="7503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rgbClr val="888888"/>
              </a:buClr>
              <a:buSzPts val="1000"/>
              <a:buNone/>
              <a:defRPr sz="1000">
                <a:solidFill>
                  <a:srgbClr val="888888"/>
                </a:solidFill>
              </a:defRPr>
            </a:lvl1pPr>
            <a:lvl2pPr indent="-228600" lvl="1" marL="914400" algn="l">
              <a:lnSpc>
                <a:spcPct val="100000"/>
              </a:lnSpc>
              <a:spcBef>
                <a:spcPts val="200"/>
              </a:spcBef>
              <a:spcAft>
                <a:spcPts val="0"/>
              </a:spcAft>
              <a:buClr>
                <a:srgbClr val="888888"/>
              </a:buClr>
              <a:buSzPts val="900"/>
              <a:buNone/>
              <a:defRPr sz="900">
                <a:solidFill>
                  <a:srgbClr val="888888"/>
                </a:solidFill>
              </a:defRPr>
            </a:lvl2pPr>
            <a:lvl3pPr indent="-228600" lvl="2" marL="1371600" algn="l">
              <a:lnSpc>
                <a:spcPct val="100000"/>
              </a:lnSpc>
              <a:spcBef>
                <a:spcPts val="200"/>
              </a:spcBef>
              <a:spcAft>
                <a:spcPts val="0"/>
              </a:spcAft>
              <a:buClr>
                <a:srgbClr val="888888"/>
              </a:buClr>
              <a:buSzPts val="800"/>
              <a:buNone/>
              <a:defRPr sz="800">
                <a:solidFill>
                  <a:srgbClr val="888888"/>
                </a:solidFill>
              </a:defRPr>
            </a:lvl3pPr>
            <a:lvl4pPr indent="-228600" lvl="3" marL="1828800" algn="l">
              <a:lnSpc>
                <a:spcPct val="100000"/>
              </a:lnSpc>
              <a:spcBef>
                <a:spcPts val="100"/>
              </a:spcBef>
              <a:spcAft>
                <a:spcPts val="0"/>
              </a:spcAft>
              <a:buClr>
                <a:srgbClr val="888888"/>
              </a:buClr>
              <a:buSzPts val="700"/>
              <a:buNone/>
              <a:defRPr sz="700">
                <a:solidFill>
                  <a:srgbClr val="888888"/>
                </a:solidFill>
              </a:defRPr>
            </a:lvl4pPr>
            <a:lvl5pPr indent="-228600" lvl="4" marL="2286000" algn="l">
              <a:lnSpc>
                <a:spcPct val="100000"/>
              </a:lnSpc>
              <a:spcBef>
                <a:spcPts val="100"/>
              </a:spcBef>
              <a:spcAft>
                <a:spcPts val="0"/>
              </a:spcAft>
              <a:buClr>
                <a:srgbClr val="888888"/>
              </a:buClr>
              <a:buSzPts val="700"/>
              <a:buNone/>
              <a:defRPr sz="700">
                <a:solidFill>
                  <a:srgbClr val="888888"/>
                </a:solidFill>
              </a:defRPr>
            </a:lvl5pPr>
            <a:lvl6pPr indent="-228600" lvl="5" marL="2743200" algn="l">
              <a:lnSpc>
                <a:spcPct val="100000"/>
              </a:lnSpc>
              <a:spcBef>
                <a:spcPts val="100"/>
              </a:spcBef>
              <a:spcAft>
                <a:spcPts val="0"/>
              </a:spcAft>
              <a:buClr>
                <a:srgbClr val="888888"/>
              </a:buClr>
              <a:buSzPts val="700"/>
              <a:buNone/>
              <a:defRPr sz="700">
                <a:solidFill>
                  <a:srgbClr val="888888"/>
                </a:solidFill>
              </a:defRPr>
            </a:lvl6pPr>
            <a:lvl7pPr indent="-228600" lvl="6" marL="3200400" algn="l">
              <a:lnSpc>
                <a:spcPct val="100000"/>
              </a:lnSpc>
              <a:spcBef>
                <a:spcPts val="100"/>
              </a:spcBef>
              <a:spcAft>
                <a:spcPts val="0"/>
              </a:spcAft>
              <a:buClr>
                <a:srgbClr val="888888"/>
              </a:buClr>
              <a:buSzPts val="700"/>
              <a:buNone/>
              <a:defRPr sz="700">
                <a:solidFill>
                  <a:srgbClr val="888888"/>
                </a:solidFill>
              </a:defRPr>
            </a:lvl7pPr>
            <a:lvl8pPr indent="-228600" lvl="7" marL="3657600" algn="l">
              <a:lnSpc>
                <a:spcPct val="100000"/>
              </a:lnSpc>
              <a:spcBef>
                <a:spcPts val="100"/>
              </a:spcBef>
              <a:spcAft>
                <a:spcPts val="0"/>
              </a:spcAft>
              <a:buClr>
                <a:srgbClr val="888888"/>
              </a:buClr>
              <a:buSzPts val="700"/>
              <a:buNone/>
              <a:defRPr sz="700">
                <a:solidFill>
                  <a:srgbClr val="888888"/>
                </a:solidFill>
              </a:defRPr>
            </a:lvl8pPr>
            <a:lvl9pPr indent="-228600" lvl="8" marL="4114800" algn="l">
              <a:lnSpc>
                <a:spcPct val="100000"/>
              </a:lnSpc>
              <a:spcBef>
                <a:spcPts val="100"/>
              </a:spcBef>
              <a:spcAft>
                <a:spcPts val="0"/>
              </a:spcAft>
              <a:buClr>
                <a:srgbClr val="888888"/>
              </a:buClr>
              <a:buSzPts val="700"/>
              <a:buNone/>
              <a:defRPr sz="700">
                <a:solidFill>
                  <a:srgbClr val="888888"/>
                </a:solidFill>
              </a:defRPr>
            </a:lvl9pPr>
          </a:lstStyle>
          <a:p/>
        </p:txBody>
      </p:sp>
      <p:sp>
        <p:nvSpPr>
          <p:cNvPr id="30" name="Google Shape;30;p3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1" name="Google Shape;31;p3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2" name="Google Shape;32;p3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5" name="Google Shape;35;p36"/>
          <p:cNvSpPr txBox="1"/>
          <p:nvPr>
            <p:ph idx="1" type="body"/>
          </p:nvPr>
        </p:nvSpPr>
        <p:spPr>
          <a:xfrm>
            <a:off x="2286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36" name="Google Shape;36;p36"/>
          <p:cNvSpPr txBox="1"/>
          <p:nvPr>
            <p:ph idx="2" type="body"/>
          </p:nvPr>
        </p:nvSpPr>
        <p:spPr>
          <a:xfrm>
            <a:off x="23241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37" name="Google Shape;37;p3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8" name="Google Shape;38;p3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9" name="Google Shape;39;p3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7"/>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2" name="Google Shape;42;p37"/>
          <p:cNvSpPr txBox="1"/>
          <p:nvPr>
            <p:ph idx="1" type="body"/>
          </p:nvPr>
        </p:nvSpPr>
        <p:spPr>
          <a:xfrm>
            <a:off x="228600" y="767556"/>
            <a:ext cx="2020200" cy="3201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43" name="Google Shape;43;p37"/>
          <p:cNvSpPr txBox="1"/>
          <p:nvPr>
            <p:ph idx="2" type="body"/>
          </p:nvPr>
        </p:nvSpPr>
        <p:spPr>
          <a:xfrm>
            <a:off x="228600" y="1087438"/>
            <a:ext cx="2020200" cy="197580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44" name="Google Shape;44;p37"/>
          <p:cNvSpPr txBox="1"/>
          <p:nvPr>
            <p:ph idx="3" type="body"/>
          </p:nvPr>
        </p:nvSpPr>
        <p:spPr>
          <a:xfrm>
            <a:off x="2322513" y="767556"/>
            <a:ext cx="2021100" cy="3201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45" name="Google Shape;45;p37"/>
          <p:cNvSpPr txBox="1"/>
          <p:nvPr>
            <p:ph idx="4" type="body"/>
          </p:nvPr>
        </p:nvSpPr>
        <p:spPr>
          <a:xfrm>
            <a:off x="2322513" y="1087438"/>
            <a:ext cx="2021100" cy="197580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46" name="Google Shape;46;p37"/>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7" name="Google Shape;47;p37"/>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48" name="Google Shape;48;p3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1" name="Google Shape;51;p3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2" name="Google Shape;52;p3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3" name="Google Shape;53;p3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9"/>
          <p:cNvSpPr txBox="1"/>
          <p:nvPr>
            <p:ph type="title"/>
          </p:nvPr>
        </p:nvSpPr>
        <p:spPr>
          <a:xfrm>
            <a:off x="228600" y="136525"/>
            <a:ext cx="1504200" cy="581100"/>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6" name="Google Shape;56;p39"/>
          <p:cNvSpPr txBox="1"/>
          <p:nvPr>
            <p:ph idx="1" type="body"/>
          </p:nvPr>
        </p:nvSpPr>
        <p:spPr>
          <a:xfrm>
            <a:off x="1787525" y="136525"/>
            <a:ext cx="2556000" cy="2926500"/>
          </a:xfrm>
          <a:prstGeom prst="rect">
            <a:avLst/>
          </a:prstGeom>
          <a:noFill/>
          <a:ln>
            <a:noFill/>
          </a:ln>
        </p:spPr>
        <p:txBody>
          <a:bodyPr anchorCtr="0" anchor="t" bIns="22850" lIns="45725" spcFirstLastPara="1" rIns="45725" wrap="square" tIns="22850">
            <a:normAutofit/>
          </a:bodyPr>
          <a:lstStyle>
            <a:lvl1pPr indent="-330200" lvl="0" marL="457200" algn="l">
              <a:lnSpc>
                <a:spcPct val="100000"/>
              </a:lnSpc>
              <a:spcBef>
                <a:spcPts val="300"/>
              </a:spcBef>
              <a:spcAft>
                <a:spcPts val="0"/>
              </a:spcAft>
              <a:buClr>
                <a:schemeClr val="dk1"/>
              </a:buClr>
              <a:buSzPts val="1600"/>
              <a:buChar char="•"/>
              <a:defRPr sz="1600"/>
            </a:lvl1pPr>
            <a:lvl2pPr indent="-317500" lvl="1" marL="914400" algn="l">
              <a:lnSpc>
                <a:spcPct val="100000"/>
              </a:lnSpc>
              <a:spcBef>
                <a:spcPts val="300"/>
              </a:spcBef>
              <a:spcAft>
                <a:spcPts val="0"/>
              </a:spcAft>
              <a:buClr>
                <a:schemeClr val="dk1"/>
              </a:buClr>
              <a:buSzPts val="1400"/>
              <a:buChar char="–"/>
              <a:defRPr sz="1400"/>
            </a:lvl2pPr>
            <a:lvl3pPr indent="-304800" lvl="2" marL="1371600" algn="l">
              <a:lnSpc>
                <a:spcPct val="100000"/>
              </a:lnSpc>
              <a:spcBef>
                <a:spcPts val="200"/>
              </a:spcBef>
              <a:spcAft>
                <a:spcPts val="0"/>
              </a:spcAft>
              <a:buClr>
                <a:schemeClr val="dk1"/>
              </a:buClr>
              <a:buSzPts val="1200"/>
              <a:buChar char="•"/>
              <a:defRPr sz="1200"/>
            </a:lvl3pPr>
            <a:lvl4pPr indent="-292100" lvl="3" marL="1828800" algn="l">
              <a:lnSpc>
                <a:spcPct val="100000"/>
              </a:lnSpc>
              <a:spcBef>
                <a:spcPts val="200"/>
              </a:spcBef>
              <a:spcAft>
                <a:spcPts val="0"/>
              </a:spcAft>
              <a:buClr>
                <a:schemeClr val="dk1"/>
              </a:buClr>
              <a:buSzPts val="1000"/>
              <a:buChar char="–"/>
              <a:defRPr sz="1000"/>
            </a:lvl4pPr>
            <a:lvl5pPr indent="-292100" lvl="4" marL="2286000" algn="l">
              <a:lnSpc>
                <a:spcPct val="100000"/>
              </a:lnSpc>
              <a:spcBef>
                <a:spcPts val="200"/>
              </a:spcBef>
              <a:spcAft>
                <a:spcPts val="0"/>
              </a:spcAft>
              <a:buClr>
                <a:schemeClr val="dk1"/>
              </a:buClr>
              <a:buSzPts val="1000"/>
              <a:buChar char="»"/>
              <a:defRPr sz="1000"/>
            </a:lvl5pPr>
            <a:lvl6pPr indent="-292100" lvl="5" marL="2743200" algn="l">
              <a:lnSpc>
                <a:spcPct val="100000"/>
              </a:lnSpc>
              <a:spcBef>
                <a:spcPts val="200"/>
              </a:spcBef>
              <a:spcAft>
                <a:spcPts val="0"/>
              </a:spcAft>
              <a:buClr>
                <a:schemeClr val="dk1"/>
              </a:buClr>
              <a:buSzPts val="1000"/>
              <a:buChar char="•"/>
              <a:defRPr sz="1000"/>
            </a:lvl6pPr>
            <a:lvl7pPr indent="-292100" lvl="6" marL="3200400" algn="l">
              <a:lnSpc>
                <a:spcPct val="100000"/>
              </a:lnSpc>
              <a:spcBef>
                <a:spcPts val="200"/>
              </a:spcBef>
              <a:spcAft>
                <a:spcPts val="0"/>
              </a:spcAft>
              <a:buClr>
                <a:schemeClr val="dk1"/>
              </a:buClr>
              <a:buSzPts val="1000"/>
              <a:buChar char="•"/>
              <a:defRPr sz="1000"/>
            </a:lvl7pPr>
            <a:lvl8pPr indent="-292100" lvl="7" marL="3657600" algn="l">
              <a:lnSpc>
                <a:spcPct val="100000"/>
              </a:lnSpc>
              <a:spcBef>
                <a:spcPts val="200"/>
              </a:spcBef>
              <a:spcAft>
                <a:spcPts val="0"/>
              </a:spcAft>
              <a:buClr>
                <a:schemeClr val="dk1"/>
              </a:buClr>
              <a:buSzPts val="1000"/>
              <a:buChar char="•"/>
              <a:defRPr sz="1000"/>
            </a:lvl8pPr>
            <a:lvl9pPr indent="-292100" lvl="8" marL="4114800" algn="l">
              <a:lnSpc>
                <a:spcPct val="100000"/>
              </a:lnSpc>
              <a:spcBef>
                <a:spcPts val="200"/>
              </a:spcBef>
              <a:spcAft>
                <a:spcPts val="0"/>
              </a:spcAft>
              <a:buClr>
                <a:schemeClr val="dk1"/>
              </a:buClr>
              <a:buSzPts val="1000"/>
              <a:buChar char="•"/>
              <a:defRPr sz="1000"/>
            </a:lvl9pPr>
          </a:lstStyle>
          <a:p/>
        </p:txBody>
      </p:sp>
      <p:sp>
        <p:nvSpPr>
          <p:cNvPr id="57" name="Google Shape;57;p39"/>
          <p:cNvSpPr txBox="1"/>
          <p:nvPr>
            <p:ph idx="2" type="body"/>
          </p:nvPr>
        </p:nvSpPr>
        <p:spPr>
          <a:xfrm>
            <a:off x="228600" y="717550"/>
            <a:ext cx="1504200" cy="234570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58" name="Google Shape;58;p3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9" name="Google Shape;59;p3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0" name="Google Shape;60;p3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0"/>
          <p:cNvSpPr txBox="1"/>
          <p:nvPr>
            <p:ph type="title"/>
          </p:nvPr>
        </p:nvSpPr>
        <p:spPr>
          <a:xfrm>
            <a:off x="896144" y="2400300"/>
            <a:ext cx="2743200" cy="283500"/>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3" name="Google Shape;63;p40"/>
          <p:cNvSpPr/>
          <p:nvPr>
            <p:ph idx="2" type="pic"/>
          </p:nvPr>
        </p:nvSpPr>
        <p:spPr>
          <a:xfrm>
            <a:off x="896144" y="306388"/>
            <a:ext cx="2743200" cy="2057400"/>
          </a:xfrm>
          <a:prstGeom prst="rect">
            <a:avLst/>
          </a:prstGeom>
          <a:noFill/>
          <a:ln>
            <a:noFill/>
          </a:ln>
        </p:spPr>
      </p:sp>
      <p:sp>
        <p:nvSpPr>
          <p:cNvPr id="64" name="Google Shape;64;p40"/>
          <p:cNvSpPr txBox="1"/>
          <p:nvPr>
            <p:ph idx="1" type="body"/>
          </p:nvPr>
        </p:nvSpPr>
        <p:spPr>
          <a:xfrm>
            <a:off x="896144" y="2683669"/>
            <a:ext cx="2743200" cy="40260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65" name="Google Shape;65;p4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6" name="Google Shape;66;p4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7" name="Google Shape;67;p4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0" name="Google Shape;70;p41"/>
          <p:cNvSpPr txBox="1"/>
          <p:nvPr>
            <p:ph idx="1" type="body"/>
          </p:nvPr>
        </p:nvSpPr>
        <p:spPr>
          <a:xfrm rot="5400000">
            <a:off x="1154400" y="-125700"/>
            <a:ext cx="2263200" cy="41148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71" name="Google Shape;71;p4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2" name="Google Shape;72;p4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3" name="Google Shape;73;p4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2"/>
          <p:cNvSpPr txBox="1"/>
          <p:nvPr>
            <p:ph type="title"/>
          </p:nvPr>
        </p:nvSpPr>
        <p:spPr>
          <a:xfrm rot="5400000">
            <a:off x="2366100" y="1085919"/>
            <a:ext cx="2925900" cy="10287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6" name="Google Shape;76;p42"/>
          <p:cNvSpPr txBox="1"/>
          <p:nvPr>
            <p:ph idx="1" type="body"/>
          </p:nvPr>
        </p:nvSpPr>
        <p:spPr>
          <a:xfrm rot="5400000">
            <a:off x="270600" y="95319"/>
            <a:ext cx="2925900" cy="3009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77" name="Google Shape;77;p4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8" name="Google Shape;78;p4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9" name="Google Shape;79;p4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lnSpc>
                <a:spcPct val="100000"/>
              </a:lnSpc>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7" name="Google Shape;7;p31"/>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330200" lvl="0" marL="4572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lnSpc>
                <a:spcPct val="100000"/>
              </a:lnSpc>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8" name="Google Shape;8;p3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9" name="Google Shape;9;p3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10" name="Google Shape;10;p3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7.png"/><Relationship Id="rId9" Type="http://schemas.openxmlformats.org/officeDocument/2006/relationships/image" Target="../media/image4.pn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10.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rot="1084339">
            <a:off x="-2572063" y="3352662"/>
            <a:ext cx="5960266" cy="4112640"/>
          </a:xfrm>
          <a:custGeom>
            <a:rect b="b" l="l" r="r" t="t"/>
            <a:pathLst>
              <a:path extrusionOk="0" h="8231043" w="11928886">
                <a:moveTo>
                  <a:pt x="0" y="0"/>
                </a:moveTo>
                <a:lnTo>
                  <a:pt x="11928886" y="0"/>
                </a:lnTo>
                <a:lnTo>
                  <a:pt x="11928886" y="8231043"/>
                </a:lnTo>
                <a:lnTo>
                  <a:pt x="0" y="8231043"/>
                </a:lnTo>
                <a:lnTo>
                  <a:pt x="0" y="0"/>
                </a:lnTo>
                <a:close/>
              </a:path>
            </a:pathLst>
          </a:custGeom>
          <a:blipFill rotWithShape="1">
            <a:blip r:embed="rId3">
              <a:alphaModFix amt="50000"/>
            </a:blip>
            <a:stretch>
              <a:fillRect b="0" l="0" r="0" t="0"/>
            </a:stretch>
          </a:blipFill>
          <a:ln>
            <a:noFill/>
          </a:ln>
        </p:spPr>
      </p:sp>
      <p:sp>
        <p:nvSpPr>
          <p:cNvPr id="85" name="Google Shape;85;p1"/>
          <p:cNvSpPr/>
          <p:nvPr/>
        </p:nvSpPr>
        <p:spPr>
          <a:xfrm flipH="1" rot="137437">
            <a:off x="7650251" y="197886"/>
            <a:ext cx="3367394" cy="2736773"/>
          </a:xfrm>
          <a:custGeom>
            <a:rect b="b" l="l" r="r" t="t"/>
            <a:pathLst>
              <a:path extrusionOk="0" h="5469172" w="6729406">
                <a:moveTo>
                  <a:pt x="6729406" y="0"/>
                </a:moveTo>
                <a:lnTo>
                  <a:pt x="0" y="0"/>
                </a:lnTo>
                <a:lnTo>
                  <a:pt x="0" y="5469172"/>
                </a:lnTo>
                <a:lnTo>
                  <a:pt x="6729406" y="5469172"/>
                </a:lnTo>
                <a:lnTo>
                  <a:pt x="6729406" y="0"/>
                </a:lnTo>
                <a:close/>
              </a:path>
            </a:pathLst>
          </a:custGeom>
          <a:blipFill rotWithShape="1">
            <a:blip r:embed="rId4">
              <a:alphaModFix/>
            </a:blip>
            <a:stretch>
              <a:fillRect b="0" l="0" r="0" t="0"/>
            </a:stretch>
          </a:blipFill>
          <a:ln>
            <a:noFill/>
          </a:ln>
        </p:spPr>
      </p:sp>
      <p:sp>
        <p:nvSpPr>
          <p:cNvPr id="86" name="Google Shape;86;p1"/>
          <p:cNvSpPr txBox="1"/>
          <p:nvPr/>
        </p:nvSpPr>
        <p:spPr>
          <a:xfrm>
            <a:off x="1604300" y="532125"/>
            <a:ext cx="8217900" cy="2586300"/>
          </a:xfrm>
          <a:prstGeom prst="rect">
            <a:avLst/>
          </a:prstGeom>
          <a:noFill/>
          <a:ln>
            <a:noFill/>
          </a:ln>
        </p:spPr>
        <p:txBody>
          <a:bodyPr anchorCtr="0" anchor="t" bIns="0" lIns="0" spcFirstLastPara="1" rIns="0" wrap="square" tIns="0">
            <a:spAutoFit/>
          </a:bodyPr>
          <a:lstStyle/>
          <a:p>
            <a:pPr indent="0" lvl="0" marL="228600" marR="0" rtl="0" algn="ctr">
              <a:lnSpc>
                <a:spcPct val="160024"/>
              </a:lnSpc>
              <a:spcBef>
                <a:spcPts val="0"/>
              </a:spcBef>
              <a:spcAft>
                <a:spcPts val="0"/>
              </a:spcAft>
              <a:buClr>
                <a:srgbClr val="000000"/>
              </a:buClr>
              <a:buSzPts val="4000"/>
              <a:buFont typeface="Arial"/>
              <a:buNone/>
            </a:pPr>
            <a:r>
              <a:t/>
            </a:r>
            <a:endParaRPr b="1" i="0" sz="4000" u="none" cap="none" strike="noStrike">
              <a:solidFill>
                <a:srgbClr val="004AAD"/>
              </a:solidFill>
              <a:latin typeface="Montserrat"/>
              <a:ea typeface="Montserrat"/>
              <a:cs typeface="Montserrat"/>
              <a:sym typeface="Montserrat"/>
            </a:endParaRPr>
          </a:p>
          <a:p>
            <a:pPr indent="0" lvl="0" marL="228600" marR="0" rtl="0" algn="ctr">
              <a:lnSpc>
                <a:spcPct val="160024"/>
              </a:lnSpc>
              <a:spcBef>
                <a:spcPts val="0"/>
              </a:spcBef>
              <a:spcAft>
                <a:spcPts val="0"/>
              </a:spcAft>
              <a:buClr>
                <a:srgbClr val="000000"/>
              </a:buClr>
              <a:buSzPts val="4000"/>
              <a:buFont typeface="Arial"/>
              <a:buNone/>
            </a:pPr>
            <a:r>
              <a:t/>
            </a:r>
            <a:endParaRPr b="1" i="0" sz="4000" u="none" cap="none" strike="noStrike">
              <a:solidFill>
                <a:srgbClr val="004AAD"/>
              </a:solidFill>
              <a:latin typeface="Montserrat"/>
              <a:ea typeface="Montserrat"/>
              <a:cs typeface="Montserrat"/>
              <a:sym typeface="Montserrat"/>
            </a:endParaRPr>
          </a:p>
          <a:p>
            <a:pPr indent="0" lvl="0" marL="228600" marR="0" rtl="0" algn="ctr">
              <a:lnSpc>
                <a:spcPct val="160024"/>
              </a:lnSpc>
              <a:spcBef>
                <a:spcPts val="0"/>
              </a:spcBef>
              <a:spcAft>
                <a:spcPts val="0"/>
              </a:spcAft>
              <a:buClr>
                <a:srgbClr val="000000"/>
              </a:buClr>
              <a:buSzPts val="4000"/>
              <a:buFont typeface="Arial"/>
              <a:buNone/>
            </a:pPr>
            <a:r>
              <a:t/>
            </a:r>
            <a:endParaRPr b="1" i="0" sz="4000" u="none" cap="none" strike="noStrike">
              <a:solidFill>
                <a:srgbClr val="004AAD"/>
              </a:solidFill>
              <a:highlight>
                <a:srgbClr val="00FFFF"/>
              </a:highlight>
              <a:latin typeface="Montserrat"/>
              <a:ea typeface="Montserrat"/>
              <a:cs typeface="Montserrat"/>
              <a:sym typeface="Montserrat"/>
            </a:endParaRPr>
          </a:p>
        </p:txBody>
      </p:sp>
      <p:pic>
        <p:nvPicPr>
          <p:cNvPr id="87" name="Google Shape;87;p1"/>
          <p:cNvPicPr preferRelativeResize="0"/>
          <p:nvPr/>
        </p:nvPicPr>
        <p:blipFill rotWithShape="1">
          <a:blip r:embed="rId5">
            <a:alphaModFix/>
          </a:blip>
          <a:srcRect b="0" l="0" r="0" t="0"/>
          <a:stretch/>
        </p:blipFill>
        <p:spPr>
          <a:xfrm>
            <a:off x="1854549" y="2571749"/>
            <a:ext cx="4615175" cy="1715551"/>
          </a:xfrm>
          <a:prstGeom prst="rect">
            <a:avLst/>
          </a:prstGeom>
          <a:noFill/>
          <a:ln>
            <a:noFill/>
          </a:ln>
        </p:spPr>
      </p:pic>
      <p:pic>
        <p:nvPicPr>
          <p:cNvPr id="88" name="Google Shape;88;p1"/>
          <p:cNvPicPr preferRelativeResize="0"/>
          <p:nvPr/>
        </p:nvPicPr>
        <p:blipFill rotWithShape="1">
          <a:blip r:embed="rId6">
            <a:alphaModFix/>
          </a:blip>
          <a:srcRect b="0" l="0" r="0" t="0"/>
          <a:stretch/>
        </p:blipFill>
        <p:spPr>
          <a:xfrm>
            <a:off x="1995250" y="532126"/>
            <a:ext cx="5144146" cy="1715549"/>
          </a:xfrm>
          <a:prstGeom prst="rect">
            <a:avLst/>
          </a:prstGeom>
          <a:noFill/>
          <a:ln>
            <a:noFill/>
          </a:ln>
        </p:spPr>
      </p:pic>
      <p:sp>
        <p:nvSpPr>
          <p:cNvPr id="89" name="Google Shape;89;p1"/>
          <p:cNvSpPr txBox="1"/>
          <p:nvPr/>
        </p:nvSpPr>
        <p:spPr>
          <a:xfrm>
            <a:off x="2463994" y="2146350"/>
            <a:ext cx="36777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4A86E8"/>
                </a:solidFill>
                <a:latin typeface="Montserrat"/>
                <a:ea typeface="Montserrat"/>
                <a:cs typeface="Montserrat"/>
                <a:sym typeface="Montserrat"/>
              </a:rPr>
              <a:t>Powered by</a:t>
            </a:r>
            <a:endParaRPr b="1" i="0" sz="2500" u="none" cap="none" strike="noStrike">
              <a:solidFill>
                <a:srgbClr val="4A86E8"/>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p:nvPr/>
        </p:nvSpPr>
        <p:spPr>
          <a:xfrm>
            <a:off x="12" y="-6"/>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326" r="-33312" t="0"/>
            </a:stretch>
          </a:blipFill>
          <a:ln>
            <a:noFill/>
          </a:ln>
        </p:spPr>
      </p:sp>
      <p:cxnSp>
        <p:nvCxnSpPr>
          <p:cNvPr id="95" name="Google Shape;95;p2"/>
          <p:cNvCxnSpPr/>
          <p:nvPr/>
        </p:nvCxnSpPr>
        <p:spPr>
          <a:xfrm>
            <a:off x="705907" y="3292812"/>
            <a:ext cx="6057000" cy="0"/>
          </a:xfrm>
          <a:prstGeom prst="straightConnector1">
            <a:avLst/>
          </a:prstGeom>
          <a:noFill/>
          <a:ln cap="flat" cmpd="sng" w="66675">
            <a:solidFill>
              <a:srgbClr val="2254C5"/>
            </a:solidFill>
            <a:prstDash val="solid"/>
            <a:round/>
            <a:headEnd len="sm" w="sm" type="none"/>
            <a:tailEnd len="sm" w="sm" type="none"/>
          </a:ln>
        </p:spPr>
      </p:cxnSp>
      <p:sp>
        <p:nvSpPr>
          <p:cNvPr id="96" name="Google Shape;96;p2"/>
          <p:cNvSpPr txBox="1"/>
          <p:nvPr/>
        </p:nvSpPr>
        <p:spPr>
          <a:xfrm>
            <a:off x="1491525" y="1269825"/>
            <a:ext cx="7331400" cy="769500"/>
          </a:xfrm>
          <a:prstGeom prst="rect">
            <a:avLst/>
          </a:prstGeom>
          <a:noFill/>
          <a:ln>
            <a:noFill/>
          </a:ln>
        </p:spPr>
        <p:txBody>
          <a:bodyPr anchorCtr="0" anchor="t" bIns="0" lIns="0" spcFirstLastPara="1" rIns="0" wrap="square" tIns="0">
            <a:spAutoFit/>
          </a:bodyPr>
          <a:lstStyle/>
          <a:p>
            <a:pPr indent="0" lvl="0" marL="0" marR="0" rtl="0" algn="l">
              <a:lnSpc>
                <a:spcPct val="214081"/>
              </a:lnSpc>
              <a:spcBef>
                <a:spcPts val="0"/>
              </a:spcBef>
              <a:spcAft>
                <a:spcPts val="0"/>
              </a:spcAft>
              <a:buClr>
                <a:srgbClr val="000000"/>
              </a:buClr>
              <a:buSzPts val="5000"/>
              <a:buFont typeface="Arial"/>
              <a:buNone/>
            </a:pPr>
            <a:r>
              <a:t/>
            </a:r>
            <a:endParaRPr b="0" i="0" sz="5000" u="none" cap="none" strike="noStrike">
              <a:solidFill>
                <a:srgbClr val="000000"/>
              </a:solidFill>
              <a:latin typeface="Arial"/>
              <a:ea typeface="Arial"/>
              <a:cs typeface="Arial"/>
              <a:sym typeface="Arial"/>
            </a:endParaRPr>
          </a:p>
        </p:txBody>
      </p:sp>
      <p:sp>
        <p:nvSpPr>
          <p:cNvPr id="97" name="Google Shape;97;p2"/>
          <p:cNvSpPr txBox="1"/>
          <p:nvPr/>
        </p:nvSpPr>
        <p:spPr>
          <a:xfrm>
            <a:off x="1725926" y="4261140"/>
            <a:ext cx="7533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Clr>
                <a:srgbClr val="000000"/>
              </a:buClr>
              <a:buSzPts val="700"/>
              <a:buFont typeface="Arial"/>
              <a:buNone/>
            </a:pPr>
            <a:r>
              <a:rPr b="1" i="0" lang="en-US" sz="700" u="none" cap="none" strike="noStrike">
                <a:solidFill>
                  <a:srgbClr val="2254C5"/>
                </a:solidFill>
                <a:latin typeface="Montserrat"/>
                <a:ea typeface="Montserrat"/>
                <a:cs typeface="Montserrat"/>
                <a:sym typeface="Montserrat"/>
              </a:rPr>
              <a:t>Address</a:t>
            </a:r>
            <a:endParaRPr b="0" i="0" sz="700" u="none" cap="none" strike="noStrike">
              <a:solidFill>
                <a:srgbClr val="000000"/>
              </a:solidFill>
              <a:latin typeface="Arial"/>
              <a:ea typeface="Arial"/>
              <a:cs typeface="Arial"/>
              <a:sym typeface="Arial"/>
            </a:endParaRPr>
          </a:p>
        </p:txBody>
      </p:sp>
      <p:sp>
        <p:nvSpPr>
          <p:cNvPr id="98" name="Google Shape;98;p2"/>
          <p:cNvSpPr txBox="1"/>
          <p:nvPr/>
        </p:nvSpPr>
        <p:spPr>
          <a:xfrm>
            <a:off x="1725926" y="4425315"/>
            <a:ext cx="1092900" cy="924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600"/>
              <a:buFont typeface="Arial"/>
              <a:buNone/>
            </a:pPr>
            <a:r>
              <a:rPr b="0" i="0" lang="en-US" sz="600" u="none" cap="none" strike="noStrike">
                <a:solidFill>
                  <a:srgbClr val="2254C5"/>
                </a:solidFill>
                <a:latin typeface="Montserrat"/>
                <a:ea typeface="Montserrat"/>
                <a:cs typeface="Montserrat"/>
                <a:sym typeface="Montserrat"/>
              </a:rPr>
              <a:t>Tomball, TX 77375</a:t>
            </a:r>
            <a:endParaRPr b="0" i="0" sz="700" u="none" cap="none" strike="noStrike">
              <a:solidFill>
                <a:srgbClr val="000000"/>
              </a:solidFill>
              <a:latin typeface="Arial"/>
              <a:ea typeface="Arial"/>
              <a:cs typeface="Arial"/>
              <a:sym typeface="Arial"/>
            </a:endParaRPr>
          </a:p>
        </p:txBody>
      </p:sp>
      <p:sp>
        <p:nvSpPr>
          <p:cNvPr id="99" name="Google Shape;99;p2"/>
          <p:cNvSpPr txBox="1"/>
          <p:nvPr/>
        </p:nvSpPr>
        <p:spPr>
          <a:xfrm>
            <a:off x="705908" y="4261140"/>
            <a:ext cx="8238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Clr>
                <a:srgbClr val="000000"/>
              </a:buClr>
              <a:buSzPts val="700"/>
              <a:buFont typeface="Arial"/>
              <a:buNone/>
            </a:pPr>
            <a:r>
              <a:rPr b="1" i="0" lang="en-US" sz="700" u="none" cap="none" strike="noStrike">
                <a:solidFill>
                  <a:srgbClr val="2254C5"/>
                </a:solidFill>
                <a:latin typeface="Montserrat"/>
                <a:ea typeface="Montserrat"/>
                <a:cs typeface="Montserrat"/>
                <a:sym typeface="Montserrat"/>
              </a:rPr>
              <a:t>Telephone</a:t>
            </a:r>
            <a:endParaRPr b="0" i="0" sz="700" u="none" cap="none" strike="noStrike">
              <a:solidFill>
                <a:srgbClr val="000000"/>
              </a:solidFill>
              <a:latin typeface="Arial"/>
              <a:ea typeface="Arial"/>
              <a:cs typeface="Arial"/>
              <a:sym typeface="Arial"/>
            </a:endParaRPr>
          </a:p>
        </p:txBody>
      </p:sp>
      <p:sp>
        <p:nvSpPr>
          <p:cNvPr id="100" name="Google Shape;100;p2"/>
          <p:cNvSpPr txBox="1"/>
          <p:nvPr/>
        </p:nvSpPr>
        <p:spPr>
          <a:xfrm>
            <a:off x="705908" y="4428887"/>
            <a:ext cx="823800" cy="924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600"/>
              <a:buFont typeface="Arial"/>
              <a:buNone/>
            </a:pPr>
            <a:r>
              <a:rPr b="0" i="0" lang="en-US" sz="600" u="none" cap="none" strike="noStrike">
                <a:solidFill>
                  <a:srgbClr val="2254C5"/>
                </a:solidFill>
                <a:latin typeface="Montserrat"/>
                <a:ea typeface="Montserrat"/>
                <a:cs typeface="Montserrat"/>
                <a:sym typeface="Montserrat"/>
              </a:rPr>
              <a:t>1-202-982-3002</a:t>
            </a:r>
            <a:endParaRPr b="0" i="0" sz="700" u="none" cap="none" strike="noStrike">
              <a:solidFill>
                <a:srgbClr val="000000"/>
              </a:solidFill>
              <a:latin typeface="Arial"/>
              <a:ea typeface="Arial"/>
              <a:cs typeface="Arial"/>
              <a:sym typeface="Arial"/>
            </a:endParaRPr>
          </a:p>
        </p:txBody>
      </p:sp>
      <p:sp>
        <p:nvSpPr>
          <p:cNvPr id="101" name="Google Shape;101;p2"/>
          <p:cNvSpPr txBox="1"/>
          <p:nvPr/>
        </p:nvSpPr>
        <p:spPr>
          <a:xfrm>
            <a:off x="3033827" y="4261140"/>
            <a:ext cx="7761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Clr>
                <a:srgbClr val="000000"/>
              </a:buClr>
              <a:buSzPts val="700"/>
              <a:buFont typeface="Arial"/>
              <a:buNone/>
            </a:pPr>
            <a:r>
              <a:rPr b="1" i="0" lang="en-US" sz="700" u="none" cap="none" strike="noStrike">
                <a:solidFill>
                  <a:srgbClr val="2254C5"/>
                </a:solidFill>
                <a:latin typeface="Montserrat"/>
                <a:ea typeface="Montserrat"/>
                <a:cs typeface="Montserrat"/>
                <a:sym typeface="Montserrat"/>
              </a:rPr>
              <a:t>Website </a:t>
            </a:r>
            <a:endParaRPr b="0" i="0" sz="700" u="none" cap="none" strike="noStrike">
              <a:solidFill>
                <a:srgbClr val="000000"/>
              </a:solidFill>
              <a:latin typeface="Arial"/>
              <a:ea typeface="Arial"/>
              <a:cs typeface="Arial"/>
              <a:sym typeface="Arial"/>
            </a:endParaRPr>
          </a:p>
        </p:txBody>
      </p:sp>
      <p:sp>
        <p:nvSpPr>
          <p:cNvPr id="102" name="Google Shape;102;p2"/>
          <p:cNvSpPr txBox="1"/>
          <p:nvPr/>
        </p:nvSpPr>
        <p:spPr>
          <a:xfrm>
            <a:off x="3048961" y="4428887"/>
            <a:ext cx="1294500" cy="924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Clr>
                <a:srgbClr val="000000"/>
              </a:buClr>
              <a:buSzPts val="600"/>
              <a:buFont typeface="Arial"/>
              <a:buNone/>
            </a:pPr>
            <a:r>
              <a:rPr b="0" i="0" lang="en-US" sz="600" u="none" cap="none" strike="noStrike">
                <a:solidFill>
                  <a:srgbClr val="2254C5"/>
                </a:solidFill>
                <a:latin typeface="Montserrat"/>
                <a:ea typeface="Montserrat"/>
                <a:cs typeface="Montserrat"/>
                <a:sym typeface="Montserrat"/>
              </a:rPr>
              <a:t>www.InterlinkIQ.com</a:t>
            </a:r>
            <a:endParaRPr b="0" i="0" sz="700" u="none" cap="none" strike="noStrike">
              <a:solidFill>
                <a:srgbClr val="000000"/>
              </a:solidFill>
              <a:latin typeface="Arial"/>
              <a:ea typeface="Arial"/>
              <a:cs typeface="Arial"/>
              <a:sym typeface="Arial"/>
            </a:endParaRPr>
          </a:p>
        </p:txBody>
      </p:sp>
      <p:sp>
        <p:nvSpPr>
          <p:cNvPr id="103" name="Google Shape;103;p2"/>
          <p:cNvSpPr txBox="1"/>
          <p:nvPr/>
        </p:nvSpPr>
        <p:spPr>
          <a:xfrm>
            <a:off x="7847394" y="4224904"/>
            <a:ext cx="782400" cy="138600"/>
          </a:xfrm>
          <a:prstGeom prst="rect">
            <a:avLst/>
          </a:prstGeom>
          <a:noFill/>
          <a:ln>
            <a:noFill/>
          </a:ln>
        </p:spPr>
        <p:txBody>
          <a:bodyPr anchorCtr="0" anchor="t" bIns="0" lIns="0" spcFirstLastPara="1" rIns="0" wrap="square" tIns="0">
            <a:spAutoFit/>
          </a:bodyPr>
          <a:lstStyle/>
          <a:p>
            <a:pPr indent="0" lvl="0" marL="0" marR="0" rtl="0" algn="l">
              <a:lnSpc>
                <a:spcPct val="128776"/>
              </a:lnSpc>
              <a:spcBef>
                <a:spcPts val="0"/>
              </a:spcBef>
              <a:spcAft>
                <a:spcPts val="0"/>
              </a:spcAft>
              <a:buClr>
                <a:srgbClr val="000000"/>
              </a:buClr>
              <a:buSzPts val="900"/>
              <a:buFont typeface="Arial"/>
              <a:buNone/>
            </a:pPr>
            <a:r>
              <a:rPr b="0" i="0" lang="en-US" sz="900" u="none" cap="none" strike="noStrike">
                <a:solidFill>
                  <a:srgbClr val="2254C5"/>
                </a:solidFill>
                <a:latin typeface="Montserrat"/>
                <a:ea typeface="Montserrat"/>
                <a:cs typeface="Montserrat"/>
                <a:sym typeface="Montserrat"/>
              </a:rPr>
              <a:t>MM DD, YYYY</a:t>
            </a:r>
            <a:endParaRPr b="0" i="0" sz="700" u="none" cap="none" strike="noStrike">
              <a:solidFill>
                <a:srgbClr val="000000"/>
              </a:solidFill>
              <a:latin typeface="Arial"/>
              <a:ea typeface="Arial"/>
              <a:cs typeface="Arial"/>
              <a:sym typeface="Arial"/>
            </a:endParaRPr>
          </a:p>
        </p:txBody>
      </p:sp>
      <p:pic>
        <p:nvPicPr>
          <p:cNvPr id="104" name="Google Shape;104;p2"/>
          <p:cNvPicPr preferRelativeResize="0"/>
          <p:nvPr/>
        </p:nvPicPr>
        <p:blipFill rotWithShape="1">
          <a:blip r:embed="rId4">
            <a:alphaModFix/>
          </a:blip>
          <a:srcRect b="0" l="0" r="0" t="0"/>
          <a:stretch/>
        </p:blipFill>
        <p:spPr>
          <a:xfrm>
            <a:off x="830575" y="4003950"/>
            <a:ext cx="265716" cy="209775"/>
          </a:xfrm>
          <a:prstGeom prst="rect">
            <a:avLst/>
          </a:prstGeom>
          <a:noFill/>
          <a:ln>
            <a:noFill/>
          </a:ln>
        </p:spPr>
      </p:pic>
      <p:pic>
        <p:nvPicPr>
          <p:cNvPr id="105" name="Google Shape;105;p2"/>
          <p:cNvPicPr preferRelativeResize="0"/>
          <p:nvPr/>
        </p:nvPicPr>
        <p:blipFill rotWithShape="1">
          <a:blip r:embed="rId5">
            <a:alphaModFix/>
          </a:blip>
          <a:srcRect b="0" l="0" r="0" t="0"/>
          <a:stretch/>
        </p:blipFill>
        <p:spPr>
          <a:xfrm>
            <a:off x="1781163" y="4007525"/>
            <a:ext cx="209775" cy="209775"/>
          </a:xfrm>
          <a:prstGeom prst="rect">
            <a:avLst/>
          </a:prstGeom>
          <a:noFill/>
          <a:ln>
            <a:noFill/>
          </a:ln>
        </p:spPr>
      </p:pic>
      <p:pic>
        <p:nvPicPr>
          <p:cNvPr id="106" name="Google Shape;106;p2"/>
          <p:cNvPicPr preferRelativeResize="0"/>
          <p:nvPr/>
        </p:nvPicPr>
        <p:blipFill rotWithShape="1">
          <a:blip r:embed="rId6">
            <a:alphaModFix/>
          </a:blip>
          <a:srcRect b="0" l="0" r="0" t="0"/>
          <a:stretch/>
        </p:blipFill>
        <p:spPr>
          <a:xfrm>
            <a:off x="3075863" y="4003950"/>
            <a:ext cx="209775" cy="209775"/>
          </a:xfrm>
          <a:prstGeom prst="rect">
            <a:avLst/>
          </a:prstGeom>
          <a:noFill/>
          <a:ln>
            <a:noFill/>
          </a:ln>
        </p:spPr>
      </p:pic>
      <p:pic>
        <p:nvPicPr>
          <p:cNvPr id="107" name="Google Shape;107;p2"/>
          <p:cNvPicPr preferRelativeResize="0"/>
          <p:nvPr/>
        </p:nvPicPr>
        <p:blipFill rotWithShape="1">
          <a:blip r:embed="rId7">
            <a:alphaModFix/>
          </a:blip>
          <a:srcRect b="0" l="0" r="0" t="0"/>
          <a:stretch/>
        </p:blipFill>
        <p:spPr>
          <a:xfrm>
            <a:off x="3693725" y="777664"/>
            <a:ext cx="4161175" cy="1546785"/>
          </a:xfrm>
          <a:prstGeom prst="rect">
            <a:avLst/>
          </a:prstGeom>
          <a:noFill/>
          <a:ln>
            <a:noFill/>
          </a:ln>
        </p:spPr>
      </p:pic>
      <p:sp>
        <p:nvSpPr>
          <p:cNvPr id="108" name="Google Shape;108;p2"/>
          <p:cNvSpPr txBox="1"/>
          <p:nvPr/>
        </p:nvSpPr>
        <p:spPr>
          <a:xfrm>
            <a:off x="679800" y="2642850"/>
            <a:ext cx="6434400" cy="840600"/>
          </a:xfrm>
          <a:prstGeom prst="rect">
            <a:avLst/>
          </a:prstGeom>
          <a:noFill/>
          <a:ln>
            <a:noFill/>
          </a:ln>
        </p:spPr>
        <p:txBody>
          <a:bodyPr anchorCtr="0" anchor="t" bIns="0" lIns="0" spcFirstLastPara="1" rIns="0" wrap="square" tIns="0">
            <a:spAutoFit/>
          </a:bodyPr>
          <a:lstStyle/>
          <a:p>
            <a:pPr indent="0" lvl="0" marL="0" marR="0" rtl="0" algn="l">
              <a:lnSpc>
                <a:spcPct val="160024"/>
              </a:lnSpc>
              <a:spcBef>
                <a:spcPts val="0"/>
              </a:spcBef>
              <a:spcAft>
                <a:spcPts val="0"/>
              </a:spcAft>
              <a:buClr>
                <a:srgbClr val="000000"/>
              </a:buClr>
              <a:buSzPts val="1300"/>
              <a:buFont typeface="Arial"/>
              <a:buNone/>
            </a:pPr>
            <a:r>
              <a:rPr b="0" i="0" lang="en-US" sz="1300" u="none" cap="none" strike="noStrike">
                <a:solidFill>
                  <a:srgbClr val="2254C5"/>
                </a:solidFill>
                <a:latin typeface="Montserrat"/>
                <a:ea typeface="Montserrat"/>
                <a:cs typeface="Montserrat"/>
                <a:sym typeface="Montserrat"/>
              </a:rPr>
              <a:t>A Food Safety Management System software solution owned and managed by Consultare Inc. Group a Compliance Company</a:t>
            </a:r>
            <a:endParaRPr b="0" i="0" sz="1300" u="none" cap="none" strike="noStrike">
              <a:solidFill>
                <a:srgbClr val="2254C5"/>
              </a:solidFill>
              <a:latin typeface="Montserrat"/>
              <a:ea typeface="Montserrat"/>
              <a:cs typeface="Montserrat"/>
              <a:sym typeface="Montserrat"/>
            </a:endParaRPr>
          </a:p>
          <a:p>
            <a:pPr indent="0" lvl="0" marL="0" marR="0" rtl="0" algn="l">
              <a:lnSpc>
                <a:spcPct val="139989"/>
              </a:lnSpc>
              <a:spcBef>
                <a:spcPts val="0"/>
              </a:spcBef>
              <a:spcAft>
                <a:spcPts val="0"/>
              </a:spcAft>
              <a:buClr>
                <a:srgbClr val="000000"/>
              </a:buClr>
              <a:buSzPts val="1000"/>
              <a:buFont typeface="Arial"/>
              <a:buNone/>
            </a:pPr>
            <a:r>
              <a:t/>
            </a:r>
            <a:endParaRPr b="0" i="0" sz="1300" u="none" cap="none" strike="noStrike">
              <a:solidFill>
                <a:srgbClr val="2254C5"/>
              </a:solidFill>
              <a:latin typeface="Montserrat"/>
              <a:ea typeface="Montserrat"/>
              <a:cs typeface="Montserrat"/>
              <a:sym typeface="Montserrat"/>
            </a:endParaRPr>
          </a:p>
        </p:txBody>
      </p:sp>
      <p:pic>
        <p:nvPicPr>
          <p:cNvPr id="109" name="Google Shape;109;p2"/>
          <p:cNvPicPr preferRelativeResize="0"/>
          <p:nvPr/>
        </p:nvPicPr>
        <p:blipFill rotWithShape="1">
          <a:blip r:embed="rId8">
            <a:alphaModFix/>
          </a:blip>
          <a:srcRect b="0" l="0" r="0" t="0"/>
          <a:stretch/>
        </p:blipFill>
        <p:spPr>
          <a:xfrm>
            <a:off x="6361800" y="2102749"/>
            <a:ext cx="1127986" cy="221700"/>
          </a:xfrm>
          <a:prstGeom prst="rect">
            <a:avLst/>
          </a:prstGeom>
          <a:noFill/>
          <a:ln>
            <a:noFill/>
          </a:ln>
        </p:spPr>
      </p:pic>
      <p:sp>
        <p:nvSpPr>
          <p:cNvPr id="110" name="Google Shape;110;p2"/>
          <p:cNvSpPr txBox="1"/>
          <p:nvPr/>
        </p:nvSpPr>
        <p:spPr>
          <a:xfrm>
            <a:off x="5951400" y="2131025"/>
            <a:ext cx="333300" cy="280200"/>
          </a:xfrm>
          <a:prstGeom prst="rect">
            <a:avLst/>
          </a:prstGeom>
          <a:noFill/>
          <a:ln>
            <a:noFill/>
          </a:ln>
        </p:spPr>
        <p:txBody>
          <a:bodyPr anchorCtr="0" anchor="t" bIns="0" lIns="0" spcFirstLastPara="1" rIns="0" wrap="square" tIns="0">
            <a:spAutoFit/>
          </a:bodyPr>
          <a:lstStyle/>
          <a:p>
            <a:pPr indent="0" lvl="0" marL="0" marR="0" rtl="0" algn="r">
              <a:lnSpc>
                <a:spcPct val="160024"/>
              </a:lnSpc>
              <a:spcBef>
                <a:spcPts val="0"/>
              </a:spcBef>
              <a:spcAft>
                <a:spcPts val="0"/>
              </a:spcAft>
              <a:buClr>
                <a:srgbClr val="000000"/>
              </a:buClr>
              <a:buSzPts val="700"/>
              <a:buFont typeface="Arial"/>
              <a:buNone/>
            </a:pPr>
            <a:r>
              <a:rPr b="0" i="0" lang="en-US" sz="700" u="none" cap="none" strike="noStrike">
                <a:solidFill>
                  <a:srgbClr val="2254C5"/>
                </a:solidFill>
                <a:latin typeface="Montserrat"/>
                <a:ea typeface="Montserrat"/>
                <a:cs typeface="Montserrat"/>
                <a:sym typeface="Montserrat"/>
              </a:rPr>
              <a:t>by</a:t>
            </a:r>
            <a:endParaRPr b="0" i="0" sz="700" u="none" cap="none" strike="noStrike">
              <a:solidFill>
                <a:srgbClr val="2254C5"/>
              </a:solidFill>
              <a:latin typeface="Montserrat"/>
              <a:ea typeface="Montserrat"/>
              <a:cs typeface="Montserrat"/>
              <a:sym typeface="Montserrat"/>
            </a:endParaRPr>
          </a:p>
          <a:p>
            <a:pPr indent="0" lvl="0" marL="0" marR="0" rtl="0" algn="r">
              <a:lnSpc>
                <a:spcPct val="139989"/>
              </a:lnSpc>
              <a:spcBef>
                <a:spcPts val="0"/>
              </a:spcBef>
              <a:spcAft>
                <a:spcPts val="0"/>
              </a:spcAft>
              <a:buClr>
                <a:srgbClr val="000000"/>
              </a:buClr>
              <a:buSzPts val="1000"/>
              <a:buFont typeface="Arial"/>
              <a:buNone/>
            </a:pPr>
            <a:r>
              <a:t/>
            </a:r>
            <a:endParaRPr b="0" i="0" sz="700" u="none" cap="none" strike="noStrike">
              <a:solidFill>
                <a:srgbClr val="2254C5"/>
              </a:solidFill>
              <a:latin typeface="Montserrat"/>
              <a:ea typeface="Montserrat"/>
              <a:cs typeface="Montserrat"/>
              <a:sym typeface="Montserrat"/>
            </a:endParaRPr>
          </a:p>
        </p:txBody>
      </p:sp>
      <p:pic>
        <p:nvPicPr>
          <p:cNvPr id="111" name="Google Shape;111;p2"/>
          <p:cNvPicPr preferRelativeResize="0"/>
          <p:nvPr/>
        </p:nvPicPr>
        <p:blipFill rotWithShape="1">
          <a:blip r:embed="rId9">
            <a:alphaModFix/>
          </a:blip>
          <a:srcRect b="0" l="0" r="0" t="0"/>
          <a:stretch/>
        </p:blipFill>
        <p:spPr>
          <a:xfrm>
            <a:off x="624875" y="109350"/>
            <a:ext cx="3677701" cy="1226499"/>
          </a:xfrm>
          <a:prstGeom prst="rect">
            <a:avLst/>
          </a:prstGeom>
          <a:noFill/>
          <a:ln>
            <a:noFill/>
          </a:ln>
        </p:spPr>
      </p:pic>
      <p:sp>
        <p:nvSpPr>
          <p:cNvPr id="112" name="Google Shape;112;p2"/>
          <p:cNvSpPr txBox="1"/>
          <p:nvPr/>
        </p:nvSpPr>
        <p:spPr>
          <a:xfrm>
            <a:off x="1252619" y="1141900"/>
            <a:ext cx="36777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4A86E8"/>
                </a:solidFill>
                <a:latin typeface="Montserrat"/>
                <a:ea typeface="Montserrat"/>
                <a:cs typeface="Montserrat"/>
                <a:sym typeface="Montserrat"/>
              </a:rPr>
              <a:t>Powered by:</a:t>
            </a:r>
            <a:endParaRPr b="1" i="0" sz="1600" u="none" cap="none" strike="noStrike">
              <a:solidFill>
                <a:srgbClr val="4A86E8"/>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nvSpPr>
        <p:spPr>
          <a:xfrm>
            <a:off x="1107150" y="1404800"/>
            <a:ext cx="6736500" cy="2170200"/>
          </a:xfrm>
          <a:prstGeom prst="rect">
            <a:avLst/>
          </a:prstGeom>
          <a:noFill/>
          <a:ln>
            <a:noFill/>
          </a:ln>
        </p:spPr>
        <p:txBody>
          <a:bodyPr anchorCtr="0" anchor="t" bIns="0" lIns="0" spcFirstLastPara="1" rIns="0" wrap="square" tIns="0">
            <a:spAutoFit/>
          </a:bodyPr>
          <a:lstStyle/>
          <a:p>
            <a:pPr indent="0" lvl="0" marL="0" marR="0" rtl="0" algn="just">
              <a:lnSpc>
                <a:spcPct val="139989"/>
              </a:lnSpc>
              <a:spcBef>
                <a:spcPts val="0"/>
              </a:spcBef>
              <a:spcAft>
                <a:spcPts val="0"/>
              </a:spcAft>
              <a:buClr>
                <a:srgbClr val="000000"/>
              </a:buClr>
              <a:buSzPts val="1000"/>
              <a:buFont typeface="Arial"/>
              <a:buNone/>
            </a:pPr>
            <a:r>
              <a:rPr b="0" i="0" lang="en-US" sz="1500" u="none" cap="none" strike="noStrike">
                <a:solidFill>
                  <a:srgbClr val="2254C5"/>
                </a:solidFill>
                <a:latin typeface="Montserrat"/>
                <a:ea typeface="Montserrat"/>
                <a:cs typeface="Montserrat"/>
                <a:sym typeface="Montserrat"/>
              </a:rPr>
              <a:t>interlinkIQ is a comprehensive and user-friendly software that enables food safety consultants and their clients to effortlessly organize all compliance documents in one place and update them with ease. </a:t>
            </a:r>
            <a:endParaRPr b="0" i="0" sz="1500" u="none" cap="none" strike="noStrike">
              <a:solidFill>
                <a:srgbClr val="2254C5"/>
              </a:solidFill>
              <a:latin typeface="Montserrat"/>
              <a:ea typeface="Montserrat"/>
              <a:cs typeface="Montserrat"/>
              <a:sym typeface="Montserrat"/>
            </a:endParaRPr>
          </a:p>
          <a:p>
            <a:pPr indent="0" lvl="0" marL="0" marR="0" rtl="0" algn="just">
              <a:lnSpc>
                <a:spcPct val="139989"/>
              </a:lnSpc>
              <a:spcBef>
                <a:spcPts val="0"/>
              </a:spcBef>
              <a:spcAft>
                <a:spcPts val="0"/>
              </a:spcAft>
              <a:buClr>
                <a:srgbClr val="000000"/>
              </a:buClr>
              <a:buSzPts val="1000"/>
              <a:buFont typeface="Arial"/>
              <a:buNone/>
            </a:pPr>
            <a:r>
              <a:t/>
            </a:r>
            <a:endParaRPr b="0" i="0" sz="1500" u="none" cap="none" strike="noStrike">
              <a:solidFill>
                <a:srgbClr val="2254C5"/>
              </a:solidFill>
              <a:latin typeface="Montserrat"/>
              <a:ea typeface="Montserrat"/>
              <a:cs typeface="Montserrat"/>
              <a:sym typeface="Montserrat"/>
            </a:endParaRPr>
          </a:p>
          <a:p>
            <a:pPr indent="0" lvl="0" marL="0" marR="0" rtl="0" algn="just">
              <a:lnSpc>
                <a:spcPct val="139989"/>
              </a:lnSpc>
              <a:spcBef>
                <a:spcPts val="0"/>
              </a:spcBef>
              <a:spcAft>
                <a:spcPts val="0"/>
              </a:spcAft>
              <a:buClr>
                <a:srgbClr val="000000"/>
              </a:buClr>
              <a:buSzPts val="1000"/>
              <a:buFont typeface="Arial"/>
              <a:buNone/>
            </a:pPr>
            <a:r>
              <a:rPr b="0" i="0" lang="en-US" sz="1500" u="none" cap="none" strike="noStrike">
                <a:solidFill>
                  <a:srgbClr val="2254C5"/>
                </a:solidFill>
                <a:latin typeface="Montserrat"/>
                <a:ea typeface="Montserrat"/>
                <a:cs typeface="Montserrat"/>
                <a:sym typeface="Montserrat"/>
              </a:rPr>
              <a:t>Whether managing regulatory compliance, internal policies, or industry standards, interlinkIQ streamlines the process, saving time and minimizing compliance risks.</a:t>
            </a:r>
            <a:endParaRPr b="0" i="0" sz="1300" u="none" cap="none" strike="noStrike">
              <a:solidFill>
                <a:srgbClr val="2254C5"/>
              </a:solidFill>
              <a:latin typeface="Montserrat"/>
              <a:ea typeface="Montserrat"/>
              <a:cs typeface="Montserrat"/>
              <a:sym typeface="Montserrat"/>
            </a:endParaRPr>
          </a:p>
        </p:txBody>
      </p:sp>
      <p:sp>
        <p:nvSpPr>
          <p:cNvPr id="118" name="Google Shape;118;p3"/>
          <p:cNvSpPr txBox="1"/>
          <p:nvPr/>
        </p:nvSpPr>
        <p:spPr>
          <a:xfrm>
            <a:off x="1105562" y="514438"/>
            <a:ext cx="6519900" cy="723300"/>
          </a:xfrm>
          <a:prstGeom prst="rect">
            <a:avLst/>
          </a:prstGeom>
          <a:noFill/>
          <a:ln>
            <a:noFill/>
          </a:ln>
        </p:spPr>
        <p:txBody>
          <a:bodyPr anchorCtr="0" anchor="t" bIns="0" lIns="0" spcFirstLastPara="1" rIns="0" wrap="square" tIns="0">
            <a:spAutoFit/>
          </a:bodyPr>
          <a:lstStyle/>
          <a:p>
            <a:pPr indent="0" lvl="0" marL="0" marR="0" rtl="0" algn="l">
              <a:lnSpc>
                <a:spcPct val="116997"/>
              </a:lnSpc>
              <a:spcBef>
                <a:spcPts val="0"/>
              </a:spcBef>
              <a:spcAft>
                <a:spcPts val="0"/>
              </a:spcAft>
              <a:buClr>
                <a:srgbClr val="000000"/>
              </a:buClr>
              <a:buSzPts val="4700"/>
              <a:buFont typeface="Arial"/>
              <a:buNone/>
            </a:pPr>
            <a:r>
              <a:rPr b="1" i="0" lang="en-US" sz="4700" u="none" cap="none" strike="noStrike">
                <a:solidFill>
                  <a:srgbClr val="2254C5"/>
                </a:solidFill>
                <a:latin typeface="Montserrat"/>
                <a:ea typeface="Montserrat"/>
                <a:cs typeface="Montserrat"/>
                <a:sym typeface="Montserrat"/>
              </a:rPr>
              <a:t>About</a:t>
            </a:r>
            <a:endParaRPr b="0" i="0" sz="700" u="none" cap="none" strike="noStrike">
              <a:solidFill>
                <a:srgbClr val="000000"/>
              </a:solidFill>
              <a:latin typeface="Arial"/>
              <a:ea typeface="Arial"/>
              <a:cs typeface="Arial"/>
              <a:sym typeface="Arial"/>
            </a:endParaRPr>
          </a:p>
        </p:txBody>
      </p:sp>
      <p:cxnSp>
        <p:nvCxnSpPr>
          <p:cNvPr id="119" name="Google Shape;119;p3"/>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120" name="Google Shape;120;p3"/>
          <p:cNvSpPr/>
          <p:nvPr/>
        </p:nvSpPr>
        <p:spPr>
          <a:xfrm>
            <a:off x="578551" y="470535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121" name="Google Shape;121;p3"/>
          <p:cNvPicPr preferRelativeResize="0"/>
          <p:nvPr/>
        </p:nvPicPr>
        <p:blipFill rotWithShape="1">
          <a:blip r:embed="rId4">
            <a:alphaModFix/>
          </a:blip>
          <a:srcRect b="0" l="0" r="0" t="0"/>
          <a:stretch/>
        </p:blipFill>
        <p:spPr>
          <a:xfrm>
            <a:off x="3413575" y="316775"/>
            <a:ext cx="2729743" cy="1014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cxnSp>
        <p:nvCxnSpPr>
          <p:cNvPr id="126" name="Google Shape;126;p4"/>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127" name="Google Shape;127;p4"/>
          <p:cNvSpPr txBox="1"/>
          <p:nvPr/>
        </p:nvSpPr>
        <p:spPr>
          <a:xfrm>
            <a:off x="457200" y="314813"/>
            <a:ext cx="53967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Scope:</a:t>
            </a:r>
            <a:endParaRPr/>
          </a:p>
        </p:txBody>
      </p:sp>
      <p:sp>
        <p:nvSpPr>
          <p:cNvPr id="128" name="Google Shape;128;p4"/>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129" name="Google Shape;129;p4"/>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130" name="Google Shape;130;p4"/>
          <p:cNvSpPr txBox="1"/>
          <p:nvPr/>
        </p:nvSpPr>
        <p:spPr>
          <a:xfrm>
            <a:off x="740714" y="58556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131" name="Google Shape;131;p4"/>
          <p:cNvSpPr txBox="1"/>
          <p:nvPr/>
        </p:nvSpPr>
        <p:spPr>
          <a:xfrm>
            <a:off x="408698" y="855857"/>
            <a:ext cx="7957031" cy="4339619"/>
          </a:xfrm>
          <a:prstGeom prst="rect">
            <a:avLst/>
          </a:prstGeom>
          <a:noFill/>
          <a:ln>
            <a:noFill/>
          </a:ln>
        </p:spPr>
        <p:txBody>
          <a:bodyPr anchorCtr="0" anchor="t" bIns="91425" lIns="91425" spcFirstLastPara="1" rIns="91425" wrap="square" tIns="91425">
            <a:spAutoFit/>
          </a:bodyPr>
          <a:lstStyle/>
          <a:p>
            <a:pPr indent="-450850" lvl="0" marL="457200" marR="0" rtl="0" algn="l">
              <a:lnSpc>
                <a:spcPct val="150000"/>
              </a:lnSpc>
              <a:spcBef>
                <a:spcPts val="0"/>
              </a:spcBef>
              <a:spcAft>
                <a:spcPts val="0"/>
              </a:spcAft>
              <a:buClr>
                <a:srgbClr val="004AAD"/>
              </a:buClr>
              <a:buSzPts val="2000"/>
              <a:buFont typeface="Arial"/>
              <a:buChar char="•"/>
            </a:pPr>
            <a:r>
              <a:rPr b="0" i="0" lang="en-US" sz="2000" u="none" cap="none" strike="noStrike">
                <a:solidFill>
                  <a:srgbClr val="004AAD"/>
                </a:solidFill>
                <a:latin typeface="Montserrat"/>
                <a:ea typeface="Montserrat"/>
                <a:cs typeface="Montserrat"/>
                <a:sym typeface="Montserrat"/>
              </a:rPr>
              <a:t>Avoiding “I Do Not Know”</a:t>
            </a:r>
            <a:endParaRPr/>
          </a:p>
          <a:p>
            <a:pPr indent="-450850" lvl="0" marL="457200" marR="0" rtl="0" algn="l">
              <a:lnSpc>
                <a:spcPct val="150000"/>
              </a:lnSpc>
              <a:spcBef>
                <a:spcPts val="0"/>
              </a:spcBef>
              <a:spcAft>
                <a:spcPts val="0"/>
              </a:spcAft>
              <a:buClr>
                <a:srgbClr val="004AAD"/>
              </a:buClr>
              <a:buSzPts val="2000"/>
              <a:buFont typeface="Arial"/>
              <a:buChar char="•"/>
            </a:pPr>
            <a:r>
              <a:rPr b="0" i="0" lang="en-US" sz="2000" u="none" cap="none" strike="noStrike">
                <a:solidFill>
                  <a:srgbClr val="004AAD"/>
                </a:solidFill>
                <a:latin typeface="Montserrat"/>
                <a:ea typeface="Montserrat"/>
                <a:cs typeface="Montserrat"/>
                <a:sym typeface="Montserrat"/>
              </a:rPr>
              <a:t>Seeking Clarification</a:t>
            </a:r>
            <a:endParaRPr/>
          </a:p>
          <a:p>
            <a:pPr indent="-450850" lvl="0" marL="457200" marR="0" rtl="0" algn="l">
              <a:lnSpc>
                <a:spcPct val="150000"/>
              </a:lnSpc>
              <a:spcBef>
                <a:spcPts val="0"/>
              </a:spcBef>
              <a:spcAft>
                <a:spcPts val="0"/>
              </a:spcAft>
              <a:buClr>
                <a:srgbClr val="004AAD"/>
              </a:buClr>
              <a:buSzPts val="2000"/>
              <a:buFont typeface="Arial"/>
              <a:buChar char="•"/>
            </a:pPr>
            <a:r>
              <a:rPr b="0" i="0" lang="en-US" sz="2000" u="none" cap="none" strike="noStrike">
                <a:solidFill>
                  <a:srgbClr val="004AAD"/>
                </a:solidFill>
                <a:latin typeface="Montserrat"/>
                <a:ea typeface="Montserrat"/>
                <a:cs typeface="Montserrat"/>
                <a:sym typeface="Montserrat"/>
              </a:rPr>
              <a:t>Avoiding Guessing or Speculation</a:t>
            </a:r>
            <a:endParaRPr/>
          </a:p>
          <a:p>
            <a:pPr indent="-450850" lvl="0" marL="457200" marR="0" rtl="0" algn="l">
              <a:lnSpc>
                <a:spcPct val="150000"/>
              </a:lnSpc>
              <a:spcBef>
                <a:spcPts val="0"/>
              </a:spcBef>
              <a:spcAft>
                <a:spcPts val="0"/>
              </a:spcAft>
              <a:buClr>
                <a:srgbClr val="004AAD"/>
              </a:buClr>
              <a:buSzPts val="2000"/>
              <a:buFont typeface="Arial"/>
              <a:buChar char="•"/>
            </a:pPr>
            <a:r>
              <a:rPr b="0" i="0" lang="en-US" sz="2000" u="none" cap="none" strike="noStrike">
                <a:solidFill>
                  <a:srgbClr val="004AAD"/>
                </a:solidFill>
                <a:latin typeface="Montserrat"/>
                <a:ea typeface="Montserrat"/>
                <a:cs typeface="Montserrat"/>
                <a:sym typeface="Montserrat"/>
              </a:rPr>
              <a:t>Avoiding Defensiveness</a:t>
            </a:r>
            <a:endParaRPr/>
          </a:p>
          <a:p>
            <a:pPr indent="-450850" lvl="0" marL="457200" marR="0" rtl="0" algn="l">
              <a:lnSpc>
                <a:spcPct val="150000"/>
              </a:lnSpc>
              <a:spcBef>
                <a:spcPts val="0"/>
              </a:spcBef>
              <a:spcAft>
                <a:spcPts val="0"/>
              </a:spcAft>
              <a:buClr>
                <a:srgbClr val="004AAD"/>
              </a:buClr>
              <a:buSzPts val="2000"/>
              <a:buFont typeface="Arial"/>
              <a:buChar char="•"/>
            </a:pPr>
            <a:r>
              <a:rPr b="0" i="0" lang="en-US" sz="2000" u="none" cap="none" strike="noStrike">
                <a:solidFill>
                  <a:srgbClr val="004AAD"/>
                </a:solidFill>
                <a:latin typeface="Montserrat"/>
                <a:ea typeface="Montserrat"/>
                <a:cs typeface="Montserrat"/>
                <a:sym typeface="Montserrat"/>
              </a:rPr>
              <a:t>Avoiding Arguments</a:t>
            </a:r>
            <a:endParaRPr/>
          </a:p>
          <a:p>
            <a:pPr indent="-450850" lvl="0" marL="457200" marR="0" rtl="0" algn="l">
              <a:lnSpc>
                <a:spcPct val="150000"/>
              </a:lnSpc>
              <a:spcBef>
                <a:spcPts val="0"/>
              </a:spcBef>
              <a:spcAft>
                <a:spcPts val="0"/>
              </a:spcAft>
              <a:buClr>
                <a:srgbClr val="004AAD"/>
              </a:buClr>
              <a:buSzPts val="2000"/>
              <a:buFont typeface="Arial"/>
              <a:buChar char="•"/>
            </a:pPr>
            <a:r>
              <a:rPr b="0" i="0" lang="en-US" sz="2000" u="none" cap="none" strike="noStrike">
                <a:solidFill>
                  <a:srgbClr val="004AAD"/>
                </a:solidFill>
                <a:latin typeface="Montserrat"/>
                <a:ea typeface="Montserrat"/>
                <a:cs typeface="Montserrat"/>
                <a:sym typeface="Montserrat"/>
              </a:rPr>
              <a:t>Avoiding Bashfulness</a:t>
            </a:r>
            <a:endParaRPr/>
          </a:p>
          <a:p>
            <a:pPr indent="-450850" lvl="0" marL="457200" marR="0" rtl="0" algn="l">
              <a:lnSpc>
                <a:spcPct val="150000"/>
              </a:lnSpc>
              <a:spcBef>
                <a:spcPts val="0"/>
              </a:spcBef>
              <a:spcAft>
                <a:spcPts val="0"/>
              </a:spcAft>
              <a:buClr>
                <a:srgbClr val="004AAD"/>
              </a:buClr>
              <a:buSzPts val="2000"/>
              <a:buFont typeface="Arial"/>
              <a:buChar char="•"/>
            </a:pPr>
            <a:r>
              <a:rPr b="0" i="0" lang="en-US" sz="2000" u="none" cap="none" strike="noStrike">
                <a:solidFill>
                  <a:srgbClr val="004AAD"/>
                </a:solidFill>
                <a:latin typeface="Montserrat"/>
                <a:ea typeface="Montserrat"/>
                <a:cs typeface="Montserrat"/>
                <a:sym typeface="Montserrat"/>
              </a:rPr>
              <a:t>Preparing Alternate and Substitute Personnel</a:t>
            </a:r>
            <a:endParaRPr/>
          </a:p>
          <a:p>
            <a:pPr indent="-450850" lvl="0" marL="457200" marR="0" rtl="0" algn="l">
              <a:lnSpc>
                <a:spcPct val="150000"/>
              </a:lnSpc>
              <a:spcBef>
                <a:spcPts val="0"/>
              </a:spcBef>
              <a:spcAft>
                <a:spcPts val="0"/>
              </a:spcAft>
              <a:buClr>
                <a:srgbClr val="004AAD"/>
              </a:buClr>
              <a:buSzPts val="2000"/>
              <a:buFont typeface="Arial"/>
              <a:buChar char="•"/>
            </a:pPr>
            <a:r>
              <a:rPr b="0" i="0" lang="en-US" sz="2000" u="none" cap="none" strike="noStrike">
                <a:solidFill>
                  <a:srgbClr val="004AAD"/>
                </a:solidFill>
                <a:latin typeface="Montserrat"/>
                <a:ea typeface="Montserrat"/>
                <a:cs typeface="Montserrat"/>
                <a:sym typeface="Montserrat"/>
              </a:rPr>
              <a:t>Managing Requests for Photos, Images, or Sketches</a:t>
            </a:r>
            <a:endParaRPr/>
          </a:p>
          <a:p>
            <a:pPr indent="-450850" lvl="0" marL="457200" marR="0" rtl="0" algn="l">
              <a:lnSpc>
                <a:spcPct val="150000"/>
              </a:lnSpc>
              <a:spcBef>
                <a:spcPts val="0"/>
              </a:spcBef>
              <a:spcAft>
                <a:spcPts val="0"/>
              </a:spcAft>
              <a:buClr>
                <a:srgbClr val="004AAD"/>
              </a:buClr>
              <a:buSzPts val="2000"/>
              <a:buFont typeface="Arial"/>
              <a:buChar char="•"/>
            </a:pPr>
            <a:r>
              <a:rPr b="0" i="0" lang="en-US" sz="2000" u="none" cap="none" strike="noStrike">
                <a:solidFill>
                  <a:srgbClr val="004AAD"/>
                </a:solidFill>
                <a:latin typeface="Montserrat"/>
                <a:ea typeface="Montserrat"/>
                <a:cs typeface="Montserrat"/>
                <a:sym typeface="Montserrat"/>
              </a:rPr>
              <a:t>Voice Recording</a:t>
            </a:r>
            <a:endParaRPr b="0"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cxnSp>
        <p:nvCxnSpPr>
          <p:cNvPr id="136" name="Google Shape;136;p5"/>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137" name="Google Shape;137;p5"/>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138" name="Google Shape;138;p5"/>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139" name="Google Shape;139;p5"/>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140" name="Google Shape;140;p5"/>
          <p:cNvSpPr txBox="1"/>
          <p:nvPr/>
        </p:nvSpPr>
        <p:spPr>
          <a:xfrm>
            <a:off x="380448" y="1546737"/>
            <a:ext cx="7957031" cy="1846629"/>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0" i="0" lang="en-US" sz="1800" u="none" cap="none" strike="noStrike">
                <a:solidFill>
                  <a:srgbClr val="004AAD"/>
                </a:solidFill>
                <a:latin typeface="Montserrat"/>
                <a:ea typeface="Montserrat"/>
                <a:cs typeface="Montserrat"/>
                <a:sym typeface="Montserrat"/>
              </a:rPr>
              <a:t>Per 21 CFR 117.180, Requirements applicable to a preventive controls qualified individual that must do or oversee the following: (2) Validation of the preventive controls; (5) Review of records. </a:t>
            </a:r>
            <a:endParaRPr/>
          </a:p>
        </p:txBody>
      </p:sp>
      <p:sp>
        <p:nvSpPr>
          <p:cNvPr id="141" name="Google Shape;141;p5"/>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WHY?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6"/>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147" name="Google Shape;147;p6"/>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148" name="Google Shape;148;p6"/>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149" name="Google Shape;149;p6"/>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150" name="Google Shape;150;p6"/>
          <p:cNvSpPr txBox="1"/>
          <p:nvPr/>
        </p:nvSpPr>
        <p:spPr>
          <a:xfrm>
            <a:off x="380448" y="1546737"/>
            <a:ext cx="7957031" cy="3093124"/>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0" i="0" lang="en-US" sz="1800" u="none" cap="none" strike="noStrike">
                <a:solidFill>
                  <a:srgbClr val="004AAD"/>
                </a:solidFill>
                <a:latin typeface="Montserrat"/>
                <a:ea typeface="Montserrat"/>
                <a:cs typeface="Montserrat"/>
                <a:sym typeface="Montserrat"/>
              </a:rPr>
              <a:t>Per 21 CFR 117.3 </a:t>
            </a:r>
            <a:r>
              <a:rPr b="1" i="0" lang="en-US" sz="1800" u="none" cap="none" strike="noStrike">
                <a:solidFill>
                  <a:srgbClr val="004AAD"/>
                </a:solidFill>
                <a:latin typeface="Montserrat"/>
                <a:ea typeface="Montserrat"/>
                <a:cs typeface="Montserrat"/>
                <a:sym typeface="Montserrat"/>
              </a:rPr>
              <a:t>“Preventive controls qualified individual”</a:t>
            </a:r>
            <a:endParaRPr/>
          </a:p>
          <a:p>
            <a:pPr indent="-450850" lvl="0" marL="457200" marR="0" rtl="0" algn="just">
              <a:lnSpc>
                <a:spcPct val="150000"/>
              </a:lnSpc>
              <a:spcBef>
                <a:spcPts val="0"/>
              </a:spcBef>
              <a:spcAft>
                <a:spcPts val="0"/>
              </a:spcAft>
              <a:buClr>
                <a:srgbClr val="004AAD"/>
              </a:buClr>
              <a:buSzPts val="2000"/>
              <a:buFont typeface="Arial"/>
              <a:buChar char="•"/>
            </a:pPr>
            <a:r>
              <a:rPr b="0" i="0" lang="en-US" sz="1800" u="none" cap="none" strike="noStrike">
                <a:solidFill>
                  <a:srgbClr val="004AAD"/>
                </a:solidFill>
                <a:latin typeface="Montserrat"/>
                <a:ea typeface="Montserrat"/>
                <a:cs typeface="Montserrat"/>
                <a:sym typeface="Montserrat"/>
              </a:rPr>
              <a:t>means a qualified individual who has successfully completed training in the development and application of risk-based preventive controls at least equivalent to that received under a standardized curriculum recognized as adequate by FDA or is otherwise qualified through job experience to develop and apply a food safety system.</a:t>
            </a:r>
            <a:endParaRPr/>
          </a:p>
        </p:txBody>
      </p:sp>
      <p:sp>
        <p:nvSpPr>
          <p:cNvPr id="151" name="Google Shape;151;p6"/>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WHAT?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cxnSp>
        <p:nvCxnSpPr>
          <p:cNvPr id="156" name="Google Shape;156;p7"/>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157" name="Google Shape;157;p7"/>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158" name="Google Shape;158;p7"/>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159" name="Google Shape;159;p7"/>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160" name="Google Shape;160;p7"/>
          <p:cNvSpPr txBox="1"/>
          <p:nvPr/>
        </p:nvSpPr>
        <p:spPr>
          <a:xfrm>
            <a:off x="380448" y="1273087"/>
            <a:ext cx="7957031" cy="3554789"/>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“I Do Not Know”</a:t>
            </a:r>
            <a:endParaRPr b="1" i="0" sz="1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Acknowledge the Question</a:t>
            </a:r>
            <a:endParaRPr b="0" i="0" sz="1600" u="sng" cap="none" strike="noStrike">
              <a:solidFill>
                <a:srgbClr val="004AAD"/>
              </a:solidFill>
              <a:latin typeface="Montserrat"/>
              <a:ea typeface="Montserrat"/>
              <a:cs typeface="Montserrat"/>
              <a:sym typeface="Montserrat"/>
            </a:endParaRPr>
          </a:p>
          <a:p>
            <a:pPr indent="0" lvl="1"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“That’s a very good question.”</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Indicate Action</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“Let me go find out the answers for you.”</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Offer to Follow Up</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“I will get back to you.”</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Delegate, if necessary</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“Let me get somebody who can address that for you right away.”</a:t>
            </a:r>
            <a:endParaRPr/>
          </a:p>
        </p:txBody>
      </p:sp>
      <p:sp>
        <p:nvSpPr>
          <p:cNvPr id="161" name="Google Shape;161;p7"/>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cxnSp>
        <p:nvCxnSpPr>
          <p:cNvPr id="166" name="Google Shape;166;p8"/>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167" name="Google Shape;167;p8"/>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168" name="Google Shape;168;p8"/>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169" name="Google Shape;169;p8"/>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170" name="Google Shape;170;p8"/>
          <p:cNvSpPr txBox="1"/>
          <p:nvPr/>
        </p:nvSpPr>
        <p:spPr>
          <a:xfrm>
            <a:off x="380448" y="1273087"/>
            <a:ext cx="7957031" cy="3046958"/>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“I Do Not Know”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1: Specific Technical Question</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"Can you explain the validation process for your preventive control measures?“</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“That’s a very good question. Let me check the validation records to provide you with the detailed process we follow. I’ll be right back with that information.”</a:t>
            </a:r>
            <a:endParaRPr/>
          </a:p>
        </p:txBody>
      </p:sp>
      <p:sp>
        <p:nvSpPr>
          <p:cNvPr id="171" name="Google Shape;171;p8"/>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cxnSp>
        <p:nvCxnSpPr>
          <p:cNvPr id="176" name="Google Shape;176;p9"/>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177" name="Google Shape;177;p9"/>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178" name="Google Shape;178;p9"/>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179" name="Google Shape;179;p9"/>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180" name="Google Shape;180;p9"/>
          <p:cNvSpPr txBox="1"/>
          <p:nvPr/>
        </p:nvSpPr>
        <p:spPr>
          <a:xfrm>
            <a:off x="380448" y="1273087"/>
            <a:ext cx="7957031" cy="3416290"/>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“I Do Not Know”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2: Complex Regulatory Compliance</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"How do you ensure compliance with the latest FDA guidelines on allergen control?“</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“That’s a very good question. I’ll find the compliance documents and policies that detail our procedures and share them with you. If needed, I’ll also bring in our compliance officer who manages this area.”</a:t>
            </a:r>
            <a:endParaRPr/>
          </a:p>
        </p:txBody>
      </p:sp>
      <p:sp>
        <p:nvSpPr>
          <p:cNvPr id="181" name="Google Shape;181;p9"/>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cxnSp>
        <p:nvCxnSpPr>
          <p:cNvPr id="186" name="Google Shape;186;p10"/>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187" name="Google Shape;187;p10"/>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188" name="Google Shape;188;p10"/>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189" name="Google Shape;189;p10"/>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190" name="Google Shape;190;p10"/>
          <p:cNvSpPr txBox="1"/>
          <p:nvPr/>
        </p:nvSpPr>
        <p:spPr>
          <a:xfrm>
            <a:off x="380448" y="1273087"/>
            <a:ext cx="8286032" cy="3554789"/>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Seeking Clarification</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Express Genuine Interest</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“I want to make sure I understand your question correctly.”</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Paraphrase the Question</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“So, if I understand correctly, you’re asking about…”</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Ask for Specifics </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“Could you please provide more details about what you’re looking for?”</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Offer Options</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“Are you referring to [Option A] or [Option B]?”</a:t>
            </a:r>
            <a:endParaRPr/>
          </a:p>
        </p:txBody>
      </p:sp>
      <p:sp>
        <p:nvSpPr>
          <p:cNvPr id="191" name="Google Shape;191;p10"/>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cxnSp>
        <p:nvCxnSpPr>
          <p:cNvPr id="196" name="Google Shape;196;p11"/>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197" name="Google Shape;197;p11"/>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198" name="Google Shape;198;p11"/>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199" name="Google Shape;199;p11"/>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200" name="Google Shape;200;p11"/>
          <p:cNvSpPr txBox="1"/>
          <p:nvPr/>
        </p:nvSpPr>
        <p:spPr>
          <a:xfrm>
            <a:off x="380448" y="1273087"/>
            <a:ext cx="7957031" cy="2677626"/>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Seeking Clarification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1: Clarifying a Broad Question</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“Can you show me your compliance records?”</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“I want to make sure I understand your question correctly. Are you looking for compliance records related to our hazard analysis, preventive controls, or another specific area?”</a:t>
            </a:r>
            <a:endParaRPr/>
          </a:p>
        </p:txBody>
      </p:sp>
      <p:sp>
        <p:nvSpPr>
          <p:cNvPr id="201" name="Google Shape;201;p11"/>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cxnSp>
        <p:nvCxnSpPr>
          <p:cNvPr id="206" name="Google Shape;206;p12"/>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207" name="Google Shape;207;p12"/>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208" name="Google Shape;208;p12"/>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209" name="Google Shape;209;p12"/>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210" name="Google Shape;210;p12"/>
          <p:cNvSpPr txBox="1"/>
          <p:nvPr/>
        </p:nvSpPr>
        <p:spPr>
          <a:xfrm>
            <a:off x="380448" y="1273087"/>
            <a:ext cx="7957031" cy="2677626"/>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Seeking Clarification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2: Understanding Technical Details</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“How do you validate your sanitation controls?”</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“Could you please provide more details about which specific aspect you’re interested in — such as the methods we use, the frequency of validation, or the documentation?”</a:t>
            </a:r>
            <a:endParaRPr/>
          </a:p>
        </p:txBody>
      </p:sp>
      <p:sp>
        <p:nvSpPr>
          <p:cNvPr id="211" name="Google Shape;211;p12"/>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cxnSp>
        <p:nvCxnSpPr>
          <p:cNvPr id="216" name="Google Shape;216;p13"/>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217" name="Google Shape;217;p13"/>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218" name="Google Shape;218;p13"/>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219" name="Google Shape;219;p13"/>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220" name="Google Shape;220;p13"/>
          <p:cNvSpPr txBox="1"/>
          <p:nvPr/>
        </p:nvSpPr>
        <p:spPr>
          <a:xfrm>
            <a:off x="380448" y="1181647"/>
            <a:ext cx="8286032" cy="3924121"/>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Guessing or Speculation</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Acknowledge the Question Thoughtfully</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“That’s an important question. Let me check our records to ensure I provide you with the most accurate information.”</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Commit to Finding the Correct Information</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“I want to be sure I give you the correct information. Let me verify this with our documentation and get back to you shortly.”</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Involve the Right Personnel </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“I believe our [relevant expert/colleague] can provide a more detailed answer on this. Let me bring them in.”</a:t>
            </a:r>
            <a:endParaRPr/>
          </a:p>
        </p:txBody>
      </p:sp>
      <p:sp>
        <p:nvSpPr>
          <p:cNvPr id="221" name="Google Shape;221;p13"/>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cxnSp>
        <p:nvCxnSpPr>
          <p:cNvPr id="226" name="Google Shape;226;p14"/>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227" name="Google Shape;227;p14"/>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228" name="Google Shape;228;p14"/>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229" name="Google Shape;229;p14"/>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230" name="Google Shape;230;p14"/>
          <p:cNvSpPr txBox="1"/>
          <p:nvPr/>
        </p:nvSpPr>
        <p:spPr>
          <a:xfrm>
            <a:off x="380448" y="1273087"/>
            <a:ext cx="7957031" cy="3046958"/>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Guessing or Speculation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1: Specific Data Request</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“Can you tell me the exact date and results of your last water quality test?”</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“That’s an important question. I want to make sure I give you the exact information. Let me pull up our water quality test records and verify the details for you.”</a:t>
            </a:r>
            <a:endParaRPr/>
          </a:p>
        </p:txBody>
      </p:sp>
      <p:sp>
        <p:nvSpPr>
          <p:cNvPr id="231" name="Google Shape;231;p14"/>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cxnSp>
        <p:nvCxnSpPr>
          <p:cNvPr id="236" name="Google Shape;236;p15"/>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237" name="Google Shape;237;p15"/>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238" name="Google Shape;238;p15"/>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239" name="Google Shape;239;p15"/>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240" name="Google Shape;240;p15"/>
          <p:cNvSpPr txBox="1"/>
          <p:nvPr/>
        </p:nvSpPr>
        <p:spPr>
          <a:xfrm>
            <a:off x="380448" y="1273087"/>
            <a:ext cx="7957031" cy="3046958"/>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Guessing or Speculation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2: Technical Procedure Inquiry</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“Can you explain the specific steps of your new sanitation protocol?”</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“Our new sanitation protocol has several detailed steps. To ensure I explain it accurately, let me refer to our documented procedures. I’ll be right back with that information.”</a:t>
            </a:r>
            <a:endParaRPr/>
          </a:p>
        </p:txBody>
      </p:sp>
      <p:sp>
        <p:nvSpPr>
          <p:cNvPr id="241" name="Google Shape;241;p15"/>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cxnSp>
        <p:nvCxnSpPr>
          <p:cNvPr id="246" name="Google Shape;246;p16"/>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247" name="Google Shape;247;p16"/>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248" name="Google Shape;248;p16"/>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249" name="Google Shape;249;p16"/>
          <p:cNvSpPr txBox="1"/>
          <p:nvPr/>
        </p:nvSpPr>
        <p:spPr>
          <a:xfrm>
            <a:off x="740714" y="651609"/>
            <a:ext cx="76356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250" name="Google Shape;250;p16"/>
          <p:cNvSpPr txBox="1"/>
          <p:nvPr/>
        </p:nvSpPr>
        <p:spPr>
          <a:xfrm>
            <a:off x="380447" y="968287"/>
            <a:ext cx="8657700" cy="4217400"/>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Defensiveness and Arguments with the Investigator</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Stay Calm and Composed </a:t>
            </a:r>
            <a:r>
              <a:rPr b="0" i="0" lang="en-US" sz="1600" u="none" cap="none" strike="noStrike">
                <a:solidFill>
                  <a:srgbClr val="004AAD"/>
                </a:solidFill>
                <a:latin typeface="Montserrat"/>
                <a:ea typeface="Montserrat"/>
                <a:cs typeface="Montserrat"/>
                <a:sym typeface="Montserrat"/>
              </a:rPr>
              <a:t>- Keep your voice calm and even, regardless of the question’s nature.</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Listen Actively</a:t>
            </a:r>
            <a:r>
              <a:rPr b="0" i="0" lang="en-US" sz="1600" u="none" cap="none" strike="noStrike">
                <a:solidFill>
                  <a:srgbClr val="004AAD"/>
                </a:solidFill>
                <a:latin typeface="Montserrat"/>
                <a:ea typeface="Montserrat"/>
                <a:cs typeface="Montserrat"/>
                <a:sym typeface="Montserrat"/>
              </a:rPr>
              <a:t> - Nod, make eye contact, say “I understand” or “I see.”</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Acknowledge Concerns</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“I understand why that might be a concern. </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Let’s review the information together.”</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Focus on Solutions</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“Thank you for bringing that to our attention. </a:t>
            </a:r>
            <a:endParaRPr/>
          </a:p>
          <a:p>
            <a:pPr indent="0" lvl="0" marL="6350" marR="0" rtl="0" algn="ctr">
              <a:lnSpc>
                <a:spcPct val="150000"/>
              </a:lnSpc>
              <a:spcBef>
                <a:spcPts val="0"/>
              </a:spcBef>
              <a:spcAft>
                <a:spcPts val="0"/>
              </a:spcAft>
              <a:buNone/>
            </a:pPr>
            <a:r>
              <a:rPr b="0" i="0" lang="en-US" sz="1600" u="none" cap="none" strike="noStrike">
                <a:solidFill>
                  <a:srgbClr val="004AAD"/>
                </a:solidFill>
                <a:latin typeface="Montserrat"/>
                <a:ea typeface="Montserrat"/>
                <a:cs typeface="Montserrat"/>
                <a:sym typeface="Montserrat"/>
              </a:rPr>
              <a:t>Here’s how we plan to address it”</a:t>
            </a:r>
            <a:endParaRPr/>
          </a:p>
        </p:txBody>
      </p:sp>
      <p:sp>
        <p:nvSpPr>
          <p:cNvPr id="251" name="Google Shape;251;p16"/>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cxnSp>
        <p:nvCxnSpPr>
          <p:cNvPr id="256" name="Google Shape;256;p17"/>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257" name="Google Shape;257;p17"/>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258" name="Google Shape;258;p17"/>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259" name="Google Shape;259;p17"/>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260" name="Google Shape;260;p17"/>
          <p:cNvSpPr txBox="1"/>
          <p:nvPr/>
        </p:nvSpPr>
        <p:spPr>
          <a:xfrm>
            <a:off x="380448" y="1273087"/>
            <a:ext cx="8499392" cy="3462456"/>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Defensiveness and Arguments with the Investigator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1: Highlighting a Possible Violation</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“I’ve noticed that your allergen controls are not up to standard based on our initial observations.”</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“Thank you for pointing that out. We take allergen control very seriously. Let’s review the specific areas you’re concerned about so we can make the necessary improvements.”</a:t>
            </a:r>
            <a:endParaRPr/>
          </a:p>
        </p:txBody>
      </p:sp>
      <p:sp>
        <p:nvSpPr>
          <p:cNvPr id="261" name="Google Shape;261;p17"/>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cxnSp>
        <p:nvCxnSpPr>
          <p:cNvPr id="266" name="Google Shape;266;p18"/>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267" name="Google Shape;267;p18"/>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268" name="Google Shape;268;p18"/>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269" name="Google Shape;269;p18"/>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270" name="Google Shape;270;p18"/>
          <p:cNvSpPr txBox="1"/>
          <p:nvPr/>
        </p:nvSpPr>
        <p:spPr>
          <a:xfrm>
            <a:off x="380448" y="1273087"/>
            <a:ext cx="8479072" cy="3462456"/>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Defensiveness and Arguments with the Investigator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2: Challenging Procedures</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“Your sanitation procedures don’t seem to align with the required guidelines.”</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“I appreciate your feedback. Let’s go over our sanitation procedures in detail to identify any discrepancies and ensure we’re fully compliant.”</a:t>
            </a:r>
            <a:endParaRPr/>
          </a:p>
        </p:txBody>
      </p:sp>
      <p:sp>
        <p:nvSpPr>
          <p:cNvPr id="271" name="Google Shape;271;p18"/>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cxnSp>
        <p:nvCxnSpPr>
          <p:cNvPr id="276" name="Google Shape;276;p19"/>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277" name="Google Shape;277;p19"/>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278" name="Google Shape;278;p19"/>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279" name="Google Shape;279;p19"/>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280" name="Google Shape;280;p19"/>
          <p:cNvSpPr txBox="1"/>
          <p:nvPr/>
        </p:nvSpPr>
        <p:spPr>
          <a:xfrm>
            <a:off x="380447" y="1273087"/>
            <a:ext cx="8657551" cy="3554789"/>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Bashfulness with the Investigator</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Familiarize Yourself with the Facility</a:t>
            </a:r>
            <a:r>
              <a:rPr b="0" i="0" lang="en-US" sz="1600" u="none" cap="none" strike="noStrike">
                <a:solidFill>
                  <a:srgbClr val="004AAD"/>
                </a:solidFill>
                <a:latin typeface="Montserrat"/>
                <a:ea typeface="Montserrat"/>
                <a:cs typeface="Montserrat"/>
                <a:sym typeface="Montserrat"/>
              </a:rPr>
              <a:t> - Know the layout of the facility and key areas the investigator may want to see. </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Maintain Positive Body Language</a:t>
            </a:r>
            <a:r>
              <a:rPr b="0" i="0" lang="en-US" sz="1600" u="none" cap="none" strike="noStrike">
                <a:solidFill>
                  <a:srgbClr val="004AAD"/>
                </a:solidFill>
                <a:latin typeface="Montserrat"/>
                <a:ea typeface="Montserrat"/>
                <a:cs typeface="Montserrat"/>
                <a:sym typeface="Montserrat"/>
              </a:rPr>
              <a:t> - Good posture and eye contact convey confidence and openness.</a:t>
            </a:r>
            <a:endParaRPr b="0" i="0" sz="16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Speak Clearly and Confidently</a:t>
            </a:r>
            <a:r>
              <a:rPr b="0" i="0" lang="en-US" sz="1600" u="none" cap="none" strike="noStrike">
                <a:solidFill>
                  <a:srgbClr val="004AAD"/>
                </a:solidFill>
                <a:latin typeface="Montserrat"/>
                <a:ea typeface="Montserrat"/>
                <a:cs typeface="Montserrat"/>
                <a:sym typeface="Montserrat"/>
              </a:rPr>
              <a:t> - Speak at a comfortable pace and volume, avoiding rushed or mumbled speech.</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Anticipate and Address Questions</a:t>
            </a:r>
            <a:r>
              <a:rPr b="0" i="0" lang="en-US" sz="1600" u="none" cap="none" strike="noStrike">
                <a:solidFill>
                  <a:srgbClr val="004AAD"/>
                </a:solidFill>
                <a:latin typeface="Montserrat"/>
                <a:ea typeface="Montserrat"/>
                <a:cs typeface="Montserrat"/>
                <a:sym typeface="Montserrat"/>
              </a:rPr>
              <a:t> - Prepare for common questions and practice your responses.</a:t>
            </a:r>
            <a:endParaRPr/>
          </a:p>
        </p:txBody>
      </p:sp>
      <p:sp>
        <p:nvSpPr>
          <p:cNvPr id="281" name="Google Shape;281;p19"/>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cxnSp>
        <p:nvCxnSpPr>
          <p:cNvPr id="286" name="Google Shape;286;p20"/>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287" name="Google Shape;287;p20"/>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288" name="Google Shape;288;p20"/>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289" name="Google Shape;289;p20"/>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290" name="Google Shape;290;p20"/>
          <p:cNvSpPr txBox="1"/>
          <p:nvPr/>
        </p:nvSpPr>
        <p:spPr>
          <a:xfrm>
            <a:off x="380448" y="1273087"/>
            <a:ext cx="8499392" cy="3416290"/>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Bashfulness with the Investigator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1: Explaining a Critical Control Point</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“Can you show me your main critical control point for allergen management?”</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“Absolutely. Right this way, please. Here we have our allergen control station, where we ensure that all equipment is thoroughly cleaned between production runs to prevent cross-contamination. We also use separate utensils and storage areas for allergenic ingredients.”</a:t>
            </a:r>
            <a:endParaRPr/>
          </a:p>
        </p:txBody>
      </p:sp>
      <p:sp>
        <p:nvSpPr>
          <p:cNvPr id="291" name="Google Shape;291;p20"/>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cxnSp>
        <p:nvCxnSpPr>
          <p:cNvPr id="296" name="Google Shape;296;p21"/>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297" name="Google Shape;297;p21"/>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298" name="Google Shape;298;p21"/>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299" name="Google Shape;299;p21"/>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300" name="Google Shape;300;p21"/>
          <p:cNvSpPr txBox="1"/>
          <p:nvPr/>
        </p:nvSpPr>
        <p:spPr>
          <a:xfrm>
            <a:off x="380448" y="1273087"/>
            <a:ext cx="8499392" cy="3046958"/>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Avoiding Bashfulness with the Investigator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2: Highlighting Safety Measures</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“How do you ensure employee safety during production?”</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“Great question. We prioritize safety with multiple measures. For instance, all employees are required to wear personal protective equipment, which you can see here. We also conduct regular safety drills and training sessions to keep everyone up-to-date on best practices.”</a:t>
            </a:r>
            <a:endParaRPr/>
          </a:p>
        </p:txBody>
      </p:sp>
      <p:sp>
        <p:nvSpPr>
          <p:cNvPr id="301" name="Google Shape;301;p21"/>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cxnSp>
        <p:nvCxnSpPr>
          <p:cNvPr id="306" name="Google Shape;306;p22"/>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307" name="Google Shape;307;p22"/>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308" name="Google Shape;308;p22"/>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309" name="Google Shape;309;p22"/>
          <p:cNvSpPr txBox="1"/>
          <p:nvPr/>
        </p:nvSpPr>
        <p:spPr>
          <a:xfrm>
            <a:off x="740714" y="651609"/>
            <a:ext cx="76356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310" name="Google Shape;310;p22"/>
          <p:cNvSpPr txBox="1"/>
          <p:nvPr/>
        </p:nvSpPr>
        <p:spPr>
          <a:xfrm>
            <a:off x="380447" y="917487"/>
            <a:ext cx="8657700" cy="4217400"/>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Preparing Alternate and Substitute Personnel</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Regular Cross-Training</a:t>
            </a:r>
            <a:r>
              <a:rPr b="0" i="0" lang="en-US" sz="1600" u="none" cap="none" strike="noStrike">
                <a:solidFill>
                  <a:srgbClr val="004AAD"/>
                </a:solidFill>
                <a:latin typeface="Montserrat"/>
                <a:ea typeface="Montserrat"/>
                <a:cs typeface="Montserrat"/>
                <a:sym typeface="Montserrat"/>
              </a:rPr>
              <a:t> - Implement a cross-training program to ensure that multiple employees are familiar with critical roles and tasks. </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Documentation of Procedures</a:t>
            </a:r>
            <a:r>
              <a:rPr b="0" i="0" lang="en-US" sz="1600" u="none" cap="none" strike="noStrike">
                <a:solidFill>
                  <a:srgbClr val="004AAD"/>
                </a:solidFill>
                <a:latin typeface="Montserrat"/>
                <a:ea typeface="Montserrat"/>
                <a:cs typeface="Montserrat"/>
                <a:sym typeface="Montserrat"/>
              </a:rPr>
              <a:t> - Create and maintain up-to-date procedural documents that can be easily accessed and understood by all personnel.</a:t>
            </a:r>
            <a:endParaRPr b="0" i="0" sz="16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Establish a Communication Plan</a:t>
            </a:r>
            <a:r>
              <a:rPr b="0" i="0" lang="en-US" sz="1600" u="none" cap="none" strike="noStrike">
                <a:solidFill>
                  <a:srgbClr val="004AAD"/>
                </a:solidFill>
                <a:latin typeface="Montserrat"/>
                <a:ea typeface="Montserrat"/>
                <a:cs typeface="Montserrat"/>
                <a:sym typeface="Montserrat"/>
              </a:rPr>
              <a:t> - Develop a clear communication plan to ensure that all personnel know who to contact for specific issues or questions during the inspection.</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Feedback and Improvement </a:t>
            </a:r>
            <a:r>
              <a:rPr b="0" i="0" lang="en-US" sz="1600" u="none" cap="none" strike="noStrike">
                <a:solidFill>
                  <a:srgbClr val="004AAD"/>
                </a:solidFill>
                <a:latin typeface="Montserrat"/>
                <a:ea typeface="Montserrat"/>
                <a:cs typeface="Montserrat"/>
                <a:sym typeface="Montserrat"/>
              </a:rPr>
              <a:t>- After mock inspections, gather feedback from personnel to identify areas for improvement and further training.</a:t>
            </a:r>
            <a:endParaRPr/>
          </a:p>
        </p:txBody>
      </p:sp>
      <p:sp>
        <p:nvSpPr>
          <p:cNvPr id="311" name="Google Shape;311;p22"/>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cxnSp>
        <p:nvCxnSpPr>
          <p:cNvPr id="316" name="Google Shape;316;p23"/>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317" name="Google Shape;317;p23"/>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318" name="Google Shape;318;p23"/>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319" name="Google Shape;319;p23"/>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320" name="Google Shape;320;p23"/>
          <p:cNvSpPr txBox="1"/>
          <p:nvPr/>
        </p:nvSpPr>
        <p:spPr>
          <a:xfrm>
            <a:off x="380448" y="1273087"/>
            <a:ext cx="8499392" cy="3785621"/>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Preparing Alternate and Substitute Personnel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1: Primary PCQI is Unavailable</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Primary PCQI: </a:t>
            </a:r>
            <a:r>
              <a:rPr b="0" i="0" lang="en-US" sz="1600" u="none" cap="none" strike="noStrike">
                <a:solidFill>
                  <a:srgbClr val="004AAD"/>
                </a:solidFill>
                <a:latin typeface="Montserrat"/>
                <a:ea typeface="Montserrat"/>
                <a:cs typeface="Montserrat"/>
                <a:sym typeface="Montserrat"/>
              </a:rPr>
              <a:t>Scheduled for an emergency meeting.</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Alternate PCQI: </a:t>
            </a:r>
            <a:r>
              <a:rPr b="0" i="0" lang="en-US" sz="1600" u="none" cap="none" strike="noStrike">
                <a:solidFill>
                  <a:srgbClr val="004AAD"/>
                </a:solidFill>
                <a:latin typeface="Montserrat"/>
                <a:ea typeface="Montserrat"/>
                <a:cs typeface="Montserrat"/>
                <a:sym typeface="Montserrat"/>
              </a:rPr>
              <a:t>Steps in confidently. </a:t>
            </a:r>
            <a:r>
              <a:rPr b="0" i="1" lang="en-US" sz="1400" u="none" cap="none" strike="noStrike">
                <a:solidFill>
                  <a:srgbClr val="004AAD"/>
                </a:solidFill>
                <a:latin typeface="Montserrat"/>
                <a:ea typeface="Montserrat"/>
                <a:cs typeface="Montserrat"/>
                <a:sym typeface="Montserrat"/>
              </a:rPr>
              <a:t>The alternate PCQI has been regularly trained alongside the primary PCQI, is familiar with the food safety plan, and has participated in mock inspections.</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Outcome: </a:t>
            </a:r>
            <a:r>
              <a:rPr b="0" i="0" lang="en-US" sz="1600" u="none" cap="none" strike="noStrike">
                <a:solidFill>
                  <a:srgbClr val="004AAD"/>
                </a:solidFill>
                <a:latin typeface="Montserrat"/>
                <a:ea typeface="Montserrat"/>
                <a:cs typeface="Montserrat"/>
                <a:sym typeface="Montserrat"/>
              </a:rPr>
              <a:t>The inspection proceeds smoothly, with the alternate PCQI providing accurate information and demonstrating thorough knowledge of the facility’s procedures.</a:t>
            </a:r>
            <a:endParaRPr/>
          </a:p>
        </p:txBody>
      </p:sp>
      <p:sp>
        <p:nvSpPr>
          <p:cNvPr id="321" name="Google Shape;321;p23"/>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cxnSp>
        <p:nvCxnSpPr>
          <p:cNvPr id="326" name="Google Shape;326;p24"/>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327" name="Google Shape;327;p24"/>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328" name="Google Shape;328;p24"/>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329" name="Google Shape;329;p24"/>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330" name="Google Shape;330;p24"/>
          <p:cNvSpPr txBox="1"/>
          <p:nvPr/>
        </p:nvSpPr>
        <p:spPr>
          <a:xfrm>
            <a:off x="380448" y="1273087"/>
            <a:ext cx="8499392" cy="3046958"/>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Preparing Alternate and Substitute Personnel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2: Substitute Personnel for Specific Task</a:t>
            </a:r>
            <a:endParaRPr b="1" i="0" sz="800" u="none" cap="none" strike="noStrike">
              <a:solidFill>
                <a:srgbClr val="004AAD"/>
              </a:solidFill>
              <a:latin typeface="Montserrat"/>
              <a:ea typeface="Montserrat"/>
              <a:cs typeface="Montserrat"/>
              <a:sym typeface="Montserrat"/>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Requests to see the latest sanitation logs</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“Let me bring in our sanitation supervisor, who can provide those records and explain our procedures in detail.”</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Outcome: </a:t>
            </a:r>
            <a:r>
              <a:rPr b="0" i="0" lang="en-US" sz="1600" u="none" cap="none" strike="noStrike">
                <a:solidFill>
                  <a:srgbClr val="004AAD"/>
                </a:solidFill>
                <a:latin typeface="Montserrat"/>
                <a:ea typeface="Montserrat"/>
                <a:cs typeface="Montserrat"/>
                <a:sym typeface="Montserrat"/>
              </a:rPr>
              <a:t>The sanitation supervisor provides the logs promptly and answers the investigator’s questions confidently, ensuring a positive impression.</a:t>
            </a:r>
            <a:endParaRPr/>
          </a:p>
        </p:txBody>
      </p:sp>
      <p:sp>
        <p:nvSpPr>
          <p:cNvPr id="331" name="Google Shape;331;p24"/>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cxnSp>
        <p:nvCxnSpPr>
          <p:cNvPr id="336" name="Google Shape;336;p25"/>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337" name="Google Shape;337;p25"/>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338" name="Google Shape;338;p25"/>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339" name="Google Shape;339;p25"/>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340" name="Google Shape;340;p25"/>
          <p:cNvSpPr txBox="1"/>
          <p:nvPr/>
        </p:nvSpPr>
        <p:spPr>
          <a:xfrm>
            <a:off x="380447" y="1222287"/>
            <a:ext cx="8657551" cy="3185457"/>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Managing Requests for Photos, Images, or Sketches</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Understand the Internal Policy</a:t>
            </a:r>
            <a:r>
              <a:rPr b="0" i="0" lang="en-US" sz="1600" u="none" cap="none" strike="noStrike">
                <a:solidFill>
                  <a:srgbClr val="004AAD"/>
                </a:solidFill>
                <a:latin typeface="Montserrat"/>
                <a:ea typeface="Montserrat"/>
                <a:cs typeface="Montserrat"/>
                <a:sym typeface="Montserrat"/>
              </a:rPr>
              <a:t> - Ensure all personnel are familiar with the company’s policy on allowing photographs or sketches within the facility. </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Communicate with Senior Management or Legal Team</a:t>
            </a:r>
            <a:r>
              <a:rPr b="0" i="0" lang="en-US" sz="1600" u="none" cap="none" strike="noStrike">
                <a:solidFill>
                  <a:srgbClr val="004AAD"/>
                </a:solidFill>
                <a:latin typeface="Montserrat"/>
                <a:ea typeface="Montserrat"/>
                <a:cs typeface="Montserrat"/>
                <a:sym typeface="Montserrat"/>
              </a:rPr>
              <a:t> - If there is any uncertainty, seek immediate guidance from senior management or the legal team.</a:t>
            </a:r>
            <a:endParaRPr b="0" i="0" sz="16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Provide Clear and Polite Communication</a:t>
            </a:r>
            <a:r>
              <a:rPr b="0" i="0" lang="en-US" sz="1600" u="none" cap="none" strike="noStrike">
                <a:solidFill>
                  <a:srgbClr val="004AAD"/>
                </a:solidFill>
                <a:latin typeface="Montserrat"/>
                <a:ea typeface="Montserrat"/>
                <a:cs typeface="Montserrat"/>
                <a:sym typeface="Montserrat"/>
              </a:rPr>
              <a:t> - ensure transparency and maintain a cooperative attitude while adhering to company policies.</a:t>
            </a:r>
            <a:endParaRPr/>
          </a:p>
        </p:txBody>
      </p:sp>
      <p:sp>
        <p:nvSpPr>
          <p:cNvPr id="341" name="Google Shape;341;p25"/>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cxnSp>
        <p:nvCxnSpPr>
          <p:cNvPr id="346" name="Google Shape;346;p26"/>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347" name="Google Shape;347;p26"/>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348" name="Google Shape;348;p26"/>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349" name="Google Shape;349;p26"/>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350" name="Google Shape;350;p26"/>
          <p:cNvSpPr txBox="1"/>
          <p:nvPr/>
        </p:nvSpPr>
        <p:spPr>
          <a:xfrm>
            <a:off x="380448" y="1273087"/>
            <a:ext cx="8499392" cy="3046958"/>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Managing Requests for Photos, Images, or Sketches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1: Investigator Requests to Take Photos</a:t>
            </a:r>
            <a:endParaRPr b="1" i="0" sz="800" u="none" cap="none" strike="noStrike">
              <a:solidFill>
                <a:srgbClr val="004AAD"/>
              </a:solidFill>
              <a:latin typeface="Montserrat"/>
              <a:ea typeface="Montserrat"/>
              <a:cs typeface="Montserrat"/>
              <a:sym typeface="Montserrat"/>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“I would like to take some photos of your production line.”</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“I understand the need for thorough documentation. Our internal policy requires approval from senior management for any photography. Please give me a moment to reach out to them.”</a:t>
            </a:r>
            <a:endParaRPr/>
          </a:p>
        </p:txBody>
      </p:sp>
      <p:sp>
        <p:nvSpPr>
          <p:cNvPr id="351" name="Google Shape;351;p26"/>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cxnSp>
        <p:nvCxnSpPr>
          <p:cNvPr id="356" name="Google Shape;356;p27"/>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357" name="Google Shape;357;p27"/>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358" name="Google Shape;358;p27"/>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359" name="Google Shape;359;p27"/>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360" name="Google Shape;360;p27"/>
          <p:cNvSpPr txBox="1"/>
          <p:nvPr/>
        </p:nvSpPr>
        <p:spPr>
          <a:xfrm>
            <a:off x="380448" y="1273087"/>
            <a:ext cx="8499392" cy="2862292"/>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Managing Requests for Photos, Images, or Sketches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2: Investigator Wants to Sketch Layout</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“I’d like to make a quick sketch of this area for my notes.”</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“I appreciate your thoroughness. According to our policy, we need to get approval from our senior management for any sketches or drawings. Let me get in touch with them to discuss this.”</a:t>
            </a:r>
            <a:endParaRPr/>
          </a:p>
        </p:txBody>
      </p:sp>
      <p:sp>
        <p:nvSpPr>
          <p:cNvPr id="361" name="Google Shape;361;p27"/>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cxnSp>
        <p:nvCxnSpPr>
          <p:cNvPr id="366" name="Google Shape;366;p28"/>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367" name="Google Shape;367;p28"/>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368" name="Google Shape;368;p28"/>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369" name="Google Shape;369;p28"/>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370" name="Google Shape;370;p28"/>
          <p:cNvSpPr txBox="1"/>
          <p:nvPr/>
        </p:nvSpPr>
        <p:spPr>
          <a:xfrm>
            <a:off x="380447" y="1222287"/>
            <a:ext cx="8657551" cy="3185457"/>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Voice Recording</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Understand Legal and Company Policies</a:t>
            </a:r>
            <a:r>
              <a:rPr b="0" i="0" lang="en-US" sz="1600" u="none" cap="none" strike="noStrike">
                <a:solidFill>
                  <a:srgbClr val="004AAD"/>
                </a:solidFill>
                <a:latin typeface="Montserrat"/>
                <a:ea typeface="Montserrat"/>
                <a:cs typeface="Montserrat"/>
                <a:sym typeface="Montserrat"/>
              </a:rPr>
              <a:t> – Ensure compliance with legal and ethical standards, avoiding any potential legal issues. </a:t>
            </a:r>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Seek Approval</a:t>
            </a:r>
            <a:r>
              <a:rPr b="0" i="0" lang="en-US" sz="1600" u="none" cap="none" strike="noStrike">
                <a:solidFill>
                  <a:srgbClr val="004AAD"/>
                </a:solidFill>
                <a:latin typeface="Montserrat"/>
                <a:ea typeface="Montserrat"/>
                <a:cs typeface="Montserrat"/>
                <a:sym typeface="Montserrat"/>
              </a:rPr>
              <a:t> - Obtain approval from senior management and, if necessary, the FDA investigator before recording any conversations.</a:t>
            </a:r>
            <a:endParaRPr b="0" i="0" sz="16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0" i="0" lang="en-US" sz="1600" u="sng" cap="none" strike="noStrike">
                <a:solidFill>
                  <a:srgbClr val="004AAD"/>
                </a:solidFill>
                <a:latin typeface="Montserrat"/>
                <a:ea typeface="Montserrat"/>
                <a:cs typeface="Montserrat"/>
                <a:sym typeface="Montserrat"/>
              </a:rPr>
              <a:t>Use for Internal Review and Training</a:t>
            </a:r>
            <a:r>
              <a:rPr b="0" i="0" lang="en-US" sz="1600" u="none" cap="none" strike="noStrike">
                <a:solidFill>
                  <a:srgbClr val="004AAD"/>
                </a:solidFill>
                <a:latin typeface="Montserrat"/>
                <a:ea typeface="Montserrat"/>
                <a:cs typeface="Montserrat"/>
                <a:sym typeface="Montserrat"/>
              </a:rPr>
              <a:t> - Use past recordings review discussions and prepare accurate responses, and for training personnel on how to handle similar situations in the future.</a:t>
            </a:r>
            <a:endParaRPr/>
          </a:p>
        </p:txBody>
      </p:sp>
      <p:sp>
        <p:nvSpPr>
          <p:cNvPr id="371" name="Google Shape;371;p28"/>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cxnSp>
        <p:nvCxnSpPr>
          <p:cNvPr id="376" name="Google Shape;376;p29"/>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377" name="Google Shape;377;p29"/>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378" name="Google Shape;378;p29"/>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379" name="Google Shape;379;p29"/>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380" name="Google Shape;380;p29"/>
          <p:cNvSpPr txBox="1"/>
          <p:nvPr/>
        </p:nvSpPr>
        <p:spPr>
          <a:xfrm>
            <a:off x="380448" y="1273087"/>
            <a:ext cx="8499392" cy="2677626"/>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Voice Recording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1: Recording a Complex Discussion</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Inspector: </a:t>
            </a:r>
            <a:r>
              <a:rPr b="0" i="0" lang="en-US" sz="1600" u="none" cap="none" strike="noStrike">
                <a:solidFill>
                  <a:srgbClr val="004AAD"/>
                </a:solidFill>
                <a:latin typeface="Montserrat"/>
                <a:ea typeface="Montserrat"/>
                <a:cs typeface="Montserrat"/>
                <a:sym typeface="Montserrat"/>
              </a:rPr>
              <a:t>“I have several detailed questions about your HACCP plan.”</a:t>
            </a:r>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Response: </a:t>
            </a:r>
            <a:r>
              <a:rPr b="0" i="0" lang="en-US" sz="1600" u="none" cap="none" strike="noStrike">
                <a:solidFill>
                  <a:srgbClr val="004AAD"/>
                </a:solidFill>
                <a:latin typeface="Montserrat"/>
                <a:ea typeface="Montserrat"/>
                <a:cs typeface="Montserrat"/>
                <a:sym typeface="Montserrat"/>
              </a:rPr>
              <a:t>“To ensure I capture all the details accurately and provide thorough responses, may I record our discussion? I will also seek approval from my senior management.”</a:t>
            </a:r>
            <a:endParaRPr/>
          </a:p>
        </p:txBody>
      </p:sp>
      <p:sp>
        <p:nvSpPr>
          <p:cNvPr id="381" name="Google Shape;381;p29"/>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cxnSp>
        <p:nvCxnSpPr>
          <p:cNvPr id="386" name="Google Shape;386;p30"/>
          <p:cNvCxnSpPr/>
          <p:nvPr/>
        </p:nvCxnSpPr>
        <p:spPr>
          <a:xfrm>
            <a:off x="5925030" y="316766"/>
            <a:ext cx="3219000" cy="0"/>
          </a:xfrm>
          <a:prstGeom prst="straightConnector1">
            <a:avLst/>
          </a:prstGeom>
          <a:noFill/>
          <a:ln cap="flat" cmpd="sng" w="28575">
            <a:solidFill>
              <a:srgbClr val="2254C5"/>
            </a:solidFill>
            <a:prstDash val="solid"/>
            <a:round/>
            <a:headEnd len="sm" w="sm" type="none"/>
            <a:tailEnd len="sm" w="sm" type="none"/>
          </a:ln>
        </p:spPr>
      </p:cxnSp>
      <p:sp>
        <p:nvSpPr>
          <p:cNvPr id="387" name="Google Shape;387;p30"/>
          <p:cNvSpPr/>
          <p:nvPr/>
        </p:nvSpPr>
        <p:spPr>
          <a:xfrm>
            <a:off x="572438" y="4711700"/>
            <a:ext cx="3745018" cy="2400128"/>
          </a:xfrm>
          <a:custGeom>
            <a:rect b="b" l="l" r="r" t="t"/>
            <a:pathLst>
              <a:path extrusionOk="0" h="3106962" w="9727319">
                <a:moveTo>
                  <a:pt x="0" y="0"/>
                </a:moveTo>
                <a:lnTo>
                  <a:pt x="9727318" y="0"/>
                </a:lnTo>
                <a:lnTo>
                  <a:pt x="9727318" y="3106962"/>
                </a:lnTo>
                <a:lnTo>
                  <a:pt x="0" y="3106962"/>
                </a:lnTo>
                <a:lnTo>
                  <a:pt x="0" y="0"/>
                </a:lnTo>
                <a:close/>
              </a:path>
            </a:pathLst>
          </a:custGeom>
          <a:blipFill rotWithShape="1">
            <a:blip r:embed="rId3">
              <a:alphaModFix/>
            </a:blip>
            <a:stretch>
              <a:fillRect b="0" l="0" r="0" t="0"/>
            </a:stretch>
          </a:blipFill>
          <a:ln>
            <a:noFill/>
          </a:ln>
        </p:spPr>
      </p:sp>
      <p:pic>
        <p:nvPicPr>
          <p:cNvPr id="388" name="Google Shape;388;p30"/>
          <p:cNvPicPr preferRelativeResize="0"/>
          <p:nvPr/>
        </p:nvPicPr>
        <p:blipFill rotWithShape="1">
          <a:blip r:embed="rId4">
            <a:alphaModFix/>
          </a:blip>
          <a:srcRect b="0" l="0" r="0" t="0"/>
          <a:stretch/>
        </p:blipFill>
        <p:spPr>
          <a:xfrm>
            <a:off x="7833175" y="4541225"/>
            <a:ext cx="1204824" cy="447850"/>
          </a:xfrm>
          <a:prstGeom prst="rect">
            <a:avLst/>
          </a:prstGeom>
          <a:noFill/>
          <a:ln>
            <a:noFill/>
          </a:ln>
        </p:spPr>
      </p:pic>
      <p:sp>
        <p:nvSpPr>
          <p:cNvPr id="389" name="Google Shape;389;p30"/>
          <p:cNvSpPr txBox="1"/>
          <p:nvPr/>
        </p:nvSpPr>
        <p:spPr>
          <a:xfrm>
            <a:off x="740714" y="880209"/>
            <a:ext cx="7635600" cy="3077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4AAD"/>
                </a:solidFill>
                <a:latin typeface="Montserrat"/>
                <a:ea typeface="Montserrat"/>
                <a:cs typeface="Montserrat"/>
                <a:sym typeface="Montserrat"/>
              </a:rPr>
              <a:t>FDA Onsite Investigation: Interact as a PCQI</a:t>
            </a:r>
            <a:endParaRPr/>
          </a:p>
        </p:txBody>
      </p:sp>
      <p:sp>
        <p:nvSpPr>
          <p:cNvPr id="390" name="Google Shape;390;p30"/>
          <p:cNvSpPr txBox="1"/>
          <p:nvPr/>
        </p:nvSpPr>
        <p:spPr>
          <a:xfrm>
            <a:off x="380448" y="1273087"/>
            <a:ext cx="8499392" cy="1938962"/>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50000"/>
              </a:lnSpc>
              <a:spcBef>
                <a:spcPts val="0"/>
              </a:spcBef>
              <a:spcAft>
                <a:spcPts val="0"/>
              </a:spcAft>
              <a:buClr>
                <a:srgbClr val="004AAD"/>
              </a:buClr>
              <a:buSzPts val="2000"/>
              <a:buFont typeface="Arial"/>
              <a:buChar char="•"/>
            </a:pPr>
            <a:r>
              <a:rPr b="1" i="0" lang="en-US" sz="1800" u="none" cap="none" strike="noStrike">
                <a:solidFill>
                  <a:srgbClr val="004AAD"/>
                </a:solidFill>
                <a:latin typeface="Montserrat"/>
                <a:ea typeface="Montserrat"/>
                <a:cs typeface="Montserrat"/>
                <a:sym typeface="Montserrat"/>
              </a:rPr>
              <a:t>Voice Recording </a:t>
            </a:r>
            <a:r>
              <a:rPr b="0" i="1" lang="en-US" sz="1600" u="none" cap="none" strike="noStrike">
                <a:solidFill>
                  <a:srgbClr val="004AAD"/>
                </a:solidFill>
                <a:latin typeface="Montserrat"/>
                <a:ea typeface="Montserrat"/>
                <a:cs typeface="Montserrat"/>
                <a:sym typeface="Montserrat"/>
              </a:rPr>
              <a:t>– sample scenarios</a:t>
            </a:r>
            <a:endParaRPr/>
          </a:p>
          <a:p>
            <a:pPr indent="0" lvl="0" marL="6350" marR="0" rtl="0" algn="just">
              <a:lnSpc>
                <a:spcPct val="150000"/>
              </a:lnSpc>
              <a:spcBef>
                <a:spcPts val="0"/>
              </a:spcBef>
              <a:spcAft>
                <a:spcPts val="0"/>
              </a:spcAft>
              <a:buNone/>
            </a:pPr>
            <a:r>
              <a:rPr b="1" i="0" lang="en-US" sz="1800" u="none" cap="none" strike="noStrike">
                <a:solidFill>
                  <a:srgbClr val="004AAD"/>
                </a:solidFill>
                <a:latin typeface="Montserrat"/>
                <a:ea typeface="Montserrat"/>
                <a:cs typeface="Montserrat"/>
                <a:sym typeface="Montserrat"/>
              </a:rPr>
              <a:t>Scenario 2: Preparing a Response Post-Discussion</a:t>
            </a:r>
            <a:endParaRPr/>
          </a:p>
          <a:p>
            <a:pPr indent="0" lvl="0" marL="6350" marR="0" rtl="0" algn="just">
              <a:lnSpc>
                <a:spcPct val="150000"/>
              </a:lnSpc>
              <a:spcBef>
                <a:spcPts val="0"/>
              </a:spcBef>
              <a:spcAft>
                <a:spcPts val="0"/>
              </a:spcAft>
              <a:buNone/>
            </a:pPr>
            <a:r>
              <a:t/>
            </a:r>
            <a:endParaRPr b="1" i="0" sz="800" u="none" cap="none" strike="noStrike">
              <a:solidFill>
                <a:srgbClr val="004AAD"/>
              </a:solidFill>
              <a:latin typeface="Montserrat"/>
              <a:ea typeface="Montserrat"/>
              <a:cs typeface="Montserrat"/>
              <a:sym typeface="Montserrat"/>
            </a:endParaRPr>
          </a:p>
          <a:p>
            <a:pPr indent="-450850" lvl="0" marL="457200" marR="0" rtl="0" algn="just">
              <a:lnSpc>
                <a:spcPct val="150000"/>
              </a:lnSpc>
              <a:spcBef>
                <a:spcPts val="0"/>
              </a:spcBef>
              <a:spcAft>
                <a:spcPts val="0"/>
              </a:spcAft>
              <a:buClr>
                <a:srgbClr val="004AAD"/>
              </a:buClr>
              <a:buSzPts val="2000"/>
              <a:buFont typeface="Noto Sans Symbols"/>
              <a:buChar char="❑"/>
            </a:pPr>
            <a:r>
              <a:rPr b="1" i="0" lang="en-US" sz="1600" u="none" cap="none" strike="noStrike">
                <a:solidFill>
                  <a:srgbClr val="004AAD"/>
                </a:solidFill>
                <a:latin typeface="Montserrat"/>
                <a:ea typeface="Montserrat"/>
                <a:cs typeface="Montserrat"/>
                <a:sym typeface="Montserrat"/>
              </a:rPr>
              <a:t>Action: </a:t>
            </a:r>
            <a:r>
              <a:rPr b="0" i="0" lang="en-US" sz="1600" u="none" cap="none" strike="noStrike">
                <a:solidFill>
                  <a:srgbClr val="004AAD"/>
                </a:solidFill>
                <a:latin typeface="Montserrat"/>
                <a:ea typeface="Montserrat"/>
                <a:cs typeface="Montserrat"/>
                <a:sym typeface="Montserrat"/>
              </a:rPr>
              <a:t>Listen to the recordings, noting down any specific details or follow-up actions needed. Use these notes to draft detailed and accurate responses.</a:t>
            </a:r>
            <a:endParaRPr/>
          </a:p>
        </p:txBody>
      </p:sp>
      <p:sp>
        <p:nvSpPr>
          <p:cNvPr id="391" name="Google Shape;391;p30"/>
          <p:cNvSpPr txBox="1"/>
          <p:nvPr/>
        </p:nvSpPr>
        <p:spPr>
          <a:xfrm>
            <a:off x="373620" y="314570"/>
            <a:ext cx="58638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600"/>
              <a:buFont typeface="Arial"/>
              <a:buNone/>
            </a:pPr>
            <a:r>
              <a:rPr b="1" i="0" lang="en-US" sz="2000" u="none" cap="none" strike="noStrike">
                <a:solidFill>
                  <a:srgbClr val="004AAD"/>
                </a:solidFill>
                <a:latin typeface="Montserrat"/>
                <a:ea typeface="Montserrat"/>
                <a:cs typeface="Montserrat"/>
                <a:sym typeface="Montserrat"/>
              </a:rPr>
              <a:t>The HOW? </a:t>
            </a:r>
            <a:endParaRPr b="1" i="0" sz="2000" u="none" cap="none" strike="noStrike">
              <a:solidFill>
                <a:srgbClr val="004AAD"/>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Consultare Inc. Group</dc:creator>
</cp:coreProperties>
</file>