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6" r:id="rId4"/>
    <p:sldId id="263" r:id="rId5"/>
    <p:sldId id="265" r:id="rId6"/>
    <p:sldId id="259" r:id="rId7"/>
    <p:sldId id="267" r:id="rId8"/>
    <p:sldId id="268" r:id="rId9"/>
    <p:sldId id="264" r:id="rId10"/>
    <p:sldId id="258" r:id="rId11"/>
    <p:sldId id="269" r:id="rId12"/>
    <p:sldId id="270" r:id="rId13"/>
    <p:sldId id="271" r:id="rId14"/>
    <p:sldId id="273" r:id="rId15"/>
    <p:sldId id="260" r:id="rId16"/>
    <p:sldId id="274" r:id="rId17"/>
    <p:sldId id="275" r:id="rId18"/>
    <p:sldId id="276" r:id="rId19"/>
    <p:sldId id="272" r:id="rId20"/>
    <p:sldId id="277" r:id="rId21"/>
  </p:sldIdLst>
  <p:sldSz cx="18288000" cy="10287000"/>
  <p:notesSz cx="6858000" cy="9144000"/>
  <p:embeddedFontLst>
    <p:embeddedFont>
      <p:font typeface="Montserrat" charset="0"/>
      <p:regular r:id="rId23"/>
      <p:bold r:id="rId24"/>
      <p:italic r:id="rId25"/>
      <p:boldItalic r:id="rId26"/>
    </p:embeddedFont>
    <p:embeddedFont>
      <p:font typeface="Barlow" charset="0"/>
      <p:regular r:id="rId27"/>
      <p:bold r:id="rId28"/>
      <p:italic r:id="rId29"/>
      <p:boldItalic r:id="rId30"/>
    </p:embeddedFont>
    <p:embeddedFont>
      <p:font typeface="Calibri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j48XjM9kwBDigD5gUF61Z94RTQ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-754" y="49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38495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2c520674f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2b2c520674f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2c520674f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2b2c520674f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2c520674f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2b2c520674f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2c520674f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2b2c520674f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2c520674f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2b2c520674f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07afcee5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2a07afcee5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07afcee5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2a07afcee5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07afcee5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2a07afcee5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2c520674f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2b2c520674f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2c520674f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2b2c520674f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325aace0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b325aace0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325aace0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b325aace0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325aace0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b325aace0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325aace0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b325aace0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325aace0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b325aace0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325aace0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b325aace0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1111642">
            <a:off x="11936403" y="1068703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4318441" y="9258300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6375026" y="8351591"/>
            <a:ext cx="320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Established 2013</a:t>
            </a:r>
            <a:endParaRPr sz="30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grpSp>
        <p:nvGrpSpPr>
          <p:cNvPr id="87" name="Google Shape;87;p1"/>
          <p:cNvGrpSpPr/>
          <p:nvPr/>
        </p:nvGrpSpPr>
        <p:grpSpPr>
          <a:xfrm>
            <a:off x="0" y="1281242"/>
            <a:ext cx="19005175" cy="2913049"/>
            <a:chOff x="0" y="1281242"/>
            <a:chExt cx="19005175" cy="2913049"/>
          </a:xfrm>
        </p:grpSpPr>
        <p:sp>
          <p:nvSpPr>
            <p:cNvPr id="88" name="Google Shape;88;p1"/>
            <p:cNvSpPr txBox="1"/>
            <p:nvPr/>
          </p:nvSpPr>
          <p:spPr>
            <a:xfrm>
              <a:off x="2774575" y="1578190"/>
              <a:ext cx="16230600" cy="109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7000" b="1" i="0" u="none" strike="noStrike" cap="none" dirty="0">
                  <a:solidFill>
                    <a:srgbClr val="004AAD"/>
                  </a:solidFill>
                  <a:latin typeface="Barlow"/>
                  <a:ea typeface="Barlow"/>
                  <a:cs typeface="Barlow"/>
                  <a:sym typeface="Barlow"/>
                </a:rPr>
                <a:t>CONSULTARE INC. GROUP</a:t>
              </a:r>
              <a:r>
                <a:rPr lang="en-US" sz="71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2774576" y="2480546"/>
              <a:ext cx="13601700" cy="107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7000" b="1" i="0" u="none" strike="noStrike" cap="none" dirty="0">
                  <a:solidFill>
                    <a:srgbClr val="00B0F0"/>
                  </a:solidFill>
                  <a:latin typeface="Barlow"/>
                  <a:ea typeface="Barlow"/>
                  <a:cs typeface="Barlow"/>
                  <a:sym typeface="Barlow"/>
                </a:rPr>
                <a:t>A Compliance Co.</a:t>
              </a:r>
              <a:endParaRPr sz="400" b="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90" name="Google Shape;90;p1"/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9130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" name="Google Shape;91;p1"/>
          <p:cNvSpPr txBox="1"/>
          <p:nvPr/>
        </p:nvSpPr>
        <p:spPr>
          <a:xfrm>
            <a:off x="1104902" y="5789980"/>
            <a:ext cx="1055369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Specializes in regulatory, accreditation, certification, quality management system software, and IT solution consultancy </a:t>
            </a:r>
            <a:endParaRPr sz="30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/>
        </p:nvSpPr>
        <p:spPr>
          <a:xfrm>
            <a:off x="1585325" y="3979650"/>
            <a:ext cx="823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2E2E2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" name="Google Shape;98;p4"/>
          <p:cNvSpPr/>
          <p:nvPr/>
        </p:nvSpPr>
        <p:spPr>
          <a:xfrm rot="-162478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99" name="Google Shape;99;p4"/>
          <p:cNvSpPr txBox="1"/>
          <p:nvPr/>
        </p:nvSpPr>
        <p:spPr>
          <a:xfrm>
            <a:off x="563560" y="651379"/>
            <a:ext cx="1383510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45720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000" b="1" dirty="0" smtClean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Service Logs</a:t>
            </a:r>
            <a:endParaRPr sz="70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912766" y="2431673"/>
            <a:ext cx="15775200" cy="6762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r>
              <a:rPr lang="en-US" sz="3000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Proof or manifestations of your activities on a certain task or tasks whether daily, weekly or monthly basis. 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r>
              <a:rPr lang="en-US" sz="5000" b="1" dirty="0" smtClean="0">
                <a:solidFill>
                  <a:srgbClr val="00B0F0"/>
                </a:solidFill>
                <a:latin typeface="Barlow" charset="0"/>
                <a:ea typeface="Calibri"/>
                <a:cs typeface="Calibri"/>
                <a:sym typeface="Calibri"/>
              </a:rPr>
              <a:t>PURPOSE:</a:t>
            </a:r>
          </a:p>
          <a:p>
            <a:pPr marL="635000" indent="-457200">
              <a:spcBef>
                <a:spcPts val="1000"/>
              </a:spcBef>
              <a:buFont typeface="Arial" pitchFamily="34" charset="0"/>
              <a:buChar char="•"/>
            </a:pPr>
            <a:r>
              <a:rPr lang="en-US" sz="3000" dirty="0">
                <a:latin typeface="Montserrat" charset="0"/>
              </a:rPr>
              <a:t>Serves as your output to support your log in/log out </a:t>
            </a:r>
            <a:r>
              <a:rPr lang="en-US" sz="3000" dirty="0" smtClean="0">
                <a:latin typeface="Montserrat" charset="0"/>
              </a:rPr>
              <a:t>(Timekeeping)</a:t>
            </a:r>
            <a:endParaRPr lang="en-GB" sz="3000" dirty="0">
              <a:latin typeface="Montserrat" charset="0"/>
            </a:endParaRPr>
          </a:p>
          <a:p>
            <a:pPr marL="635000" indent="-457200">
              <a:spcBef>
                <a:spcPts val="1000"/>
              </a:spcBef>
              <a:buFont typeface="Arial" pitchFamily="34" charset="0"/>
              <a:buChar char="•"/>
            </a:pPr>
            <a:r>
              <a:rPr lang="en-US" sz="3000" dirty="0" smtClean="0">
                <a:latin typeface="Montserrat" charset="0"/>
              </a:rPr>
              <a:t>Use as attachment for Client’s Service Invoice</a:t>
            </a:r>
            <a:endParaRPr lang="en-GB" sz="3000" dirty="0">
              <a:latin typeface="Montserrat" charset="0"/>
            </a:endParaRPr>
          </a:p>
          <a:p>
            <a:pPr marL="635000" indent="-457200">
              <a:spcBef>
                <a:spcPts val="1000"/>
              </a:spcBef>
              <a:buFont typeface="Arial" pitchFamily="34" charset="0"/>
              <a:buChar char="•"/>
            </a:pPr>
            <a:r>
              <a:rPr lang="en-US" sz="3000" dirty="0">
                <a:latin typeface="Montserrat" charset="0"/>
              </a:rPr>
              <a:t>To </a:t>
            </a:r>
            <a:r>
              <a:rPr lang="en-US" sz="3000" dirty="0" smtClean="0">
                <a:latin typeface="Montserrat" charset="0"/>
              </a:rPr>
              <a:t>itemize </a:t>
            </a:r>
            <a:r>
              <a:rPr lang="en-US" sz="3000" dirty="0">
                <a:latin typeface="Montserrat" charset="0"/>
              </a:rPr>
              <a:t>billable </a:t>
            </a:r>
            <a:r>
              <a:rPr lang="en-US" sz="3000" dirty="0" smtClean="0">
                <a:latin typeface="Montserrat" charset="0"/>
              </a:rPr>
              <a:t>tasks </a:t>
            </a:r>
            <a:r>
              <a:rPr lang="en-US" sz="3000" dirty="0">
                <a:latin typeface="Montserrat" charset="0"/>
              </a:rPr>
              <a:t>per Account.</a:t>
            </a:r>
            <a:endParaRPr lang="en-GB" sz="3000" dirty="0">
              <a:latin typeface="Montserrat" charset="0"/>
            </a:endParaRPr>
          </a:p>
          <a:p>
            <a:pPr marL="635000" indent="-457200">
              <a:spcBef>
                <a:spcPts val="1000"/>
              </a:spcBef>
              <a:buFont typeface="Arial" pitchFamily="34" charset="0"/>
              <a:buChar char="•"/>
            </a:pPr>
            <a:r>
              <a:rPr lang="en-US" sz="3000" dirty="0" smtClean="0">
                <a:latin typeface="Montserrat" charset="0"/>
              </a:rPr>
              <a:t>Maintains </a:t>
            </a:r>
            <a:r>
              <a:rPr lang="en-US" sz="3000" dirty="0" err="1">
                <a:latin typeface="Montserrat" charset="0"/>
              </a:rPr>
              <a:t>Consultare</a:t>
            </a:r>
            <a:r>
              <a:rPr lang="en-US" sz="3000" dirty="0">
                <a:latin typeface="Montserrat" charset="0"/>
              </a:rPr>
              <a:t> and Client relationship</a:t>
            </a:r>
            <a:endParaRPr lang="en-GB" sz="3000" dirty="0">
              <a:latin typeface="Montserrat" charset="0"/>
            </a:endParaRPr>
          </a:p>
          <a:p>
            <a:pPr marL="177800" lvl="0" algn="l" rtl="0">
              <a:spcBef>
                <a:spcPts val="1000"/>
              </a:spcBef>
              <a:spcAft>
                <a:spcPts val="0"/>
              </a:spcAft>
            </a:pPr>
            <a:endParaRPr sz="28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2E2E2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" name="Google Shape;85;p1"/>
          <p:cNvSpPr/>
          <p:nvPr/>
        </p:nvSpPr>
        <p:spPr>
          <a:xfrm>
            <a:off x="4318441" y="9258300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/>
        </p:nvSpPr>
        <p:spPr>
          <a:xfrm>
            <a:off x="1585325" y="3979650"/>
            <a:ext cx="823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2E2E2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" name="Google Shape;98;p4"/>
          <p:cNvSpPr/>
          <p:nvPr/>
        </p:nvSpPr>
        <p:spPr>
          <a:xfrm rot="-162478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99" name="Google Shape;99;p4"/>
          <p:cNvSpPr txBox="1"/>
          <p:nvPr/>
        </p:nvSpPr>
        <p:spPr>
          <a:xfrm>
            <a:off x="563560" y="651379"/>
            <a:ext cx="1383510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45720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000" b="1" dirty="0" smtClean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Billable and Non-Billable Tasks</a:t>
            </a:r>
            <a:endParaRPr sz="70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912766" y="2431673"/>
            <a:ext cx="15775200" cy="872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5000"/>
            </a:pPr>
            <a:r>
              <a:rPr lang="en-US" sz="5000" b="1" dirty="0" smtClean="0">
                <a:solidFill>
                  <a:srgbClr val="00B0F0"/>
                </a:solidFill>
                <a:latin typeface="Barlow" charset="0"/>
                <a:ea typeface="Calibri"/>
                <a:cs typeface="Calibri"/>
                <a:sym typeface="Calibri"/>
              </a:rPr>
              <a:t>Billable Tasks:</a:t>
            </a:r>
            <a:endParaRPr lang="en-US" sz="2000" b="1" dirty="0">
              <a:solidFill>
                <a:srgbClr val="00B0F0"/>
              </a:solidFill>
              <a:latin typeface="Barlow" charset="0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 pitchFamily="34" charset="0"/>
              <a:buChar char="•"/>
            </a:pPr>
            <a:r>
              <a:rPr lang="en-US" sz="3000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Tasks, services and documents done for the client</a:t>
            </a: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5000"/>
              <a:buFont typeface="Arial" pitchFamily="34" charset="0"/>
              <a:buChar char="•"/>
            </a:pPr>
            <a:r>
              <a:rPr lang="en-GB" sz="3200" dirty="0">
                <a:latin typeface="Montserrat" charset="0"/>
              </a:rPr>
              <a:t>Working on a client's projects, communicating with them, and revising your work for them could all be considered billable activities</a:t>
            </a:r>
            <a:r>
              <a:rPr lang="en-GB" sz="3200" dirty="0" smtClean="0">
                <a:latin typeface="Montserrat" charset="0"/>
              </a:rPr>
              <a:t>.</a:t>
            </a:r>
          </a:p>
          <a:p>
            <a:pPr lvl="0">
              <a:buClr>
                <a:schemeClr val="dk1"/>
              </a:buClr>
              <a:buSzPts val="5000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r>
              <a:rPr lang="en-US" sz="5000" b="1" dirty="0" smtClean="0">
                <a:solidFill>
                  <a:srgbClr val="00B0F0"/>
                </a:solidFill>
                <a:latin typeface="Barlow" charset="0"/>
                <a:ea typeface="Calibri"/>
                <a:cs typeface="Calibri"/>
                <a:sym typeface="Calibri"/>
              </a:rPr>
              <a:t>Non-Billable Tasks:</a:t>
            </a:r>
            <a:endParaRPr lang="en-US" sz="2000" b="1" dirty="0" smtClean="0">
              <a:solidFill>
                <a:srgbClr val="00B0F0"/>
              </a:solidFill>
              <a:latin typeface="Barlow" charset="0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 pitchFamily="34" charset="0"/>
              <a:buChar char="•"/>
            </a:pPr>
            <a:r>
              <a:rPr lang="en-US" sz="3000" dirty="0" smtClean="0">
                <a:latin typeface="Montserrat" charset="0"/>
              </a:rPr>
              <a:t>Activities such as Internal Trainings, Internal Meetings, VO </a:t>
            </a:r>
            <a:r>
              <a:rPr lang="en-US" sz="3000" dirty="0" smtClean="0">
                <a:latin typeface="Montserrat" charset="0"/>
              </a:rPr>
              <a:t>Discussions, updating 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r>
              <a:rPr lang="en-US" sz="3000" dirty="0" smtClean="0">
                <a:latin typeface="Montserrat" charset="0"/>
              </a:rPr>
              <a:t>     Internal Templates, or Monitoring Sheets, and other Admin Tasks.</a:t>
            </a:r>
            <a:endParaRPr lang="en-US" sz="3000" dirty="0" smtClean="0">
              <a:latin typeface="Montserrat" charset="0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 pitchFamily="34" charset="0"/>
              <a:buChar char="•"/>
            </a:pPr>
            <a:r>
              <a:rPr lang="en-US" sz="3000" dirty="0" smtClean="0">
                <a:latin typeface="Montserrat" charset="0"/>
              </a:rPr>
              <a:t>Account is usually under CIG or any </a:t>
            </a:r>
            <a:r>
              <a:rPr lang="en-US" sz="3000" dirty="0" err="1" smtClean="0">
                <a:latin typeface="Montserrat" charset="0"/>
              </a:rPr>
              <a:t>Consultare</a:t>
            </a:r>
            <a:r>
              <a:rPr lang="en-US" sz="3000" dirty="0" smtClean="0">
                <a:latin typeface="Montserrat" charset="0"/>
              </a:rPr>
              <a:t> Department</a:t>
            </a:r>
            <a:endParaRPr lang="en-GB" sz="3000" dirty="0">
              <a:latin typeface="Montserrat" charset="0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GB" sz="3000" dirty="0">
              <a:latin typeface="Montserrat" charset="0"/>
            </a:endParaRPr>
          </a:p>
          <a:p>
            <a:pPr marL="17780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sz="28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2E2E2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" name="Google Shape;85;p1"/>
          <p:cNvSpPr/>
          <p:nvPr/>
        </p:nvSpPr>
        <p:spPr>
          <a:xfrm>
            <a:off x="4318441" y="9258300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93707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/>
        </p:nvSpPr>
        <p:spPr>
          <a:xfrm>
            <a:off x="1585325" y="3979650"/>
            <a:ext cx="823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2E2E2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" name="Google Shape;98;p4"/>
          <p:cNvSpPr/>
          <p:nvPr/>
        </p:nvSpPr>
        <p:spPr>
          <a:xfrm rot="-162478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99" name="Google Shape;99;p4"/>
          <p:cNvSpPr txBox="1"/>
          <p:nvPr/>
        </p:nvSpPr>
        <p:spPr>
          <a:xfrm>
            <a:off x="602524" y="463145"/>
            <a:ext cx="16085442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45720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000" b="1" dirty="0" smtClean="0">
                <a:solidFill>
                  <a:srgbClr val="004AAD"/>
                </a:solidFill>
                <a:latin typeface="Barlow" charset="0"/>
                <a:sym typeface="Montserrat"/>
              </a:rPr>
              <a:t>Different Ways to Record Service Logs</a:t>
            </a:r>
            <a:endParaRPr sz="70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929960" y="2921510"/>
            <a:ext cx="15775200" cy="611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5000" b="1" dirty="0" smtClean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r>
              <a:rPr lang="en-US" sz="3000" b="1" dirty="0" smtClean="0">
                <a:solidFill>
                  <a:schemeClr val="tx1"/>
                </a:solidFill>
                <a:latin typeface="Montserrat" charset="0"/>
                <a:ea typeface="Calibri"/>
                <a:cs typeface="Calibri"/>
                <a:sym typeface="Calibri"/>
              </a:rPr>
              <a:t>Can be done manually: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3000" dirty="0" smtClean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 pitchFamily="34" charset="0"/>
              <a:buChar char="•"/>
            </a:pPr>
            <a:r>
              <a:rPr lang="en-US" sz="3000" dirty="0" smtClean="0">
                <a:solidFill>
                  <a:schemeClr val="tx1"/>
                </a:solidFill>
                <a:latin typeface="Montserrat" charset="0"/>
                <a:ea typeface="Calibri"/>
                <a:cs typeface="Calibri"/>
                <a:sym typeface="Calibri"/>
              </a:rPr>
              <a:t>Direct way of recording your daily output/activity.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 pitchFamily="34" charset="0"/>
              <a:buChar char="•"/>
            </a:pPr>
            <a:endParaRPr lang="en-US" sz="3000" dirty="0" smtClean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marL="685800" lvl="0" indent="-685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Tx/>
              <a:buChar char="-"/>
            </a:pPr>
            <a:endParaRPr lang="en-US" sz="3000" dirty="0" smtClean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r>
              <a:rPr lang="en-US" sz="3000" b="1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Can be done using the </a:t>
            </a:r>
            <a:r>
              <a:rPr lang="en-US" sz="3000" b="1" dirty="0" err="1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Mypro</a:t>
            </a:r>
            <a:r>
              <a:rPr lang="en-US" sz="3000" b="1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/Gantt Chart: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 pitchFamily="34" charset="0"/>
              <a:buChar char="•"/>
            </a:pPr>
            <a:r>
              <a:rPr lang="en-US" sz="3000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A graphical representation of project progression</a:t>
            </a:r>
            <a:endParaRPr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 pitchFamily="34" charset="0"/>
              <a:buChar char="•"/>
            </a:pPr>
            <a:r>
              <a:rPr lang="en-US" sz="3000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Helps the team to plan work around deadlines and properly allocate manpower.</a:t>
            </a:r>
            <a:endParaRPr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2E2E2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" name="Google Shape;85;p1"/>
          <p:cNvSpPr/>
          <p:nvPr/>
        </p:nvSpPr>
        <p:spPr>
          <a:xfrm>
            <a:off x="4318441" y="9258300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39064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2c520674f_1_19"/>
          <p:cNvSpPr/>
          <p:nvPr/>
        </p:nvSpPr>
        <p:spPr>
          <a:xfrm rot="-2083339">
            <a:off x="-5620305" y="-3893431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g2b2c520674f_1_19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5" name="Google Shape;115;g2b2c520674f_1_19"/>
          <p:cNvSpPr txBox="1"/>
          <p:nvPr/>
        </p:nvSpPr>
        <p:spPr>
          <a:xfrm>
            <a:off x="602524" y="673150"/>
            <a:ext cx="17197796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000" b="1" dirty="0" smtClean="0">
                <a:solidFill>
                  <a:srgbClr val="004AAD"/>
                </a:solidFill>
                <a:latin typeface="Barlow" charset="0"/>
                <a:sym typeface="Montserrat"/>
              </a:rPr>
              <a:t>Where To Record Your Service Logs?</a:t>
            </a:r>
            <a:endParaRPr sz="70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6" name="Google Shape;98;p4"/>
          <p:cNvSpPr/>
          <p:nvPr/>
        </p:nvSpPr>
        <p:spPr>
          <a:xfrm rot="1997522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7" name="Google Shape;100;p4"/>
          <p:cNvSpPr txBox="1"/>
          <p:nvPr/>
        </p:nvSpPr>
        <p:spPr>
          <a:xfrm>
            <a:off x="912766" y="2431673"/>
            <a:ext cx="15775200" cy="780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5000" b="1" dirty="0" smtClean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r>
              <a:rPr lang="en-US" sz="4000" b="1" dirty="0" smtClean="0">
                <a:solidFill>
                  <a:schemeClr val="tx1"/>
                </a:solidFill>
                <a:latin typeface="Montserrat" charset="0"/>
                <a:ea typeface="Calibri"/>
                <a:cs typeface="Calibri"/>
                <a:sym typeface="Calibri"/>
              </a:rPr>
              <a:t>Step-by-step navigation: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2500" dirty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2500" dirty="0" smtClean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r>
              <a:rPr lang="en-US" sz="3000" dirty="0" smtClean="0">
                <a:solidFill>
                  <a:schemeClr val="tx1"/>
                </a:solidFill>
                <a:latin typeface="Montserrat" charset="0"/>
                <a:ea typeface="Calibri"/>
                <a:cs typeface="Calibri"/>
                <a:sym typeface="Calibri"/>
              </a:rPr>
              <a:t>1.	</a:t>
            </a:r>
            <a:r>
              <a:rPr lang="en-GB" sz="3000" dirty="0" smtClean="0">
                <a:solidFill>
                  <a:schemeClr val="tx1"/>
                </a:solidFill>
                <a:latin typeface="Montserrat" charset="0"/>
                <a:ea typeface="Calibri"/>
                <a:cs typeface="Calibri"/>
                <a:sym typeface="Calibri"/>
              </a:rPr>
              <a:t>Type </a:t>
            </a:r>
            <a:r>
              <a:rPr lang="en-GB" sz="3000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in </a:t>
            </a:r>
            <a:r>
              <a:rPr lang="en-GB" sz="3000" dirty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interlinkiq.com in your 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r>
              <a:rPr lang="en-GB" sz="3000" dirty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	web browser</a:t>
            </a:r>
            <a:r>
              <a:rPr lang="en-GB" sz="3000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.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 smtClean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5000"/>
            </a:pPr>
            <a:r>
              <a:rPr lang="en-GB" sz="3000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2. 	</a:t>
            </a:r>
            <a:r>
              <a:rPr lang="en-GB" sz="3000" dirty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Click the Login 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 smtClean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marL="742950" lvl="0" indent="-742950">
              <a:lnSpc>
                <a:spcPct val="90000"/>
              </a:lnSpc>
              <a:buClr>
                <a:schemeClr val="dk1"/>
              </a:buClr>
              <a:buSzPts val="5000"/>
              <a:buFont typeface="+mj-lt"/>
              <a:buAutoNum type="arabicPeriod"/>
            </a:pPr>
            <a:endParaRPr lang="en-GB" sz="38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GB" sz="3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sz="3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2E2E2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994" y="3131515"/>
            <a:ext cx="9069920" cy="6454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36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2c520674f_1_19"/>
          <p:cNvSpPr/>
          <p:nvPr/>
        </p:nvSpPr>
        <p:spPr>
          <a:xfrm rot="-2083339">
            <a:off x="-5620305" y="-3893431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g2b2c520674f_1_19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5" name="Google Shape;115;g2b2c520674f_1_19"/>
          <p:cNvSpPr txBox="1"/>
          <p:nvPr/>
        </p:nvSpPr>
        <p:spPr>
          <a:xfrm>
            <a:off x="602524" y="673150"/>
            <a:ext cx="17197796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000" b="1" dirty="0" smtClean="0">
                <a:solidFill>
                  <a:srgbClr val="004AAD"/>
                </a:solidFill>
                <a:latin typeface="Barlow" charset="0"/>
                <a:sym typeface="Montserrat"/>
              </a:rPr>
              <a:t>Where To Record Your Service Logs?</a:t>
            </a:r>
            <a:endParaRPr sz="70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6" name="Google Shape;98;p4"/>
          <p:cNvSpPr/>
          <p:nvPr/>
        </p:nvSpPr>
        <p:spPr>
          <a:xfrm rot="1997522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7" name="Google Shape;100;p4"/>
          <p:cNvSpPr txBox="1"/>
          <p:nvPr/>
        </p:nvSpPr>
        <p:spPr>
          <a:xfrm>
            <a:off x="912766" y="2431673"/>
            <a:ext cx="15775200" cy="8175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5000" b="1" dirty="0" smtClean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r>
              <a:rPr lang="en-US" sz="4000" b="1" dirty="0" smtClean="0">
                <a:solidFill>
                  <a:schemeClr val="tx1"/>
                </a:solidFill>
                <a:latin typeface="Montserrat" charset="0"/>
                <a:ea typeface="Calibri"/>
                <a:cs typeface="Calibri"/>
                <a:sym typeface="Calibri"/>
              </a:rPr>
              <a:t>Step-by-step navigation: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2500" dirty="0" smtClean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2500" dirty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2500" dirty="0" smtClean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r>
              <a:rPr lang="en-US" sz="3000" dirty="0" smtClean="0">
                <a:solidFill>
                  <a:schemeClr val="tx1"/>
                </a:solidFill>
                <a:latin typeface="Montserrat" charset="0"/>
                <a:ea typeface="Calibri"/>
                <a:cs typeface="Calibri"/>
                <a:sym typeface="Calibri"/>
              </a:rPr>
              <a:t>3.	</a:t>
            </a:r>
            <a:r>
              <a:rPr lang="en-GB" sz="3000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Type </a:t>
            </a:r>
            <a:r>
              <a:rPr lang="en-GB" sz="3000" dirty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in </a:t>
            </a:r>
            <a:r>
              <a:rPr lang="en-GB" sz="3000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your company email address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r>
              <a:rPr lang="en-GB" sz="3000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4.	Type in your password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 smtClean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5000"/>
            </a:pPr>
            <a:r>
              <a:rPr lang="en-GB" sz="3000" dirty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5</a:t>
            </a:r>
            <a:r>
              <a:rPr lang="en-GB" sz="3000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. 	</a:t>
            </a:r>
            <a:r>
              <a:rPr lang="en-GB" sz="3000" dirty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Click the </a:t>
            </a:r>
            <a:r>
              <a:rPr lang="en-GB" sz="3000" dirty="0" smtClean="0">
                <a:solidFill>
                  <a:schemeClr val="dk1"/>
                </a:solidFill>
                <a:latin typeface="Montserrat" charset="0"/>
                <a:ea typeface="Calibri"/>
                <a:cs typeface="Calibri"/>
                <a:sym typeface="Calibri"/>
              </a:rPr>
              <a:t>Login</a:t>
            </a:r>
            <a:endParaRPr lang="en-GB"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 smtClean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marL="742950" lvl="0" indent="-742950">
              <a:lnSpc>
                <a:spcPct val="90000"/>
              </a:lnSpc>
              <a:buClr>
                <a:schemeClr val="dk1"/>
              </a:buClr>
              <a:buSzPts val="5000"/>
              <a:buFont typeface="+mj-lt"/>
              <a:buAutoNum type="arabicPeriod"/>
            </a:pPr>
            <a:endParaRPr lang="en-GB" sz="38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GB" sz="3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sz="3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2E2E2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2712" y="2671763"/>
            <a:ext cx="7702448" cy="691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2c520674f_1_19"/>
          <p:cNvSpPr/>
          <p:nvPr/>
        </p:nvSpPr>
        <p:spPr>
          <a:xfrm rot="-2083339">
            <a:off x="-5620305" y="-3893431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g2b2c520674f_1_19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5" name="Google Shape;115;g2b2c520674f_1_19"/>
          <p:cNvSpPr txBox="1"/>
          <p:nvPr/>
        </p:nvSpPr>
        <p:spPr>
          <a:xfrm>
            <a:off x="602524" y="673150"/>
            <a:ext cx="17197796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000" b="1" dirty="0" smtClean="0">
                <a:solidFill>
                  <a:srgbClr val="004AAD"/>
                </a:solidFill>
                <a:latin typeface="Barlow" charset="0"/>
                <a:sym typeface="Montserrat"/>
              </a:rPr>
              <a:t>Where To Record Your Service Logs?</a:t>
            </a:r>
            <a:endParaRPr sz="70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6" name="Google Shape;98;p4"/>
          <p:cNvSpPr/>
          <p:nvPr/>
        </p:nvSpPr>
        <p:spPr>
          <a:xfrm rot="1997522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7" name="Google Shape;100;p4"/>
          <p:cNvSpPr txBox="1"/>
          <p:nvPr/>
        </p:nvSpPr>
        <p:spPr>
          <a:xfrm>
            <a:off x="912766" y="2431673"/>
            <a:ext cx="15775200" cy="651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5000" b="1" dirty="0" smtClean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r>
              <a:rPr lang="en-US" sz="4000" b="1" dirty="0" smtClean="0">
                <a:solidFill>
                  <a:schemeClr val="tx1"/>
                </a:solidFill>
                <a:latin typeface="Montserrat" charset="0"/>
                <a:ea typeface="Calibri"/>
                <a:cs typeface="Calibri"/>
                <a:sym typeface="Calibri"/>
              </a:rPr>
              <a:t>Step-by-step navigation: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2500" dirty="0" smtClean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2500" dirty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2500" dirty="0" smtClean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 smtClean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marL="742950" lvl="0" indent="-742950">
              <a:lnSpc>
                <a:spcPct val="90000"/>
              </a:lnSpc>
              <a:buClr>
                <a:schemeClr val="dk1"/>
              </a:buClr>
              <a:buSzPts val="5000"/>
              <a:buFont typeface="+mj-lt"/>
              <a:buAutoNum type="arabicPeriod"/>
            </a:pPr>
            <a:endParaRPr lang="en-GB" sz="38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GB" sz="3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sz="3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2E2E2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729038"/>
            <a:ext cx="9515475" cy="611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110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2c520674f_1_19"/>
          <p:cNvSpPr/>
          <p:nvPr/>
        </p:nvSpPr>
        <p:spPr>
          <a:xfrm rot="-2083339">
            <a:off x="-5620305" y="-3893431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g2b2c520674f_1_19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5" name="Google Shape;115;g2b2c520674f_1_19"/>
          <p:cNvSpPr txBox="1"/>
          <p:nvPr/>
        </p:nvSpPr>
        <p:spPr>
          <a:xfrm>
            <a:off x="602524" y="673150"/>
            <a:ext cx="17197796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000" b="1" dirty="0" smtClean="0">
                <a:solidFill>
                  <a:srgbClr val="004AAD"/>
                </a:solidFill>
                <a:latin typeface="Barlow" charset="0"/>
                <a:sym typeface="Montserrat"/>
              </a:rPr>
              <a:t>Where To Record Your Service Logs?</a:t>
            </a:r>
            <a:endParaRPr sz="70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6" name="Google Shape;98;p4"/>
          <p:cNvSpPr/>
          <p:nvPr/>
        </p:nvSpPr>
        <p:spPr>
          <a:xfrm rot="1997522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7" name="Google Shape;100;p4"/>
          <p:cNvSpPr txBox="1"/>
          <p:nvPr/>
        </p:nvSpPr>
        <p:spPr>
          <a:xfrm>
            <a:off x="912766" y="2431673"/>
            <a:ext cx="15775200" cy="651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5000" b="1" dirty="0" smtClean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r>
              <a:rPr lang="en-US" sz="4000" b="1" dirty="0" smtClean="0">
                <a:solidFill>
                  <a:schemeClr val="tx1"/>
                </a:solidFill>
                <a:latin typeface="Montserrat" charset="0"/>
                <a:ea typeface="Calibri"/>
                <a:cs typeface="Calibri"/>
                <a:sym typeface="Calibri"/>
              </a:rPr>
              <a:t>Step-by-step navigation: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2500" dirty="0" smtClean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2500" dirty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US" sz="2500" dirty="0" smtClean="0">
              <a:solidFill>
                <a:schemeClr val="tx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 smtClean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chemeClr val="dk1"/>
              </a:buClr>
              <a:buSzPts val="5000"/>
            </a:pPr>
            <a:endParaRPr lang="en-GB" sz="3000" dirty="0">
              <a:solidFill>
                <a:schemeClr val="dk1"/>
              </a:solidFill>
              <a:latin typeface="Montserrat" charset="0"/>
              <a:ea typeface="Calibri"/>
              <a:cs typeface="Calibri"/>
              <a:sym typeface="Calibri"/>
            </a:endParaRPr>
          </a:p>
          <a:p>
            <a:pPr marL="742950" lvl="0" indent="-742950">
              <a:lnSpc>
                <a:spcPct val="90000"/>
              </a:lnSpc>
              <a:buClr>
                <a:schemeClr val="dk1"/>
              </a:buClr>
              <a:buSzPts val="5000"/>
              <a:buFont typeface="+mj-lt"/>
              <a:buAutoNum type="arabicPeriod"/>
            </a:pPr>
            <a:endParaRPr lang="en-GB" sz="38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lang="en-GB" sz="3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</a:pPr>
            <a:endParaRPr sz="3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2E2E2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762" y="3829050"/>
            <a:ext cx="9166226" cy="601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967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2c520674f_1_19"/>
          <p:cNvSpPr/>
          <p:nvPr/>
        </p:nvSpPr>
        <p:spPr>
          <a:xfrm rot="-2083339">
            <a:off x="-5620305" y="-3893431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g2b2c520674f_1_19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5" name="Google Shape;115;g2b2c520674f_1_19"/>
          <p:cNvSpPr txBox="1"/>
          <p:nvPr/>
        </p:nvSpPr>
        <p:spPr>
          <a:xfrm>
            <a:off x="602525" y="673150"/>
            <a:ext cx="13835100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100" b="1" dirty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Manual Service Log</a:t>
            </a:r>
            <a:endParaRPr sz="45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pic>
        <p:nvPicPr>
          <p:cNvPr id="116" name="Google Shape;116;g2b2c520674f_1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4700" y="2941319"/>
            <a:ext cx="12605700" cy="64737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8;p4"/>
          <p:cNvSpPr/>
          <p:nvPr/>
        </p:nvSpPr>
        <p:spPr>
          <a:xfrm rot="1997522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71644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07afcee5a_0_2"/>
          <p:cNvSpPr/>
          <p:nvPr/>
        </p:nvSpPr>
        <p:spPr>
          <a:xfrm rot="-2083339">
            <a:off x="-5620305" y="-3893432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06" name="Google Shape;106;g2a07afcee5a_0_2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7" name="Google Shape;107;g2a07afcee5a_0_2"/>
          <p:cNvSpPr txBox="1"/>
          <p:nvPr/>
        </p:nvSpPr>
        <p:spPr>
          <a:xfrm>
            <a:off x="602525" y="673150"/>
            <a:ext cx="13835100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100" b="1" dirty="0" smtClean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Standard Task </a:t>
            </a:r>
            <a:r>
              <a:rPr lang="en-US" sz="7100" b="1" dirty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Description</a:t>
            </a:r>
            <a:endParaRPr sz="45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00288" y="3486151"/>
            <a:ext cx="126587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 dirty="0" smtClean="0">
                <a:latin typeface="Montserrat" charset="0"/>
              </a:rPr>
              <a:t>For both Billable and Non-Billable Tasks</a:t>
            </a:r>
            <a:endParaRPr lang="en-GB" sz="3000" b="1" dirty="0">
              <a:latin typeface="Montserrat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288" y="4040149"/>
            <a:ext cx="13244512" cy="559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Google Shape;98;p4"/>
          <p:cNvSpPr/>
          <p:nvPr/>
        </p:nvSpPr>
        <p:spPr>
          <a:xfrm rot="1997522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07afcee5a_0_2"/>
          <p:cNvSpPr/>
          <p:nvPr/>
        </p:nvSpPr>
        <p:spPr>
          <a:xfrm rot="-2083339">
            <a:off x="-5620305" y="-3893432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06" name="Google Shape;106;g2a07afcee5a_0_2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7" name="Google Shape;107;g2a07afcee5a_0_2"/>
          <p:cNvSpPr txBox="1"/>
          <p:nvPr/>
        </p:nvSpPr>
        <p:spPr>
          <a:xfrm>
            <a:off x="602525" y="673150"/>
            <a:ext cx="13835100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100" b="1" dirty="0" smtClean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Standard Task </a:t>
            </a:r>
            <a:r>
              <a:rPr lang="en-US" sz="7100" b="1" dirty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Description</a:t>
            </a:r>
            <a:endParaRPr sz="45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00288" y="3209152"/>
            <a:ext cx="126587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 dirty="0" smtClean="0">
                <a:latin typeface="Montserrat" charset="0"/>
              </a:rPr>
              <a:t>Standard Task Description for Discussions</a:t>
            </a:r>
            <a:endParaRPr lang="en-GB" sz="3000" b="1" dirty="0">
              <a:latin typeface="Montserrat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289" y="4014788"/>
            <a:ext cx="13558836" cy="5088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98;p4"/>
          <p:cNvSpPr/>
          <p:nvPr/>
        </p:nvSpPr>
        <p:spPr>
          <a:xfrm rot="1997522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99604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07afcee5a_0_2"/>
          <p:cNvSpPr/>
          <p:nvPr/>
        </p:nvSpPr>
        <p:spPr>
          <a:xfrm rot="-2083339">
            <a:off x="-5620305" y="-3893432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06" name="Google Shape;106;g2a07afcee5a_0_2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7" name="Google Shape;107;g2a07afcee5a_0_2"/>
          <p:cNvSpPr txBox="1"/>
          <p:nvPr/>
        </p:nvSpPr>
        <p:spPr>
          <a:xfrm>
            <a:off x="602525" y="673150"/>
            <a:ext cx="13835100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100" b="1" dirty="0" smtClean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Standard Task </a:t>
            </a:r>
            <a:r>
              <a:rPr lang="en-US" sz="7100" b="1" dirty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Description</a:t>
            </a:r>
            <a:endParaRPr sz="45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00288" y="3209152"/>
            <a:ext cx="126587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 dirty="0" smtClean="0">
                <a:latin typeface="Montserrat" charset="0"/>
              </a:rPr>
              <a:t>Standard Task Description for Document</a:t>
            </a:r>
            <a:endParaRPr lang="en-GB" sz="3000" b="1" dirty="0">
              <a:latin typeface="Montserrat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4143374"/>
            <a:ext cx="14454501" cy="5036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98;p4"/>
          <p:cNvSpPr/>
          <p:nvPr/>
        </p:nvSpPr>
        <p:spPr>
          <a:xfrm rot="1997522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48281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2c520674f_1_19"/>
          <p:cNvSpPr/>
          <p:nvPr/>
        </p:nvSpPr>
        <p:spPr>
          <a:xfrm rot="-2083339">
            <a:off x="-5620305" y="-3893431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g2b2c520674f_1_19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5" name="Google Shape;115;g2b2c520674f_1_19"/>
          <p:cNvSpPr txBox="1"/>
          <p:nvPr/>
        </p:nvSpPr>
        <p:spPr>
          <a:xfrm>
            <a:off x="602525" y="673150"/>
            <a:ext cx="15613788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100" b="1" dirty="0" smtClean="0">
                <a:solidFill>
                  <a:srgbClr val="004AAD"/>
                </a:solidFill>
                <a:latin typeface="Barlow" charset="0"/>
                <a:sym typeface="Montserrat"/>
              </a:rPr>
              <a:t>Where to Record Service Log in My Pro</a:t>
            </a:r>
            <a:endParaRPr sz="45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6" name="Google Shape;98;p4"/>
          <p:cNvSpPr/>
          <p:nvPr/>
        </p:nvSpPr>
        <p:spPr>
          <a:xfrm rot="1997522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6" y="2773362"/>
            <a:ext cx="11287124" cy="6742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5" y="3830638"/>
            <a:ext cx="4748213" cy="17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3469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2c520674f_1_19"/>
          <p:cNvSpPr/>
          <p:nvPr/>
        </p:nvSpPr>
        <p:spPr>
          <a:xfrm rot="-2083339">
            <a:off x="-5620305" y="-4390942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g2b2c520674f_1_19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5" name="Google Shape;115;g2b2c520674f_1_19"/>
          <p:cNvSpPr txBox="1"/>
          <p:nvPr/>
        </p:nvSpPr>
        <p:spPr>
          <a:xfrm>
            <a:off x="602525" y="673150"/>
            <a:ext cx="15613788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100" b="1" dirty="0" smtClean="0">
                <a:solidFill>
                  <a:srgbClr val="004AAD"/>
                </a:solidFill>
                <a:latin typeface="Barlow" charset="0"/>
                <a:sym typeface="Montserrat"/>
              </a:rPr>
              <a:t>Where to Record Service Log in My Pro</a:t>
            </a:r>
            <a:endParaRPr sz="45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6" name="Google Shape;98;p4"/>
          <p:cNvSpPr/>
          <p:nvPr/>
        </p:nvSpPr>
        <p:spPr>
          <a:xfrm rot="19975220">
            <a:off x="13159225" y="5878345"/>
            <a:ext cx="7091871" cy="5021632"/>
          </a:xfrm>
          <a:custGeom>
            <a:avLst/>
            <a:gdLst/>
            <a:ahLst/>
            <a:cxnLst/>
            <a:rect l="l" t="t" r="r" b="b"/>
            <a:pathLst>
              <a:path w="9495369" h="7717145" extrusionOk="0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438" y="3300412"/>
            <a:ext cx="13353984" cy="5629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4575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325aace0c_0_7"/>
          <p:cNvSpPr/>
          <p:nvPr/>
        </p:nvSpPr>
        <p:spPr>
          <a:xfrm rot="-2083339">
            <a:off x="-5620305" y="-3893430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22" name="Google Shape;122;g2b325aace0c_0_7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3" name="Google Shape;123;g2b325aace0c_0_7"/>
          <p:cNvSpPr txBox="1"/>
          <p:nvPr/>
        </p:nvSpPr>
        <p:spPr>
          <a:xfrm>
            <a:off x="602524" y="673150"/>
            <a:ext cx="16099563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100" b="1" dirty="0" smtClean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Where to Record Service Log in My Pro</a:t>
            </a:r>
            <a:endParaRPr sz="45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9" y="3000375"/>
            <a:ext cx="12530136" cy="6357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325aace0c_0_7"/>
          <p:cNvSpPr/>
          <p:nvPr/>
        </p:nvSpPr>
        <p:spPr>
          <a:xfrm rot="-2083339">
            <a:off x="-5620305" y="-3893430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22" name="Google Shape;122;g2b325aace0c_0_7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3" name="Google Shape;123;g2b325aace0c_0_7"/>
          <p:cNvSpPr txBox="1"/>
          <p:nvPr/>
        </p:nvSpPr>
        <p:spPr>
          <a:xfrm>
            <a:off x="602524" y="673150"/>
            <a:ext cx="16099563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100" b="1" dirty="0" smtClean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Where to Record Service Log in My Pro</a:t>
            </a:r>
            <a:endParaRPr sz="45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924" y="3284289"/>
            <a:ext cx="13005920" cy="614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1161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325aace0c_0_7"/>
          <p:cNvSpPr/>
          <p:nvPr/>
        </p:nvSpPr>
        <p:spPr>
          <a:xfrm rot="-2083339">
            <a:off x="-5620305" y="-3893430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22" name="Google Shape;122;g2b325aace0c_0_7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3" name="Google Shape;123;g2b325aace0c_0_7"/>
          <p:cNvSpPr txBox="1"/>
          <p:nvPr/>
        </p:nvSpPr>
        <p:spPr>
          <a:xfrm>
            <a:off x="602524" y="673150"/>
            <a:ext cx="16099563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100" b="1" dirty="0" smtClean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Where to Record Service Log in My Pro</a:t>
            </a:r>
            <a:endParaRPr sz="45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3409949"/>
            <a:ext cx="13493681" cy="5948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9435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325aace0c_0_7"/>
          <p:cNvSpPr/>
          <p:nvPr/>
        </p:nvSpPr>
        <p:spPr>
          <a:xfrm rot="-2083339">
            <a:off x="-5620305" y="-3893430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22" name="Google Shape;122;g2b325aace0c_0_7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3" name="Google Shape;123;g2b325aace0c_0_7"/>
          <p:cNvSpPr txBox="1"/>
          <p:nvPr/>
        </p:nvSpPr>
        <p:spPr>
          <a:xfrm>
            <a:off x="602524" y="673150"/>
            <a:ext cx="16099563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100" b="1" dirty="0" smtClean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Where to Record Service Log in My Pro</a:t>
            </a:r>
            <a:endParaRPr sz="45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1" y="2957513"/>
            <a:ext cx="6000751" cy="6030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275" y="3284289"/>
            <a:ext cx="8501134" cy="4988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4353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325aace0c_0_7"/>
          <p:cNvSpPr/>
          <p:nvPr/>
        </p:nvSpPr>
        <p:spPr>
          <a:xfrm rot="-2083339">
            <a:off x="-5620305" y="-3893430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22" name="Google Shape;122;g2b325aace0c_0_7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3" name="Google Shape;123;g2b325aace0c_0_7"/>
          <p:cNvSpPr txBox="1"/>
          <p:nvPr/>
        </p:nvSpPr>
        <p:spPr>
          <a:xfrm>
            <a:off x="602523" y="673150"/>
            <a:ext cx="16171001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100" b="1" dirty="0" smtClean="0">
                <a:solidFill>
                  <a:srgbClr val="004AAD"/>
                </a:solidFill>
                <a:latin typeface="Barlow" charset="0"/>
                <a:ea typeface="Montserrat"/>
                <a:cs typeface="Montserrat"/>
                <a:sym typeface="Montserrat"/>
              </a:rPr>
              <a:t>Sample Billable &amp; Non-Billable Task</a:t>
            </a:r>
            <a:endParaRPr sz="45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770" y="3306762"/>
            <a:ext cx="14102557" cy="539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6081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325aace0c_0_7"/>
          <p:cNvSpPr/>
          <p:nvPr/>
        </p:nvSpPr>
        <p:spPr>
          <a:xfrm rot="-2083339">
            <a:off x="-5620305" y="-3893430"/>
            <a:ext cx="14355438" cy="14355438"/>
          </a:xfrm>
          <a:custGeom>
            <a:avLst/>
            <a:gdLst/>
            <a:ahLst/>
            <a:cxnLst/>
            <a:rect l="l" t="t" r="r" b="b"/>
            <a:pathLst>
              <a:path w="14345355" h="14345355" extrusionOk="0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/>
            </a:stretch>
          </a:blipFill>
          <a:ln>
            <a:noFill/>
          </a:ln>
        </p:spPr>
      </p:sp>
      <p:sp>
        <p:nvSpPr>
          <p:cNvPr id="122" name="Google Shape;122;g2b325aace0c_0_7"/>
          <p:cNvSpPr txBox="1"/>
          <p:nvPr/>
        </p:nvSpPr>
        <p:spPr>
          <a:xfrm>
            <a:off x="1028700" y="1368039"/>
            <a:ext cx="4859400" cy="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3" name="Google Shape;123;g2b325aace0c_0_7"/>
          <p:cNvSpPr txBox="1"/>
          <p:nvPr/>
        </p:nvSpPr>
        <p:spPr>
          <a:xfrm>
            <a:off x="1314450" y="673150"/>
            <a:ext cx="13501687" cy="245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7100" b="1" dirty="0" smtClean="0">
                <a:solidFill>
                  <a:srgbClr val="004AAD"/>
                </a:solidFill>
                <a:latin typeface="Barlow" charset="0"/>
                <a:sym typeface="Montserrat"/>
              </a:rPr>
              <a:t>Things to Remember:</a:t>
            </a:r>
            <a:endParaRPr sz="4500" b="0" i="0" u="none" strike="noStrike" cap="none" dirty="0">
              <a:solidFill>
                <a:srgbClr val="000000"/>
              </a:solidFill>
              <a:latin typeface="Barlow" charset="0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957513" y="3284289"/>
            <a:ext cx="126873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GB" sz="3000" dirty="0" smtClean="0">
                <a:latin typeface="Montserrat" charset="0"/>
              </a:rPr>
              <a:t>All Virtual Assistant must update their Service Logs daily.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GB" sz="3000" dirty="0" smtClean="0">
                <a:latin typeface="Montserrat" charset="0"/>
              </a:rPr>
              <a:t>Virtual Assistant’s salaries will be put on hold for those with incomplete service logs within the cut off.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GB" sz="3000" dirty="0" smtClean="0">
                <a:latin typeface="Montserrat" charset="0"/>
              </a:rPr>
              <a:t>All Service Logs must be breakdown properly according to standard task description.</a:t>
            </a:r>
            <a:endParaRPr lang="en-GB" sz="3000" dirty="0">
              <a:latin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528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</TotalTime>
  <Words>377</Words>
  <Application>Microsoft Office PowerPoint</Application>
  <PresentationFormat>Custom</PresentationFormat>
  <Paragraphs>108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Montserrat</vt:lpstr>
      <vt:lpstr>Barlow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Girlie Ho</cp:lastModifiedBy>
  <cp:revision>44</cp:revision>
  <dcterms:created xsi:type="dcterms:W3CDTF">2006-08-16T00:00:00Z</dcterms:created>
  <dcterms:modified xsi:type="dcterms:W3CDTF">2024-02-19T19:49:42Z</dcterms:modified>
</cp:coreProperties>
</file>