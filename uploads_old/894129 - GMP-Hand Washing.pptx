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D2D90-A1F1-49A9-83A2-9A09CEB1D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9ED5FD-1705-4C9C-B040-D81FC426A0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03320-2B8C-4649-99A8-78C634EC4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EEEB8-72F6-4EE9-8D9B-BA36DE74CA25}" type="datetimeFigureOut">
              <a:rPr lang="en-US" smtClean="0"/>
              <a:t>11/23/2022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454DC-456C-480D-AED8-F0EE968DA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BDE22-FA3A-4C72-8C13-C47E4FFBC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B2A90-1AD3-4CC1-932E-4EEA0346D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67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B1218-587A-47AA-9F4F-2E56FB9A4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A97A9-D62D-4546-9FE5-C11E40E01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6CE42-389F-4E16-8A7B-475CD8F2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EEEB8-72F6-4EE9-8D9B-BA36DE74CA25}" type="datetimeFigureOut">
              <a:rPr lang="en-US" smtClean="0"/>
              <a:t>11/23/2022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CC74E-15AB-47CE-A3CF-CD2D53390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1BA7C-4DF5-4319-91D8-47F7F34B4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B2A90-1AD3-4CC1-932E-4EEA0346D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94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A5370-A5E7-4697-B033-1D5B072A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DD2C2-AD4E-40B6-88CA-B2F04E5C3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B39D7-7897-43A6-ABBA-753DEDFB7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EEEB8-72F6-4EE9-8D9B-BA36DE74CA25}" type="datetimeFigureOut">
              <a:rPr lang="en-US" smtClean="0"/>
              <a:t>11/23/2022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AD90E-6372-4A8F-97E4-E50D6B34A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01CF0-728F-4320-9875-1826105D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B2A90-1AD3-4CC1-932E-4EEA0346D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11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AA7D1-9CBB-4F7E-A644-9A67DF76F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C4F19-CCE4-4BA4-AE73-CBCEBA938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20B80-5C4D-4D0F-8018-538EBD9B5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48E8C-AB65-4D0F-B7F6-49754D40E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EEEB8-72F6-4EE9-8D9B-BA36DE74CA25}" type="datetimeFigureOut">
              <a:rPr lang="en-US" smtClean="0"/>
              <a:t>11/23/2022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1CAAF-6928-4DD3-8DF4-D4564C8C3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9BF5C-7A19-4C88-A1EC-75D5B34A1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B2A90-1AD3-4CC1-932E-4EEA0346D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862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C9237-F925-4495-8A07-271DBB41D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F6118-99F0-4357-AEEE-977BF509E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1B0CD-9F2A-49E3-B8E1-94C85A96F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CA7AC9-35BD-4EC5-9639-4369921D7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5AFE7-1554-4803-B6FA-71F41D93F0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13C1AB-69DA-477D-A6A6-C4CEFD70A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EEEB8-72F6-4EE9-8D9B-BA36DE74CA25}" type="datetimeFigureOut">
              <a:rPr lang="en-US" smtClean="0"/>
              <a:t>11/23/2022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F6FA5F-1800-4AC7-B78D-7A1EFE318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6CA48B-47D8-4230-8A3D-FA7D02EC7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B2A90-1AD3-4CC1-932E-4EEA0346D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789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CE82C-F374-40AB-963A-FD57A4C5D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45410B-C190-41B0-8C97-042F8DA75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EEEB8-72F6-4EE9-8D9B-BA36DE74CA25}" type="datetimeFigureOut">
              <a:rPr lang="en-US" smtClean="0"/>
              <a:t>11/23/2022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C70DD9-6A73-4C2B-A6C0-BC6CF901F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01A1F5-A13B-4FCE-82C7-7666CFCC5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B2A90-1AD3-4CC1-932E-4EEA0346D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271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C06F59-1676-4ED8-805D-E4FE7437B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EEEB8-72F6-4EE9-8D9B-BA36DE74CA25}" type="datetimeFigureOut">
              <a:rPr lang="en-US" smtClean="0"/>
              <a:t>11/23/2022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831E98-7131-4E08-BBA6-C7C7FA52F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81247-C9F2-4AA4-98EC-153C3787B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B2A90-1AD3-4CC1-932E-4EEA0346D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329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5D64A-AE12-40A8-82C5-0960C215E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53B35-D20E-4E21-83BB-A6DA574F2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41789-30F0-470C-ABB7-F6A6ADA7A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1844C-A247-47EF-96E8-117CE46F9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EEEB8-72F6-4EE9-8D9B-BA36DE74CA25}" type="datetimeFigureOut">
              <a:rPr lang="en-US" smtClean="0"/>
              <a:t>11/23/2022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213B5-92AF-4923-9F04-7D2556010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7B0C1-46AB-455A-8539-8669168A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B2A90-1AD3-4CC1-932E-4EEA0346D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808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01540-7F09-4026-BC5D-878E199D0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52D357-A4CC-4A3B-99CA-9D26922FD9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A4C724-DFE6-4039-8791-15FCBE164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05AE7-E417-4097-98B2-11764AFAD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EEEB8-72F6-4EE9-8D9B-BA36DE74CA25}" type="datetimeFigureOut">
              <a:rPr lang="en-US" smtClean="0"/>
              <a:t>11/23/2022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4C28B-3229-4067-8523-1D1C9A5D8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F8D954-EAB0-415A-BDE1-381ED49F4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B2A90-1AD3-4CC1-932E-4EEA0346D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169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A7CB2-85B3-45BA-9EAE-C289755C6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3D170-7DF0-4C30-BBF5-55626EBCD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7EDD6-4766-4DDB-A983-E04909012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EEEB8-72F6-4EE9-8D9B-BA36DE74CA25}" type="datetimeFigureOut">
              <a:rPr lang="en-US" smtClean="0"/>
              <a:t>11/23/2022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1FDDF-6E07-496B-806E-C149E2A8E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295D1-1A9B-471C-A9DE-65A77CCB9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B2A90-1AD3-4CC1-932E-4EEA0346D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666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9D9BF2-4C79-49AA-818C-987AFCD182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8E4784-659B-4193-A621-F36D1CCA7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A164B-4936-49E8-8FE0-4F0B4CEBF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EEEB8-72F6-4EE9-8D9B-BA36DE74CA25}" type="datetimeFigureOut">
              <a:rPr lang="en-US" smtClean="0"/>
              <a:t>11/23/2022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8ED60-9250-462A-934F-79C820798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1AE28-755D-4FA1-BE3C-F93DA759A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B2A90-1AD3-4CC1-932E-4EEA0346D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571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ADAB5A-7F5D-4EF3-BFE9-299A30B16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B50E7-5DA2-4BDE-AEA3-2940EA845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68885-25A4-49ED-BF9F-A0DA6C1B83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EEEB8-72F6-4EE9-8D9B-BA36DE74CA25}" type="datetimeFigureOut">
              <a:rPr lang="en-US" smtClean="0"/>
              <a:t>11/23/2022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24F67-96D1-4184-A646-EF5CE29A9D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23081-D4D1-48E9-9113-D0ABB5D3E1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B2A90-1AD3-4CC1-932E-4EEA0346D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431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sv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7.png"/><Relationship Id="rId5" Type="http://schemas.openxmlformats.org/officeDocument/2006/relationships/image" Target="../media/image4.sv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E3F4F9-2B65-4AC8-AB80-16F654285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140" y="5648050"/>
            <a:ext cx="1597775" cy="581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E02F41-43CF-4D4F-8989-305F89322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0880" y="5736156"/>
            <a:ext cx="1737287" cy="492335"/>
          </a:xfrm>
          <a:prstGeom prst="rect">
            <a:avLst/>
          </a:prstGeom>
        </p:spPr>
      </p:pic>
      <p:pic>
        <p:nvPicPr>
          <p:cNvPr id="9" name="Graphic 8" descr="Receiver">
            <a:extLst>
              <a:ext uri="{FF2B5EF4-FFF2-40B4-BE49-F238E27FC236}">
                <a16:creationId xmlns:a16="http://schemas.microsoft.com/office/drawing/2014/main" id="{8B0BF13C-7F2D-42D4-9C70-BCACA145C7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72765" y="5648050"/>
            <a:ext cx="176212" cy="1762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1B2303-AD1C-4651-9C2B-D9DA179F9814}"/>
              </a:ext>
            </a:extLst>
          </p:cNvPr>
          <p:cNvSpPr txBox="1"/>
          <p:nvPr/>
        </p:nvSpPr>
        <p:spPr>
          <a:xfrm>
            <a:off x="5760871" y="5634704"/>
            <a:ext cx="11033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1-202-983-3002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C8A2B0-C8A1-491A-A1EF-CDB9D44A2848}"/>
              </a:ext>
            </a:extLst>
          </p:cNvPr>
          <p:cNvSpPr txBox="1"/>
          <p:nvPr/>
        </p:nvSpPr>
        <p:spPr>
          <a:xfrm>
            <a:off x="5846998" y="5872736"/>
            <a:ext cx="1597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services@interlinkiq.com</a:t>
            </a:r>
          </a:p>
        </p:txBody>
      </p:sp>
      <p:pic>
        <p:nvPicPr>
          <p:cNvPr id="15" name="Graphic 14" descr="Envelope">
            <a:extLst>
              <a:ext uri="{FF2B5EF4-FFF2-40B4-BE49-F238E27FC236}">
                <a16:creationId xmlns:a16="http://schemas.microsoft.com/office/drawing/2014/main" id="{8601DBA0-3F7D-4630-9F64-0CAACC1038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41317" y="5872649"/>
            <a:ext cx="231880" cy="2318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01829DE-85B0-449F-B7FC-A4BD2D647B6F}"/>
              </a:ext>
            </a:extLst>
          </p:cNvPr>
          <p:cNvSpPr txBox="1"/>
          <p:nvPr/>
        </p:nvSpPr>
        <p:spPr>
          <a:xfrm>
            <a:off x="5846998" y="6108691"/>
            <a:ext cx="1597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www.InterlinkIQ.com</a:t>
            </a:r>
          </a:p>
        </p:txBody>
      </p:sp>
      <p:pic>
        <p:nvPicPr>
          <p:cNvPr id="18" name="Graphic 17" descr="Internet">
            <a:extLst>
              <a:ext uri="{FF2B5EF4-FFF2-40B4-BE49-F238E27FC236}">
                <a16:creationId xmlns:a16="http://schemas.microsoft.com/office/drawing/2014/main" id="{78CF71B0-221B-4E26-A17E-E3C991332A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92303" y="6069488"/>
            <a:ext cx="329909" cy="3299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AF44DA-0023-4CC8-9F58-2809B124C7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5170" y="503088"/>
            <a:ext cx="10196422" cy="487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637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E3F4F9-2B65-4AC8-AB80-16F654285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865" y="5634704"/>
            <a:ext cx="1597775" cy="581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E02F41-43CF-4D4F-8989-305F89322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2495" y="5736156"/>
            <a:ext cx="1737287" cy="492335"/>
          </a:xfrm>
          <a:prstGeom prst="rect">
            <a:avLst/>
          </a:prstGeom>
        </p:spPr>
      </p:pic>
      <p:pic>
        <p:nvPicPr>
          <p:cNvPr id="9" name="Graphic 8" descr="Receiver">
            <a:extLst>
              <a:ext uri="{FF2B5EF4-FFF2-40B4-BE49-F238E27FC236}">
                <a16:creationId xmlns:a16="http://schemas.microsoft.com/office/drawing/2014/main" id="{8B0BF13C-7F2D-42D4-9C70-BCACA145C7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72765" y="5648050"/>
            <a:ext cx="176212" cy="1762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1B2303-AD1C-4651-9C2B-D9DA179F9814}"/>
              </a:ext>
            </a:extLst>
          </p:cNvPr>
          <p:cNvSpPr txBox="1"/>
          <p:nvPr/>
        </p:nvSpPr>
        <p:spPr>
          <a:xfrm>
            <a:off x="5760871" y="5634704"/>
            <a:ext cx="11033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1-202-983-3002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C8A2B0-C8A1-491A-A1EF-CDB9D44A2848}"/>
              </a:ext>
            </a:extLst>
          </p:cNvPr>
          <p:cNvSpPr txBox="1"/>
          <p:nvPr/>
        </p:nvSpPr>
        <p:spPr>
          <a:xfrm>
            <a:off x="5846998" y="5872736"/>
            <a:ext cx="1597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services@interlinkiq.com</a:t>
            </a:r>
          </a:p>
        </p:txBody>
      </p:sp>
      <p:pic>
        <p:nvPicPr>
          <p:cNvPr id="15" name="Graphic 14" descr="Envelope">
            <a:extLst>
              <a:ext uri="{FF2B5EF4-FFF2-40B4-BE49-F238E27FC236}">
                <a16:creationId xmlns:a16="http://schemas.microsoft.com/office/drawing/2014/main" id="{8601DBA0-3F7D-4630-9F64-0CAACC1038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41317" y="5872649"/>
            <a:ext cx="231880" cy="2318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01829DE-85B0-449F-B7FC-A4BD2D647B6F}"/>
              </a:ext>
            </a:extLst>
          </p:cNvPr>
          <p:cNvSpPr txBox="1"/>
          <p:nvPr/>
        </p:nvSpPr>
        <p:spPr>
          <a:xfrm>
            <a:off x="5846998" y="6108691"/>
            <a:ext cx="1597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www.InterlinkIQ.com</a:t>
            </a:r>
          </a:p>
        </p:txBody>
      </p:sp>
      <p:pic>
        <p:nvPicPr>
          <p:cNvPr id="18" name="Graphic 17" descr="Internet">
            <a:extLst>
              <a:ext uri="{FF2B5EF4-FFF2-40B4-BE49-F238E27FC236}">
                <a16:creationId xmlns:a16="http://schemas.microsoft.com/office/drawing/2014/main" id="{78CF71B0-221B-4E26-A17E-E3C991332A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92303" y="6069488"/>
            <a:ext cx="329909" cy="32990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1698FFE-A9E1-4B1D-81BF-D5A9A149389E}"/>
              </a:ext>
            </a:extLst>
          </p:cNvPr>
          <p:cNvSpPr/>
          <p:nvPr/>
        </p:nvSpPr>
        <p:spPr>
          <a:xfrm>
            <a:off x="714497" y="1060188"/>
            <a:ext cx="732559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prevent foodborne illness by contaminated hands.</a:t>
            </a:r>
            <a:endParaRPr lang="en-US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A700EF-FC4A-43D6-A82A-66F2BE16E3A1}"/>
              </a:ext>
            </a:extLst>
          </p:cNvPr>
          <p:cNvSpPr/>
          <p:nvPr/>
        </p:nvSpPr>
        <p:spPr>
          <a:xfrm>
            <a:off x="714497" y="383468"/>
            <a:ext cx="298651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Purpose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1EDAEA-9B96-4B3F-9E82-AE1E2792F2CD}"/>
              </a:ext>
            </a:extLst>
          </p:cNvPr>
          <p:cNvSpPr/>
          <p:nvPr/>
        </p:nvSpPr>
        <p:spPr>
          <a:xfrm>
            <a:off x="714497" y="1249969"/>
            <a:ext cx="298651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Scope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87412F-4159-4CAA-AF70-56146FD38D33}"/>
              </a:ext>
            </a:extLst>
          </p:cNvPr>
          <p:cNvSpPr/>
          <p:nvPr/>
        </p:nvSpPr>
        <p:spPr>
          <a:xfrm>
            <a:off x="714497" y="1873947"/>
            <a:ext cx="9159805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procedure applies to anyone who is in the facility.</a:t>
            </a:r>
            <a:endParaRPr lang="en-US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B67DAE-649C-4A8E-B933-505D9411CBC7}"/>
              </a:ext>
            </a:extLst>
          </p:cNvPr>
          <p:cNvSpPr/>
          <p:nvPr/>
        </p:nvSpPr>
        <p:spPr>
          <a:xfrm>
            <a:off x="714496" y="2187234"/>
            <a:ext cx="370222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Best Practices</a:t>
            </a:r>
            <a:endParaRPr 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6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4EDFC3-B623-424A-AF7B-EE34AF197FCC}"/>
              </a:ext>
            </a:extLst>
          </p:cNvPr>
          <p:cNvSpPr/>
          <p:nvPr/>
        </p:nvSpPr>
        <p:spPr>
          <a:xfrm>
            <a:off x="714497" y="2727699"/>
            <a:ext cx="9159805" cy="25408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285750" marR="0" lvl="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tabLst>
                <a:tab pos="2286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Handwashing signs or posters are posted in areas with food preparation, restrooms, and all handwashing sinks in a language that all staff members can understand.</a:t>
            </a:r>
          </a:p>
          <a:p>
            <a:pPr marL="285750" marR="0" lvl="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tabLst>
                <a:tab pos="2286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W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ashing hands at designated handwashing sinks. </a:t>
            </a:r>
          </a:p>
          <a:p>
            <a:pPr marL="285750" marR="0" lvl="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tabLst>
                <a:tab pos="2286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Handwashing stations have warm running water, soap, and a means to dry hands. A waste container at each handwashing sink or near the door in restrooms is provided.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Handwashing stations in the facilities are available.</a:t>
            </a:r>
            <a:endParaRPr lang="en-US" sz="2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21119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E3F4F9-2B65-4AC8-AB80-16F654285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865" y="5634704"/>
            <a:ext cx="1597775" cy="581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E02F41-43CF-4D4F-8989-305F89322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2495" y="5736156"/>
            <a:ext cx="1737287" cy="492335"/>
          </a:xfrm>
          <a:prstGeom prst="rect">
            <a:avLst/>
          </a:prstGeom>
        </p:spPr>
      </p:pic>
      <p:pic>
        <p:nvPicPr>
          <p:cNvPr id="9" name="Graphic 8" descr="Receiver">
            <a:extLst>
              <a:ext uri="{FF2B5EF4-FFF2-40B4-BE49-F238E27FC236}">
                <a16:creationId xmlns:a16="http://schemas.microsoft.com/office/drawing/2014/main" id="{8B0BF13C-7F2D-42D4-9C70-BCACA145C7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72765" y="5648050"/>
            <a:ext cx="176212" cy="1762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1B2303-AD1C-4651-9C2B-D9DA179F9814}"/>
              </a:ext>
            </a:extLst>
          </p:cNvPr>
          <p:cNvSpPr txBox="1"/>
          <p:nvPr/>
        </p:nvSpPr>
        <p:spPr>
          <a:xfrm>
            <a:off x="5760871" y="5634704"/>
            <a:ext cx="11033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1-202-983-3002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C8A2B0-C8A1-491A-A1EF-CDB9D44A2848}"/>
              </a:ext>
            </a:extLst>
          </p:cNvPr>
          <p:cNvSpPr txBox="1"/>
          <p:nvPr/>
        </p:nvSpPr>
        <p:spPr>
          <a:xfrm>
            <a:off x="5846998" y="5872736"/>
            <a:ext cx="1597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services@interlinkiq.com</a:t>
            </a:r>
          </a:p>
        </p:txBody>
      </p:sp>
      <p:pic>
        <p:nvPicPr>
          <p:cNvPr id="15" name="Graphic 14" descr="Envelope">
            <a:extLst>
              <a:ext uri="{FF2B5EF4-FFF2-40B4-BE49-F238E27FC236}">
                <a16:creationId xmlns:a16="http://schemas.microsoft.com/office/drawing/2014/main" id="{8601DBA0-3F7D-4630-9F64-0CAACC1038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41317" y="5872649"/>
            <a:ext cx="231880" cy="2318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01829DE-85B0-449F-B7FC-A4BD2D647B6F}"/>
              </a:ext>
            </a:extLst>
          </p:cNvPr>
          <p:cNvSpPr txBox="1"/>
          <p:nvPr/>
        </p:nvSpPr>
        <p:spPr>
          <a:xfrm>
            <a:off x="5846998" y="6108691"/>
            <a:ext cx="1597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www.InterlinkIQ.com</a:t>
            </a:r>
          </a:p>
        </p:txBody>
      </p:sp>
      <p:pic>
        <p:nvPicPr>
          <p:cNvPr id="18" name="Graphic 17" descr="Internet">
            <a:extLst>
              <a:ext uri="{FF2B5EF4-FFF2-40B4-BE49-F238E27FC236}">
                <a16:creationId xmlns:a16="http://schemas.microsoft.com/office/drawing/2014/main" id="{78CF71B0-221B-4E26-A17E-E3C991332A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92303" y="6069488"/>
            <a:ext cx="329909" cy="32990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7B67DAE-649C-4A8E-B933-505D9411CBC7}"/>
              </a:ext>
            </a:extLst>
          </p:cNvPr>
          <p:cNvSpPr/>
          <p:nvPr/>
        </p:nvSpPr>
        <p:spPr>
          <a:xfrm>
            <a:off x="685466" y="503290"/>
            <a:ext cx="337757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Best Practices</a:t>
            </a:r>
            <a:endParaRPr 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6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4EDFC3-B623-424A-AF7B-EE34AF197FCC}"/>
              </a:ext>
            </a:extLst>
          </p:cNvPr>
          <p:cNvSpPr/>
          <p:nvPr/>
        </p:nvSpPr>
        <p:spPr>
          <a:xfrm>
            <a:off x="573323" y="1566900"/>
            <a:ext cx="9159805" cy="39703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Before starting work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During food preparation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When moving from one food preparation area to another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Before putting on or changing gloves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After using the toilet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After sneezing, coughing, or using a handkerchief or tissue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After touching hair, face, or body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After smoking, eating, drinking, or chewing gum or tobacco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After handling raw meats, poultry, or fish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After any clean-up activity such as sweeping, mopping, or wiping counters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After touching dirty dishes, equipment, or utensils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After handling trash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After handling money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After any time the hands may become contaminated</a:t>
            </a:r>
            <a:endParaRPr lang="en-US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AF53D9-9C9D-40D7-858B-B9AFDA268D8C}"/>
              </a:ext>
            </a:extLst>
          </p:cNvPr>
          <p:cNvSpPr txBox="1"/>
          <p:nvPr/>
        </p:nvSpPr>
        <p:spPr>
          <a:xfrm>
            <a:off x="685467" y="1197568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Washing hands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424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E3F4F9-2B65-4AC8-AB80-16F654285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865" y="5634704"/>
            <a:ext cx="1597775" cy="581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E02F41-43CF-4D4F-8989-305F89322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2495" y="5736156"/>
            <a:ext cx="1737287" cy="492335"/>
          </a:xfrm>
          <a:prstGeom prst="rect">
            <a:avLst/>
          </a:prstGeom>
        </p:spPr>
      </p:pic>
      <p:pic>
        <p:nvPicPr>
          <p:cNvPr id="9" name="Graphic 8" descr="Receiver">
            <a:extLst>
              <a:ext uri="{FF2B5EF4-FFF2-40B4-BE49-F238E27FC236}">
                <a16:creationId xmlns:a16="http://schemas.microsoft.com/office/drawing/2014/main" id="{8B0BF13C-7F2D-42D4-9C70-BCACA145C7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72765" y="5648050"/>
            <a:ext cx="176212" cy="1762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1B2303-AD1C-4651-9C2B-D9DA179F9814}"/>
              </a:ext>
            </a:extLst>
          </p:cNvPr>
          <p:cNvSpPr txBox="1"/>
          <p:nvPr/>
        </p:nvSpPr>
        <p:spPr>
          <a:xfrm>
            <a:off x="5760871" y="5634704"/>
            <a:ext cx="11033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1-202-983-3002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C8A2B0-C8A1-491A-A1EF-CDB9D44A2848}"/>
              </a:ext>
            </a:extLst>
          </p:cNvPr>
          <p:cNvSpPr txBox="1"/>
          <p:nvPr/>
        </p:nvSpPr>
        <p:spPr>
          <a:xfrm>
            <a:off x="5846998" y="5872736"/>
            <a:ext cx="1597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services@interlinkiq.com</a:t>
            </a:r>
          </a:p>
        </p:txBody>
      </p:sp>
      <p:pic>
        <p:nvPicPr>
          <p:cNvPr id="15" name="Graphic 14" descr="Envelope">
            <a:extLst>
              <a:ext uri="{FF2B5EF4-FFF2-40B4-BE49-F238E27FC236}">
                <a16:creationId xmlns:a16="http://schemas.microsoft.com/office/drawing/2014/main" id="{8601DBA0-3F7D-4630-9F64-0CAACC1038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41317" y="5872649"/>
            <a:ext cx="231880" cy="2318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01829DE-85B0-449F-B7FC-A4BD2D647B6F}"/>
              </a:ext>
            </a:extLst>
          </p:cNvPr>
          <p:cNvSpPr txBox="1"/>
          <p:nvPr/>
        </p:nvSpPr>
        <p:spPr>
          <a:xfrm>
            <a:off x="5846998" y="6108691"/>
            <a:ext cx="1597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www.InterlinkIQ.com</a:t>
            </a:r>
          </a:p>
        </p:txBody>
      </p:sp>
      <p:pic>
        <p:nvPicPr>
          <p:cNvPr id="18" name="Graphic 17" descr="Internet">
            <a:extLst>
              <a:ext uri="{FF2B5EF4-FFF2-40B4-BE49-F238E27FC236}">
                <a16:creationId xmlns:a16="http://schemas.microsoft.com/office/drawing/2014/main" id="{78CF71B0-221B-4E26-A17E-E3C991332A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92303" y="6069488"/>
            <a:ext cx="329909" cy="32990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7B67DAE-649C-4A8E-B933-505D9411CBC7}"/>
              </a:ext>
            </a:extLst>
          </p:cNvPr>
          <p:cNvSpPr/>
          <p:nvPr/>
        </p:nvSpPr>
        <p:spPr>
          <a:xfrm>
            <a:off x="685467" y="503290"/>
            <a:ext cx="298651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Procedure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AF53D9-9C9D-40D7-858B-B9AFDA268D8C}"/>
              </a:ext>
            </a:extLst>
          </p:cNvPr>
          <p:cNvSpPr txBox="1"/>
          <p:nvPr/>
        </p:nvSpPr>
        <p:spPr>
          <a:xfrm>
            <a:off x="685467" y="1197568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Traditional handwashing procedures 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711832-70A6-4A98-AF3D-7E84659FB6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467" y="1566900"/>
            <a:ext cx="1597775" cy="13143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7E4198-DD9F-40CD-ABE8-CC254A1E483E}"/>
              </a:ext>
            </a:extLst>
          </p:cNvPr>
          <p:cNvSpPr txBox="1"/>
          <p:nvPr/>
        </p:nvSpPr>
        <p:spPr>
          <a:xfrm>
            <a:off x="2078967" y="2052940"/>
            <a:ext cx="3907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 1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Wet hands and forearms with warm, running water at least 100 ºF.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45E36A-83E3-4D17-94BE-822FDECC9C7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0814" y="2682272"/>
            <a:ext cx="1807080" cy="131432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CFC1D0E-7BEF-46A0-B672-53C93CCB94F0}"/>
              </a:ext>
            </a:extLst>
          </p:cNvPr>
          <p:cNvSpPr txBox="1"/>
          <p:nvPr/>
        </p:nvSpPr>
        <p:spPr>
          <a:xfrm>
            <a:off x="2078966" y="3173109"/>
            <a:ext cx="6538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Step 2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- 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pply soap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E12234-4473-41C9-BDD8-01FDE40040B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0429" y="3834326"/>
            <a:ext cx="1807080" cy="116929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742F42-0B20-470D-9799-18F53497C997}"/>
              </a:ext>
            </a:extLst>
          </p:cNvPr>
          <p:cNvSpPr txBox="1"/>
          <p:nvPr/>
        </p:nvSpPr>
        <p:spPr>
          <a:xfrm>
            <a:off x="2050571" y="4193435"/>
            <a:ext cx="41406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Step 3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- 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crub lathered hands and forearms, under fingernails, and between fingers for at least 10-15 seconds.</a:t>
            </a:r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676A966-88AF-4F93-AC08-145318BDBBB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22212" y="1606102"/>
            <a:ext cx="1555801" cy="124078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9E424E4-FC88-4320-8C80-989765812033}"/>
              </a:ext>
            </a:extLst>
          </p:cNvPr>
          <p:cNvSpPr txBox="1"/>
          <p:nvPr/>
        </p:nvSpPr>
        <p:spPr>
          <a:xfrm>
            <a:off x="7303699" y="2035941"/>
            <a:ext cx="39077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 4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Rinse thoroughly under warm running water for 5-10 seconds.</a:t>
            </a:r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B94E07A-DD4D-4914-90A2-53F095399BD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35947" y="2733904"/>
            <a:ext cx="1728330" cy="16088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3D48E56-15A0-43AD-ACA4-26215A7B8CE7}"/>
              </a:ext>
            </a:extLst>
          </p:cNvPr>
          <p:cNvSpPr txBox="1"/>
          <p:nvPr/>
        </p:nvSpPr>
        <p:spPr>
          <a:xfrm>
            <a:off x="7303699" y="3051359"/>
            <a:ext cx="39077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 5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Dry hands and forearms thoroughly with single-use paper towels.</a:t>
            </a:r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B6157E5-6797-40EA-B271-C5A044AEA3D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35947" y="3868662"/>
            <a:ext cx="1807081" cy="112508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F296BE2-A952-4AE6-BA73-A2A39CDF2D38}"/>
              </a:ext>
            </a:extLst>
          </p:cNvPr>
          <p:cNvSpPr txBox="1"/>
          <p:nvPr/>
        </p:nvSpPr>
        <p:spPr>
          <a:xfrm>
            <a:off x="7303699" y="3973178"/>
            <a:ext cx="3907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 6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Turn off the water using paper towels.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693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E3F4F9-2B65-4AC8-AB80-16F654285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865" y="5634704"/>
            <a:ext cx="1597775" cy="581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E02F41-43CF-4D4F-8989-305F89322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2495" y="5736156"/>
            <a:ext cx="1737287" cy="492335"/>
          </a:xfrm>
          <a:prstGeom prst="rect">
            <a:avLst/>
          </a:prstGeom>
        </p:spPr>
      </p:pic>
      <p:pic>
        <p:nvPicPr>
          <p:cNvPr id="9" name="Graphic 8" descr="Receiver">
            <a:extLst>
              <a:ext uri="{FF2B5EF4-FFF2-40B4-BE49-F238E27FC236}">
                <a16:creationId xmlns:a16="http://schemas.microsoft.com/office/drawing/2014/main" id="{8B0BF13C-7F2D-42D4-9C70-BCACA145C7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72765" y="5648050"/>
            <a:ext cx="176212" cy="1762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1B2303-AD1C-4651-9C2B-D9DA179F9814}"/>
              </a:ext>
            </a:extLst>
          </p:cNvPr>
          <p:cNvSpPr txBox="1"/>
          <p:nvPr/>
        </p:nvSpPr>
        <p:spPr>
          <a:xfrm>
            <a:off x="5760871" y="5634704"/>
            <a:ext cx="11033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1-202-983-3002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C8A2B0-C8A1-491A-A1EF-CDB9D44A2848}"/>
              </a:ext>
            </a:extLst>
          </p:cNvPr>
          <p:cNvSpPr txBox="1"/>
          <p:nvPr/>
        </p:nvSpPr>
        <p:spPr>
          <a:xfrm>
            <a:off x="5846998" y="5872736"/>
            <a:ext cx="1597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services@interlinkiq.com</a:t>
            </a:r>
          </a:p>
        </p:txBody>
      </p:sp>
      <p:pic>
        <p:nvPicPr>
          <p:cNvPr id="15" name="Graphic 14" descr="Envelope">
            <a:extLst>
              <a:ext uri="{FF2B5EF4-FFF2-40B4-BE49-F238E27FC236}">
                <a16:creationId xmlns:a16="http://schemas.microsoft.com/office/drawing/2014/main" id="{8601DBA0-3F7D-4630-9F64-0CAACC1038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41317" y="5872649"/>
            <a:ext cx="231880" cy="2318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01829DE-85B0-449F-B7FC-A4BD2D647B6F}"/>
              </a:ext>
            </a:extLst>
          </p:cNvPr>
          <p:cNvSpPr txBox="1"/>
          <p:nvPr/>
        </p:nvSpPr>
        <p:spPr>
          <a:xfrm>
            <a:off x="5846998" y="6108691"/>
            <a:ext cx="1597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www.InterlinkIQ.com</a:t>
            </a:r>
          </a:p>
        </p:txBody>
      </p:sp>
      <p:pic>
        <p:nvPicPr>
          <p:cNvPr id="18" name="Graphic 17" descr="Internet">
            <a:extLst>
              <a:ext uri="{FF2B5EF4-FFF2-40B4-BE49-F238E27FC236}">
                <a16:creationId xmlns:a16="http://schemas.microsoft.com/office/drawing/2014/main" id="{78CF71B0-221B-4E26-A17E-E3C991332A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92303" y="6069488"/>
            <a:ext cx="329909" cy="32990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7B67DAE-649C-4A8E-B933-505D9411CBC7}"/>
              </a:ext>
            </a:extLst>
          </p:cNvPr>
          <p:cNvSpPr/>
          <p:nvPr/>
        </p:nvSpPr>
        <p:spPr>
          <a:xfrm>
            <a:off x="685467" y="503290"/>
            <a:ext cx="298651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Procedure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AF53D9-9C9D-40D7-858B-B9AFDA268D8C}"/>
              </a:ext>
            </a:extLst>
          </p:cNvPr>
          <p:cNvSpPr txBox="1"/>
          <p:nvPr/>
        </p:nvSpPr>
        <p:spPr>
          <a:xfrm>
            <a:off x="685467" y="1197568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Automated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handwashing procedures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E37ABF-9C81-4EDD-BB5A-88673F4FA2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467" y="1656453"/>
            <a:ext cx="1307235" cy="9834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F98FB8-9060-4E48-8EA9-73CCD705E4AE}"/>
              </a:ext>
            </a:extLst>
          </p:cNvPr>
          <p:cNvSpPr txBox="1"/>
          <p:nvPr/>
        </p:nvSpPr>
        <p:spPr>
          <a:xfrm>
            <a:off x="1976613" y="1794666"/>
            <a:ext cx="38703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 1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Place your hands in autodetect faucet to wet your hands and forearms with warm, running water at least 100 ºF.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2FEA9C3-BBB2-46B2-9DD9-8DEDF157AD3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5414" y="2904524"/>
            <a:ext cx="1503425" cy="104895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04494A6-CD46-47FD-91F1-E7E16FC170F1}"/>
              </a:ext>
            </a:extLst>
          </p:cNvPr>
          <p:cNvSpPr txBox="1"/>
          <p:nvPr/>
        </p:nvSpPr>
        <p:spPr>
          <a:xfrm>
            <a:off x="1976613" y="3103535"/>
            <a:ext cx="4034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Step 2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- 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pply soap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F21D375-B0E6-450F-933B-7191F7F240E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6349" y="4267495"/>
            <a:ext cx="1307235" cy="85098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AE2B8D6-0CB3-4675-83C0-53F61A3B9976}"/>
              </a:ext>
            </a:extLst>
          </p:cNvPr>
          <p:cNvSpPr txBox="1"/>
          <p:nvPr/>
        </p:nvSpPr>
        <p:spPr>
          <a:xfrm>
            <a:off x="1976612" y="4313231"/>
            <a:ext cx="43379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3 -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crub lathered hands and forearms, under fingernails, and between fingers for at least 10-15 seconds.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16CD63A-F2C6-4558-AD9D-509C6433571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0" y="1656453"/>
            <a:ext cx="1307235" cy="107956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AF4A875-2FD5-4D22-AFB8-01AB03066748}"/>
              </a:ext>
            </a:extLst>
          </p:cNvPr>
          <p:cNvSpPr txBox="1"/>
          <p:nvPr/>
        </p:nvSpPr>
        <p:spPr>
          <a:xfrm>
            <a:off x="7417110" y="1864785"/>
            <a:ext cx="37609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Step 4 </a:t>
            </a:r>
            <a:r>
              <a:rPr lang="en-US" dirty="0"/>
              <a:t>-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Rinse thoroughly under warm running water for 5-10 seconds.</a:t>
            </a:r>
          </a:p>
          <a:p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CA469D6-7CAF-4980-81F8-87A11F3ED23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52760" y="2924177"/>
            <a:ext cx="1592013" cy="167430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B050936-931E-4B02-B8DB-8F0DD61BDA25}"/>
              </a:ext>
            </a:extLst>
          </p:cNvPr>
          <p:cNvSpPr txBox="1"/>
          <p:nvPr/>
        </p:nvSpPr>
        <p:spPr>
          <a:xfrm>
            <a:off x="7565366" y="3372110"/>
            <a:ext cx="3502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Step 5 </a:t>
            </a:r>
            <a:r>
              <a:rPr lang="en-US" dirty="0"/>
              <a:t>- </a:t>
            </a:r>
          </a:p>
        </p:txBody>
      </p:sp>
    </p:spTree>
    <p:extLst>
      <p:ext uri="{BB962C8B-B14F-4D97-AF65-F5344CB8AC3E}">
        <p14:creationId xmlns:p14="http://schemas.microsoft.com/office/powerpoint/2010/main" val="3831914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E3F4F9-2B65-4AC8-AB80-16F654285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865" y="5634704"/>
            <a:ext cx="1597775" cy="581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E02F41-43CF-4D4F-8989-305F89322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2495" y="5736156"/>
            <a:ext cx="1737287" cy="492335"/>
          </a:xfrm>
          <a:prstGeom prst="rect">
            <a:avLst/>
          </a:prstGeom>
        </p:spPr>
      </p:pic>
      <p:pic>
        <p:nvPicPr>
          <p:cNvPr id="9" name="Graphic 8" descr="Receiver">
            <a:extLst>
              <a:ext uri="{FF2B5EF4-FFF2-40B4-BE49-F238E27FC236}">
                <a16:creationId xmlns:a16="http://schemas.microsoft.com/office/drawing/2014/main" id="{8B0BF13C-7F2D-42D4-9C70-BCACA145C7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72765" y="5648050"/>
            <a:ext cx="176212" cy="1762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1B2303-AD1C-4651-9C2B-D9DA179F9814}"/>
              </a:ext>
            </a:extLst>
          </p:cNvPr>
          <p:cNvSpPr txBox="1"/>
          <p:nvPr/>
        </p:nvSpPr>
        <p:spPr>
          <a:xfrm>
            <a:off x="5760871" y="5634704"/>
            <a:ext cx="11033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1-202-983-3002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C8A2B0-C8A1-491A-A1EF-CDB9D44A2848}"/>
              </a:ext>
            </a:extLst>
          </p:cNvPr>
          <p:cNvSpPr txBox="1"/>
          <p:nvPr/>
        </p:nvSpPr>
        <p:spPr>
          <a:xfrm>
            <a:off x="5846998" y="5872736"/>
            <a:ext cx="1597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services@interlinkiq.com</a:t>
            </a:r>
          </a:p>
        </p:txBody>
      </p:sp>
      <p:pic>
        <p:nvPicPr>
          <p:cNvPr id="15" name="Graphic 14" descr="Envelope">
            <a:extLst>
              <a:ext uri="{FF2B5EF4-FFF2-40B4-BE49-F238E27FC236}">
                <a16:creationId xmlns:a16="http://schemas.microsoft.com/office/drawing/2014/main" id="{8601DBA0-3F7D-4630-9F64-0CAACC1038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41317" y="5872649"/>
            <a:ext cx="231880" cy="2318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01829DE-85B0-449F-B7FC-A4BD2D647B6F}"/>
              </a:ext>
            </a:extLst>
          </p:cNvPr>
          <p:cNvSpPr txBox="1"/>
          <p:nvPr/>
        </p:nvSpPr>
        <p:spPr>
          <a:xfrm>
            <a:off x="5846998" y="6108691"/>
            <a:ext cx="1597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www.InterlinkIQ.com</a:t>
            </a:r>
          </a:p>
        </p:txBody>
      </p:sp>
      <p:pic>
        <p:nvPicPr>
          <p:cNvPr id="18" name="Graphic 17" descr="Internet">
            <a:extLst>
              <a:ext uri="{FF2B5EF4-FFF2-40B4-BE49-F238E27FC236}">
                <a16:creationId xmlns:a16="http://schemas.microsoft.com/office/drawing/2014/main" id="{78CF71B0-221B-4E26-A17E-E3C991332A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92303" y="6069488"/>
            <a:ext cx="329909" cy="32990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7B67DAE-649C-4A8E-B933-505D9411CBC7}"/>
              </a:ext>
            </a:extLst>
          </p:cNvPr>
          <p:cNvSpPr/>
          <p:nvPr/>
        </p:nvSpPr>
        <p:spPr>
          <a:xfrm>
            <a:off x="685467" y="503290"/>
            <a:ext cx="298651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Procedure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4EDFC3-B623-424A-AF7B-EE34AF197FCC}"/>
              </a:ext>
            </a:extLst>
          </p:cNvPr>
          <p:cNvSpPr/>
          <p:nvPr/>
        </p:nvSpPr>
        <p:spPr>
          <a:xfrm>
            <a:off x="573323" y="1566900"/>
            <a:ext cx="9159805" cy="29510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R="0"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Wet hands and forearms with warm, running water at least 100 ºF.</a:t>
            </a:r>
          </a:p>
          <a:p>
            <a:pPr marR="0"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pply soap</a:t>
            </a:r>
          </a:p>
          <a:p>
            <a:pPr marR="0"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crub lathered hands and forearms, under fingernails, and between fingers for at least 10-15 seconds.  </a:t>
            </a:r>
          </a:p>
          <a:p>
            <a:pPr marR="0"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Rinse thoroughly under warm running water for 5-10 seconds.</a:t>
            </a:r>
          </a:p>
          <a:p>
            <a:pPr marR="0"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Dry hands and forearms thoroughly with single-use paper towels.</a:t>
            </a:r>
          </a:p>
          <a:p>
            <a:pPr marR="0"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Turn off the water using paper towels.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AF53D9-9C9D-40D7-858B-B9AFDA268D8C}"/>
              </a:ext>
            </a:extLst>
          </p:cNvPr>
          <p:cNvSpPr txBox="1"/>
          <p:nvPr/>
        </p:nvSpPr>
        <p:spPr>
          <a:xfrm>
            <a:off x="685467" y="1197568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Automated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handwashing procedures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759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490</Words>
  <Application>Microsoft Office PowerPoint</Application>
  <PresentationFormat>Widescreen</PresentationFormat>
  <Paragraphs>66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Ryzen</dc:creator>
  <cp:lastModifiedBy>Ryzen</cp:lastModifiedBy>
  <cp:revision>25</cp:revision>
  <dcterms:created xsi:type="dcterms:W3CDTF">2022-11-14T22:54:59Z</dcterms:created>
  <dcterms:modified xsi:type="dcterms:W3CDTF">2022-11-23T21:30:41Z</dcterms:modified>
</cp:coreProperties>
</file>