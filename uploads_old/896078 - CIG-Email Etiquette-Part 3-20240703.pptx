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19"/>
  </p:notesMasterIdLst>
  <p:sldIdLst>
    <p:sldId id="256" r:id="rId2"/>
    <p:sldId id="261" r:id="rId3"/>
    <p:sldId id="358" r:id="rId4"/>
    <p:sldId id="359" r:id="rId5"/>
    <p:sldId id="361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69" r:id="rId14"/>
    <p:sldId id="370" r:id="rId15"/>
    <p:sldId id="372" r:id="rId16"/>
    <p:sldId id="373" r:id="rId17"/>
    <p:sldId id="374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87BBE2-F8AB-4FFC-AB9A-B3BEF387CB69}">
  <a:tblStyle styleId="{7287BBE2-F8AB-4FFC-AB9A-B3BEF387CB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978" autoAdjust="0"/>
  </p:normalViewPr>
  <p:slideViewPr>
    <p:cSldViewPr snapToGrid="0">
      <p:cViewPr varScale="1">
        <p:scale>
          <a:sx n="80" d="100"/>
          <a:sy n="80" d="100"/>
        </p:scale>
        <p:origin x="1116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099731c88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7099731c88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91127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41367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1943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Temporary email addresses are used by CIG employees who have not yet been assigned a corporate email.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1305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3184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364659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6491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229625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80356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1707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16854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3994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90454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7382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badcde8f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g2cbadcde8f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9917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 rot="1084339">
            <a:off x="-2572063" y="3352662"/>
            <a:ext cx="5960266" cy="4112640"/>
          </a:xfrm>
          <a:custGeom>
            <a:avLst/>
            <a:gdLst/>
            <a:ahLst/>
            <a:cxnLst/>
            <a:rect l="l" t="t" r="r" b="b"/>
            <a:pathLst>
              <a:path w="11928886" h="8231043" extrusionOk="0">
                <a:moveTo>
                  <a:pt x="0" y="0"/>
                </a:moveTo>
                <a:lnTo>
                  <a:pt x="11928886" y="0"/>
                </a:lnTo>
                <a:lnTo>
                  <a:pt x="11928886" y="8231043"/>
                </a:lnTo>
                <a:lnTo>
                  <a:pt x="0" y="8231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</p:sp>
      <p:sp>
        <p:nvSpPr>
          <p:cNvPr id="130" name="Google Shape;130;p25"/>
          <p:cNvSpPr/>
          <p:nvPr/>
        </p:nvSpPr>
        <p:spPr>
          <a:xfrm rot="137437" flipH="1">
            <a:off x="7650251" y="197886"/>
            <a:ext cx="3367394" cy="2736773"/>
          </a:xfrm>
          <a:custGeom>
            <a:avLst/>
            <a:gdLst/>
            <a:ahLst/>
            <a:cxnLst/>
            <a:rect l="l" t="t" r="r" b="b"/>
            <a:pathLst>
              <a:path w="6729406" h="5469172" extrusionOk="0">
                <a:moveTo>
                  <a:pt x="6729406" y="0"/>
                </a:moveTo>
                <a:lnTo>
                  <a:pt x="0" y="0"/>
                </a:lnTo>
                <a:lnTo>
                  <a:pt x="0" y="5469172"/>
                </a:lnTo>
                <a:lnTo>
                  <a:pt x="6729406" y="5469172"/>
                </a:lnTo>
                <a:lnTo>
                  <a:pt x="6729406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25"/>
          <p:cNvSpPr txBox="1"/>
          <p:nvPr/>
        </p:nvSpPr>
        <p:spPr>
          <a:xfrm>
            <a:off x="1604300" y="532125"/>
            <a:ext cx="8217900" cy="25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marR="0" lvl="0" indent="0" algn="ctr" rtl="0">
              <a:lnSpc>
                <a:spcPct val="16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endParaRPr sz="4000" b="1" i="0" u="none" strike="noStrike" cap="none">
              <a:solidFill>
                <a:srgbClr val="004AAD"/>
              </a:solidFill>
              <a:highlight>
                <a:srgbClr val="00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54549" y="2571749"/>
            <a:ext cx="4615175" cy="171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5250" y="532126"/>
            <a:ext cx="5144146" cy="171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2463994" y="2146350"/>
            <a:ext cx="3677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4A86E8"/>
                </a:solidFill>
                <a:latin typeface="Montserrat"/>
                <a:ea typeface="Montserrat"/>
                <a:cs typeface="Montserrat"/>
                <a:sym typeface="Montserrat"/>
              </a:rPr>
              <a:t>Powered by</a:t>
            </a:r>
            <a:endParaRPr sz="2500" b="1">
              <a:solidFill>
                <a:srgbClr val="4A86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SCOPE</a:t>
            </a: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7004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1384177"/>
            <a:ext cx="7957031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Definition</a:t>
            </a:r>
            <a:endParaRPr lang="en-US" sz="2000" b="0" i="0" u="none" strike="noStrike" cap="none" dirty="0">
              <a:solidFill>
                <a:schemeClr val="bg2">
                  <a:lumMod val="40000"/>
                  <a:lumOff val="60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b="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Key Components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Best Practices</a:t>
            </a:r>
          </a:p>
          <a:p>
            <a:pPr marL="457200" marR="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PH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14813"/>
            <a:ext cx="5396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PART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lang="en-PH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1488236"/>
            <a:ext cx="76356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408698" y="2234182"/>
            <a:ext cx="8361815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PH" sz="3200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</a:t>
            </a:r>
          </a:p>
        </p:txBody>
      </p:sp>
    </p:spTree>
    <p:extLst>
      <p:ext uri="{BB962C8B-B14F-4D97-AF65-F5344CB8AC3E}">
        <p14:creationId xmlns:p14="http://schemas.microsoft.com/office/powerpoint/2010/main" val="247462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p30"/>
          <p:cNvSpPr txBox="1"/>
          <p:nvPr/>
        </p:nvSpPr>
        <p:spPr>
          <a:xfrm>
            <a:off x="457200" y="302781"/>
            <a:ext cx="78256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Key Components</a:t>
            </a:r>
          </a:p>
        </p:txBody>
      </p: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29CAD75-65BB-F1F6-0FDD-E3E6972F2324}"/>
              </a:ext>
            </a:extLst>
          </p:cNvPr>
          <p:cNvGrpSpPr/>
          <p:nvPr/>
        </p:nvGrpSpPr>
        <p:grpSpPr>
          <a:xfrm>
            <a:off x="853174" y="763978"/>
            <a:ext cx="6890291" cy="4307332"/>
            <a:chOff x="853174" y="763978"/>
            <a:chExt cx="6890291" cy="430733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5AFB258-77B4-6B81-BFF2-CBCF82222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801980" y="763978"/>
              <a:ext cx="3941485" cy="4307332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EC7FEC1-6B7E-69FF-0416-F7D127D77FF1}"/>
                </a:ext>
              </a:extLst>
            </p:cNvPr>
            <p:cNvGrpSpPr/>
            <p:nvPr/>
          </p:nvGrpSpPr>
          <p:grpSpPr>
            <a:xfrm>
              <a:off x="3172321" y="816103"/>
              <a:ext cx="713690" cy="3162515"/>
              <a:chOff x="3172321" y="816103"/>
              <a:chExt cx="713690" cy="3162515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09E40C70-DB5B-2F31-AC0C-02562D330919}"/>
                  </a:ext>
                </a:extLst>
              </p:cNvPr>
              <p:cNvSpPr/>
              <p:nvPr/>
            </p:nvSpPr>
            <p:spPr>
              <a:xfrm>
                <a:off x="3172327" y="1072794"/>
                <a:ext cx="481263" cy="9026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2" name="Arrow: Right 11">
                <a:extLst>
                  <a:ext uri="{FF2B5EF4-FFF2-40B4-BE49-F238E27FC236}">
                    <a16:creationId xmlns:a16="http://schemas.microsoft.com/office/drawing/2014/main" id="{B4E30931-F188-5939-6004-FDC91560DBD8}"/>
                  </a:ext>
                </a:extLst>
              </p:cNvPr>
              <p:cNvSpPr/>
              <p:nvPr/>
            </p:nvSpPr>
            <p:spPr>
              <a:xfrm>
                <a:off x="3172323" y="1722506"/>
                <a:ext cx="481263" cy="9026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3" name="Arrow: Right 12">
                <a:extLst>
                  <a:ext uri="{FF2B5EF4-FFF2-40B4-BE49-F238E27FC236}">
                    <a16:creationId xmlns:a16="http://schemas.microsoft.com/office/drawing/2014/main" id="{B34B2B16-3566-8CCD-EB27-1F14DEA6C407}"/>
                  </a:ext>
                </a:extLst>
              </p:cNvPr>
              <p:cNvSpPr/>
              <p:nvPr/>
            </p:nvSpPr>
            <p:spPr>
              <a:xfrm>
                <a:off x="3172321" y="1975158"/>
                <a:ext cx="481263" cy="9026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4" name="Arrow: Right 13">
                <a:extLst>
                  <a:ext uri="{FF2B5EF4-FFF2-40B4-BE49-F238E27FC236}">
                    <a16:creationId xmlns:a16="http://schemas.microsoft.com/office/drawing/2014/main" id="{840C7B61-5347-15F3-4775-B6D7E39F5150}"/>
                  </a:ext>
                </a:extLst>
              </p:cNvPr>
              <p:cNvSpPr/>
              <p:nvPr/>
            </p:nvSpPr>
            <p:spPr>
              <a:xfrm>
                <a:off x="3172322" y="2576738"/>
                <a:ext cx="481263" cy="9026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5" name="Left Brace 14">
                <a:extLst>
                  <a:ext uri="{FF2B5EF4-FFF2-40B4-BE49-F238E27FC236}">
                    <a16:creationId xmlns:a16="http://schemas.microsoft.com/office/drawing/2014/main" id="{E645D509-38F6-207A-BB6E-84563B92949D}"/>
                  </a:ext>
                </a:extLst>
              </p:cNvPr>
              <p:cNvSpPr/>
              <p:nvPr/>
            </p:nvSpPr>
            <p:spPr>
              <a:xfrm>
                <a:off x="3814011" y="2227810"/>
                <a:ext cx="72000" cy="756000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PH" dirty="0"/>
              </a:p>
            </p:txBody>
          </p:sp>
          <p:sp>
            <p:nvSpPr>
              <p:cNvPr id="16" name="Arrow: Right 15">
                <a:extLst>
                  <a:ext uri="{FF2B5EF4-FFF2-40B4-BE49-F238E27FC236}">
                    <a16:creationId xmlns:a16="http://schemas.microsoft.com/office/drawing/2014/main" id="{63E8F8A7-C620-FD0E-ED25-6BA815E4CC91}"/>
                  </a:ext>
                </a:extLst>
              </p:cNvPr>
              <p:cNvSpPr/>
              <p:nvPr/>
            </p:nvSpPr>
            <p:spPr>
              <a:xfrm>
                <a:off x="3172448" y="3162276"/>
                <a:ext cx="481263" cy="72000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7" name="Arrow: Right 16">
                <a:extLst>
                  <a:ext uri="{FF2B5EF4-FFF2-40B4-BE49-F238E27FC236}">
                    <a16:creationId xmlns:a16="http://schemas.microsoft.com/office/drawing/2014/main" id="{07122454-FFAA-A6FE-E142-D2FC5629EDDC}"/>
                  </a:ext>
                </a:extLst>
              </p:cNvPr>
              <p:cNvSpPr/>
              <p:nvPr/>
            </p:nvSpPr>
            <p:spPr>
              <a:xfrm>
                <a:off x="3188369" y="3709868"/>
                <a:ext cx="481263" cy="90264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8" name="Left Brace 17">
                <a:extLst>
                  <a:ext uri="{FF2B5EF4-FFF2-40B4-BE49-F238E27FC236}">
                    <a16:creationId xmlns:a16="http://schemas.microsoft.com/office/drawing/2014/main" id="{8F448126-1F26-9AFE-B012-FA27F89C7857}"/>
                  </a:ext>
                </a:extLst>
              </p:cNvPr>
              <p:cNvSpPr/>
              <p:nvPr/>
            </p:nvSpPr>
            <p:spPr>
              <a:xfrm>
                <a:off x="3797967" y="3535246"/>
                <a:ext cx="72000" cy="443372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  <p:sp>
            <p:nvSpPr>
              <p:cNvPr id="19" name="Left Brace 18">
                <a:extLst>
                  <a:ext uri="{FF2B5EF4-FFF2-40B4-BE49-F238E27FC236}">
                    <a16:creationId xmlns:a16="http://schemas.microsoft.com/office/drawing/2014/main" id="{DE817AAB-FF86-9E22-4718-CE515DC4D901}"/>
                  </a:ext>
                </a:extLst>
              </p:cNvPr>
              <p:cNvSpPr/>
              <p:nvPr/>
            </p:nvSpPr>
            <p:spPr>
              <a:xfrm>
                <a:off x="3797965" y="816103"/>
                <a:ext cx="72000" cy="576000"/>
              </a:xfrm>
              <a:prstGeom prst="leftBrac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PH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AD9F0E-1091-7449-387A-C95BDD361B85}"/>
                </a:ext>
              </a:extLst>
            </p:cNvPr>
            <p:cNvSpPr txBox="1"/>
            <p:nvPr/>
          </p:nvSpPr>
          <p:spPr>
            <a:xfrm>
              <a:off x="861200" y="986590"/>
              <a:ext cx="223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Header/Recipients</a:t>
              </a:r>
              <a:endParaRPr lang="en-PH" sz="12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507979C-DAE4-9D70-8598-6D156761A71E}"/>
                </a:ext>
              </a:extLst>
            </p:cNvPr>
            <p:cNvSpPr txBox="1"/>
            <p:nvPr/>
          </p:nvSpPr>
          <p:spPr>
            <a:xfrm>
              <a:off x="869218" y="1620256"/>
              <a:ext cx="223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Subject Line</a:t>
              </a:r>
              <a:endParaRPr lang="en-PH" sz="12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FAFC7A-C176-557E-93AA-19AD08B947B9}"/>
                </a:ext>
              </a:extLst>
            </p:cNvPr>
            <p:cNvSpPr txBox="1"/>
            <p:nvPr/>
          </p:nvSpPr>
          <p:spPr>
            <a:xfrm>
              <a:off x="853174" y="1880942"/>
              <a:ext cx="223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Salutation</a:t>
              </a:r>
              <a:endParaRPr lang="en-PH" sz="12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C32A502-7BB0-2FE9-6AE3-BAC059A7C85F}"/>
                </a:ext>
              </a:extLst>
            </p:cNvPr>
            <p:cNvSpPr txBox="1"/>
            <p:nvPr/>
          </p:nvSpPr>
          <p:spPr>
            <a:xfrm>
              <a:off x="861192" y="2478514"/>
              <a:ext cx="223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Body</a:t>
              </a:r>
              <a:endParaRPr lang="en-PH" sz="12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53B24DB-C860-7F9B-63F8-5DB3B7EDEDC2}"/>
                </a:ext>
              </a:extLst>
            </p:cNvPr>
            <p:cNvSpPr txBox="1"/>
            <p:nvPr/>
          </p:nvSpPr>
          <p:spPr>
            <a:xfrm>
              <a:off x="869211" y="3052023"/>
              <a:ext cx="223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Sign off/Closing</a:t>
              </a:r>
              <a:endParaRPr lang="en-PH" sz="12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AFEEB3-6D0D-9E41-987F-D6381168D413}"/>
                </a:ext>
              </a:extLst>
            </p:cNvPr>
            <p:cNvSpPr txBox="1"/>
            <p:nvPr/>
          </p:nvSpPr>
          <p:spPr>
            <a:xfrm>
              <a:off x="865198" y="3601470"/>
              <a:ext cx="223092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bg2"/>
                  </a:solidFill>
                  <a:latin typeface="Montserrat" panose="00000500000000000000" pitchFamily="2" charset="0"/>
                </a:rPr>
                <a:t>Signature</a:t>
              </a:r>
              <a:endParaRPr lang="en-PH" sz="1200" dirty="0">
                <a:solidFill>
                  <a:schemeClr val="bg2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1303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32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Corporate email address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Reflects the affiliation with the organization.</a:t>
            </a:r>
            <a:endParaRPr lang="en-US" sz="1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janedoe@consultareinc.com</a:t>
            </a: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Centralized account email address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when communicating with the client and with the internal team 	concerning with the account handled.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services@consultareinc.com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	csuccess@consultareinc.com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Email address</a:t>
            </a:r>
          </a:p>
        </p:txBody>
      </p:sp>
    </p:spTree>
    <p:extLst>
      <p:ext uri="{BB962C8B-B14F-4D97-AF65-F5344CB8AC3E}">
        <p14:creationId xmlns:p14="http://schemas.microsoft.com/office/powerpoint/2010/main" val="147584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216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Temporary email address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Use for internal communications about personal or collaborative 	activities unrelated to the account being managed.</a:t>
            </a:r>
            <a:endParaRPr lang="en-US" sz="18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 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janedoe.qms@gmail.com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	maecruz.ojt@gmail.com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Email address</a:t>
            </a:r>
          </a:p>
        </p:txBody>
      </p:sp>
    </p:spTree>
    <p:extLst>
      <p:ext uri="{BB962C8B-B14F-4D97-AF65-F5344CB8AC3E}">
        <p14:creationId xmlns:p14="http://schemas.microsoft.com/office/powerpoint/2010/main" val="3405280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183958"/>
            <a:ext cx="8184003" cy="373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Internal/Interdepartmental email subject line format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CIG Department initials (i.e., CIG, HR, IT, CMS, PCQI)</a:t>
            </a:r>
            <a:b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Main topic/Project/Document name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Action to be taken, </a:t>
            </a:r>
            <a:r>
              <a:rPr lang="en-US" sz="1600" i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if applicable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Date</a:t>
            </a:r>
            <a:endParaRPr lang="en-US" sz="16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AutoNum type="arabicPeriod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CIG-Holiday Notice-Independence Day-July 4, 2024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AutoNum type="arabicPeriod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PCQI-QMS-2.2.2.P0-Document Control Program-For INT Review-20240703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AutoNum type="arabicPeriod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PCQI-QMS-2.1.1.P0-Management Responsibility Program-For Conversion-OJT Task-20240630 (for OJT task)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Subject line</a:t>
            </a:r>
          </a:p>
        </p:txBody>
      </p:sp>
    </p:spTree>
    <p:extLst>
      <p:ext uri="{BB962C8B-B14F-4D97-AF65-F5344CB8AC3E}">
        <p14:creationId xmlns:p14="http://schemas.microsoft.com/office/powerpoint/2010/main" val="1196515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123802"/>
            <a:ext cx="8184003" cy="3739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Internal/Account-specific email subject line format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Account’s initials (i.e., ABC [All Bread Company])</a:t>
            </a:r>
            <a:b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Main topic/Project/Document name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Action to be taken</a:t>
            </a:r>
            <a:endParaRPr lang="en-US" sz="1600" i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Date</a:t>
            </a:r>
            <a:endParaRPr lang="en-US" sz="16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ABC-Weekly Compliance Update-For INT Review-20240703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ABC-QMS-2.1.1.P0-Management Responsibility Program-For INT Approval-20240703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+mj-lt"/>
              <a:buAutoNum type="arabicPeriod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ABC-QMS-2.2.2.P0-Document Control Program-For Uploading-OJT Task-20240630 (for OJT task)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Subject line</a:t>
            </a:r>
          </a:p>
        </p:txBody>
      </p:sp>
    </p:spTree>
    <p:extLst>
      <p:ext uri="{BB962C8B-B14F-4D97-AF65-F5344CB8AC3E}">
        <p14:creationId xmlns:p14="http://schemas.microsoft.com/office/powerpoint/2010/main" val="108218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380448" y="1340372"/>
            <a:ext cx="8184003" cy="3600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External/Account-specific email subject line format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Account’s initials (i.e., ABC [All Bread Company])</a:t>
            </a:r>
            <a:b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Main topic/Project/Document name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Action to be taken</a:t>
            </a:r>
            <a:endParaRPr lang="en-US" sz="1600" i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Date</a:t>
            </a:r>
            <a:endParaRPr lang="en-US" sz="16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AutoNum type="arabicPeriod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ABC-Weekly Compliance Update-20240703</a:t>
            </a:r>
          </a:p>
          <a:p>
            <a:pPr marL="34925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AutoNum type="arabicPeriod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ABC-QMS-2.1.1.P0-Management Responsibility Program-For Approval-20240703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Subject line</a:t>
            </a:r>
          </a:p>
        </p:txBody>
      </p:sp>
    </p:spTree>
    <p:extLst>
      <p:ext uri="{BB962C8B-B14F-4D97-AF65-F5344CB8AC3E}">
        <p14:creationId xmlns:p14="http://schemas.microsoft.com/office/powerpoint/2010/main" val="316067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3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276726" y="1208023"/>
            <a:ext cx="2911643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When replying to all the recipients and/or forwarding records to the internal team, do not forget to </a:t>
            </a: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click ‘Edit subject’ and remove </a:t>
            </a:r>
            <a:r>
              <a:rPr lang="en-US" sz="18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‘Re</a:t>
            </a: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:’ and/or ‘</a:t>
            </a:r>
            <a:r>
              <a:rPr lang="en-US" sz="1800" b="1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Fwd</a:t>
            </a: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:’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“Reply All” &amp; “Forward”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CE9BE-F0E9-E394-0E85-D4C2DFA24C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68848" y="2206893"/>
            <a:ext cx="1571625" cy="1485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Google Shape;201;p11">
            <a:extLst>
              <a:ext uri="{FF2B5EF4-FFF2-40B4-BE49-F238E27FC236}">
                <a16:creationId xmlns:a16="http://schemas.microsoft.com/office/drawing/2014/main" id="{5FEE8076-A939-38E0-C982-5D8D4B92F355}"/>
              </a:ext>
            </a:extLst>
          </p:cNvPr>
          <p:cNvSpPr txBox="1"/>
          <p:nvPr/>
        </p:nvSpPr>
        <p:spPr>
          <a:xfrm>
            <a:off x="5204041" y="1227878"/>
            <a:ext cx="3615111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i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Reply All</a:t>
            </a:r>
          </a:p>
          <a:p>
            <a:pPr marL="6350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trike="sngStrik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Re: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ABC-Weekly Compliance Update-For INT Approval-20240703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i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Forwarding message</a:t>
            </a:r>
          </a:p>
          <a:p>
            <a:pPr marL="6350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trike="sngStrike" dirty="0" err="1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Fwd</a:t>
            </a:r>
            <a:r>
              <a:rPr lang="en-US" strike="sngStrik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ABC-QMS-2.1.1.P0-Management Responsibility Program-20240703</a:t>
            </a:r>
          </a:p>
        </p:txBody>
      </p:sp>
    </p:spTree>
    <p:extLst>
      <p:ext uri="{BB962C8B-B14F-4D97-AF65-F5344CB8AC3E}">
        <p14:creationId xmlns:p14="http://schemas.microsoft.com/office/powerpoint/2010/main" val="1991271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Formatting</a:t>
            </a:r>
            <a:endParaRPr lang="en-US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380448" y="1340372"/>
            <a:ext cx="8184003" cy="290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Font Style: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Sans Serif</a:t>
            </a: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Font Size: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Normal</a:t>
            </a: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Font Color: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Black</a:t>
            </a: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Background Text Color: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White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 FSQA inquiries or any question/s from the client: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	Client’s question – the word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“Question”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is highlighted in yellow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	CIG response – the word </a:t>
            </a:r>
            <a:r>
              <a:rPr lang="en-US" dirty="0">
                <a:solidFill>
                  <a:schemeClr val="tx1"/>
                </a:solidFill>
                <a:highlight>
                  <a:srgbClr val="00FF00"/>
                </a:highlight>
                <a:latin typeface="Montserrat"/>
                <a:ea typeface="Montserrat"/>
                <a:cs typeface="Montserrat"/>
                <a:sym typeface="Montserrat"/>
              </a:rPr>
              <a:t>“Response”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is highlighted in green</a:t>
            </a:r>
          </a:p>
        </p:txBody>
      </p:sp>
    </p:spTree>
    <p:extLst>
      <p:ext uri="{BB962C8B-B14F-4D97-AF65-F5344CB8AC3E}">
        <p14:creationId xmlns:p14="http://schemas.microsoft.com/office/powerpoint/2010/main" val="1899564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Standard Formatting</a:t>
            </a:r>
            <a:endParaRPr lang="en-US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380448" y="1340372"/>
            <a:ext cx="8184003" cy="2262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 table/s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Header: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center, bold text 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Number sequence: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top center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Contents: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Align top left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Borders: </a:t>
            </a:r>
            <a:r>
              <a:rPr lang="en-US" sz="18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14AE72-0B5F-7DF9-27F0-8FC5A15587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4888" y="3531575"/>
            <a:ext cx="6034224" cy="11801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6133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20" y="314570"/>
            <a:ext cx="8313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Recipients (Client-ready)</a:t>
            </a:r>
            <a:endParaRPr lang="en-US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469232" y="1340372"/>
            <a:ext cx="4271210" cy="244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 INT review and/or approval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List of email recipients is included to verify that the sender has the correct email recipients.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16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E06C1-6F13-D4A8-C7B9-9ADF434E11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87240" y="1520091"/>
            <a:ext cx="3042114" cy="30211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7389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19" y="314570"/>
            <a:ext cx="8664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Receiving email from client</a:t>
            </a:r>
            <a:endParaRPr lang="en-US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469232" y="1340372"/>
            <a:ext cx="7907082" cy="2077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Client’s email can be a: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meeting schedule confirmation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request</a:t>
            </a:r>
          </a:p>
          <a:p>
            <a:pPr marL="6350"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clarification or inquiry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submission of records or documents</a:t>
            </a:r>
          </a:p>
        </p:txBody>
      </p:sp>
    </p:spTree>
    <p:extLst>
      <p:ext uri="{BB962C8B-B14F-4D97-AF65-F5344CB8AC3E}">
        <p14:creationId xmlns:p14="http://schemas.microsoft.com/office/powerpoint/2010/main" val="328687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19" y="314570"/>
            <a:ext cx="8664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Receiving email from client</a:t>
            </a:r>
            <a:endParaRPr lang="en-US" sz="2400" b="1" i="0" u="none" strike="noStrike" cap="none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373619" y="1220057"/>
            <a:ext cx="7807855" cy="3647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18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Acknowledge receipt</a:t>
            </a:r>
          </a:p>
          <a:p>
            <a:pPr marL="292100" lvl="1" indent="-285750" algn="just">
              <a:lnSpc>
                <a:spcPct val="150000"/>
              </a:lnSpc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Reply promptly to acknowledge that you have received the email.</a:t>
            </a:r>
          </a:p>
          <a:p>
            <a:pPr marL="292100" lvl="1" indent="-285750" algn="just">
              <a:lnSpc>
                <a:spcPct val="150000"/>
              </a:lnSpc>
              <a:buClr>
                <a:srgbClr val="004AAD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Include duration on when the request/task will be addressed.</a:t>
            </a:r>
          </a:p>
          <a:p>
            <a:pPr marL="6350" lvl="1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Examples:</a:t>
            </a:r>
          </a:p>
          <a:p>
            <a:pPr marL="6350" lvl="2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Within shift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– meeting schedule confirmation, records/documents 	for 	upload and provided links (that do not require extensive assessment).</a:t>
            </a:r>
          </a:p>
          <a:p>
            <a:pPr marL="6350" lvl="1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2 to 3 business days 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– document (PFL) creation/update, FSQA 	queries, bulk SAP/FSVP/Compliance records for assessment, other 	compliance activities.</a:t>
            </a:r>
          </a:p>
          <a:p>
            <a:pPr marL="6350" lvl="1" algn="just">
              <a:lnSpc>
                <a:spcPct val="150000"/>
              </a:lnSpc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More than 3 business days 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– depends on the project milestone.</a:t>
            </a:r>
          </a:p>
        </p:txBody>
      </p:sp>
    </p:spTree>
    <p:extLst>
      <p:ext uri="{BB962C8B-B14F-4D97-AF65-F5344CB8AC3E}">
        <p14:creationId xmlns:p14="http://schemas.microsoft.com/office/powerpoint/2010/main" val="2175071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19" y="314570"/>
            <a:ext cx="8664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Follow up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email</a:t>
            </a: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373619" y="1376473"/>
            <a:ext cx="8289118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Original and follow-up emails are included in the email thread.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Example: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Sending email for Follow up No. 2 – copy and paste the </a:t>
            </a:r>
            <a:r>
              <a:rPr lang="en-US" i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original/initial and 	follow up no. 1 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emails below the drafted 2</a:t>
            </a:r>
            <a:r>
              <a:rPr lang="en-US" baseline="30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nd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follow up.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16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Follow up interval has a standard of three (3) business days.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 some cases, follow up interval may vary depending on the client’s preference. </a:t>
            </a:r>
            <a:endParaRPr lang="en-US" sz="16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77337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9" name="Google Shape;189;p30"/>
          <p:cNvCxnSpPr/>
          <p:nvPr/>
        </p:nvCxnSpPr>
        <p:spPr>
          <a:xfrm>
            <a:off x="5925030" y="316766"/>
            <a:ext cx="3219000" cy="0"/>
          </a:xfrm>
          <a:prstGeom prst="straightConnector1">
            <a:avLst/>
          </a:prstGeom>
          <a:noFill/>
          <a:ln w="28575" cap="flat" cmpd="sng">
            <a:solidFill>
              <a:srgbClr val="2254C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30"/>
          <p:cNvSpPr/>
          <p:nvPr/>
        </p:nvSpPr>
        <p:spPr>
          <a:xfrm>
            <a:off x="572438" y="4711700"/>
            <a:ext cx="3745018" cy="2400128"/>
          </a:xfrm>
          <a:custGeom>
            <a:avLst/>
            <a:gdLst/>
            <a:ahLst/>
            <a:cxnLst/>
            <a:rect l="l" t="t" r="r" b="b"/>
            <a:pathLst>
              <a:path w="9727319" h="3106962" extrusionOk="0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3" name="Google Shape;1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3175" y="4541225"/>
            <a:ext cx="1204824" cy="4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0;p11">
            <a:extLst>
              <a:ext uri="{FF2B5EF4-FFF2-40B4-BE49-F238E27FC236}">
                <a16:creationId xmlns:a16="http://schemas.microsoft.com/office/drawing/2014/main" id="{00994532-2321-69BA-F997-719D83AB4CB2}"/>
              </a:ext>
            </a:extLst>
          </p:cNvPr>
          <p:cNvSpPr txBox="1"/>
          <p:nvPr/>
        </p:nvSpPr>
        <p:spPr>
          <a:xfrm>
            <a:off x="740714" y="880209"/>
            <a:ext cx="763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Email Etiquette</a:t>
            </a:r>
          </a:p>
        </p:txBody>
      </p:sp>
      <p:sp>
        <p:nvSpPr>
          <p:cNvPr id="4" name="Google Shape;208;p12">
            <a:extLst>
              <a:ext uri="{FF2B5EF4-FFF2-40B4-BE49-F238E27FC236}">
                <a16:creationId xmlns:a16="http://schemas.microsoft.com/office/drawing/2014/main" id="{480E6FD9-2F3C-391B-4A41-C84B74454465}"/>
              </a:ext>
            </a:extLst>
          </p:cNvPr>
          <p:cNvSpPr txBox="1"/>
          <p:nvPr/>
        </p:nvSpPr>
        <p:spPr>
          <a:xfrm>
            <a:off x="373619" y="314570"/>
            <a:ext cx="8664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COMPANY (CIG) FORMAT – </a:t>
            </a:r>
            <a:r>
              <a:rPr lang="en-US" sz="2400" b="1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Follow up</a:t>
            </a:r>
            <a:r>
              <a:rPr lang="en-US" sz="2400" b="1" i="0" u="none" strike="noStrike" cap="none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email</a:t>
            </a:r>
          </a:p>
        </p:txBody>
      </p:sp>
      <p:sp>
        <p:nvSpPr>
          <p:cNvPr id="5" name="Google Shape;201;p11">
            <a:extLst>
              <a:ext uri="{FF2B5EF4-FFF2-40B4-BE49-F238E27FC236}">
                <a16:creationId xmlns:a16="http://schemas.microsoft.com/office/drawing/2014/main" id="{DA175AE3-483E-5908-EE10-B2D63C1D23DB}"/>
              </a:ext>
            </a:extLst>
          </p:cNvPr>
          <p:cNvSpPr txBox="1"/>
          <p:nvPr/>
        </p:nvSpPr>
        <p:spPr>
          <a:xfrm>
            <a:off x="373619" y="1304281"/>
            <a:ext cx="8168802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 clients who do not prefer follow ups through email: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Utilize the agenda and minutes of the meeting. </a:t>
            </a:r>
            <a:endParaRPr lang="en-US" sz="16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endParaRPr lang="en-US" sz="800" b="1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9210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 clients who took long time to response, and already reached the 3</a:t>
            </a:r>
            <a:r>
              <a:rPr lang="en-US" sz="1600" baseline="300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rd</a:t>
            </a: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 follow up:</a:t>
            </a:r>
          </a:p>
          <a:p>
            <a:pPr marL="6350"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AAD"/>
              </a:buClr>
              <a:buSzPts val="2000"/>
            </a:pPr>
            <a:r>
              <a:rPr lang="en-US" sz="1600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r>
              <a:rPr lang="en-US" dirty="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Request assistance from the Customer Success Team to do the follow up via 	phone call.</a:t>
            </a:r>
            <a:endParaRPr lang="en-US" sz="1200" dirty="0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222861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914</Words>
  <Application>Microsoft Office PowerPoint</Application>
  <PresentationFormat>On-screen Show (16:9)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Wingdings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Consultare Inc. Group</dc:creator>
  <cp:lastModifiedBy>HP</cp:lastModifiedBy>
  <cp:revision>23</cp:revision>
  <dcterms:modified xsi:type="dcterms:W3CDTF">2024-07-05T05:13:09Z</dcterms:modified>
</cp:coreProperties>
</file>