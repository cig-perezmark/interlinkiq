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8288000" cy="10287000"/>
  <p:notesSz cx="6858000" cy="9144000"/>
  <p:embeddedFontLst>
    <p:embeddedFont>
      <p:font typeface="Montserrat" charset="0"/>
      <p:regular r:id="rId13"/>
      <p:bold r:id="rId14"/>
      <p:italic r:id="rId15"/>
      <p:boldItalic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Barlow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9IVGB3E3YdX/lPula9OOnJIw1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9"/>
  </p:normalViewPr>
  <p:slideViewPr>
    <p:cSldViewPr snapToGrid="0">
      <p:cViewPr varScale="1">
        <p:scale>
          <a:sx n="39" d="100"/>
          <a:sy n="39" d="100"/>
        </p:scale>
        <p:origin x="-86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97105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1EF2E240-968E-FBC9-D6F5-92ECEDEF6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088AFFEC-4362-903B-8714-4D6F530FF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514AC923-2D36-2268-D097-029570EC9A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916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4E750362-544C-3119-3398-9C26194DE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68EE2D34-11B0-F837-D6A0-81513B745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5B8548EC-1373-D7BD-BE24-505A52724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5195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1349A6C0-1B63-94FC-8FB9-40014F40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995106A0-8F59-AB51-C150-A0EC4263D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8BC8EE5E-F454-F516-C7A3-0DD309AEA0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7539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7B550C60-1CB7-3A76-FCAD-10201B04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72924DA1-67D4-CB83-AF4E-8A855AAE0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AA4BF838-96A7-1C7F-15ED-6C04021CA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9636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7EE26777-6147-51CF-92D1-015889BB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9A52669B-ACD6-2852-D186-B7848216E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441F5E49-5789-7E2D-F90E-614DD4F16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8584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4F8B1CC5-2907-40AB-5BCC-E7C0AC79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5AC05445-C783-CDB0-E919-B894303FD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94DC6F6B-55A9-89BA-2726-EA5072253B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035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69B8516C-BD79-4035-F637-4FF2C57B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F06A1DF7-4EE4-BC64-C83A-6F5CE2F04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17735311-2B65-7851-F707-C76CDAEDA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980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BE5535AD-110E-B043-AA6A-3FFA7EF6B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26A6962A-2AD8-11D2-FEFE-6C3DA72055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C1538EBA-1507-0421-911D-77359A72E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513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="" xmlns:a16="http://schemas.microsoft.com/office/drawing/2014/main" id="{863FA913-AD43-6510-7BE6-23B0E42C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="" xmlns:a16="http://schemas.microsoft.com/office/drawing/2014/main" id="{E505BF58-F8C4-8988-925B-2C5E15579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="" xmlns:a16="http://schemas.microsoft.com/office/drawing/2014/main" id="{FC109D29-845B-0C5E-0C82-E810E56E9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6753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1111642">
            <a:off x="11891140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/>
          <p:cNvSpPr/>
          <p:nvPr/>
        </p:nvSpPr>
        <p:spPr>
          <a:xfrm>
            <a:off x="4318441" y="92583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/>
          <p:cNvGrpSpPr/>
          <p:nvPr/>
        </p:nvGrpSpPr>
        <p:grpSpPr>
          <a:xfrm>
            <a:off x="0" y="1281242"/>
            <a:ext cx="19005175" cy="2913049"/>
            <a:chOff x="0" y="1281242"/>
            <a:chExt cx="19005175" cy="2913049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2774575" y="1578190"/>
              <a:ext cx="16230600" cy="109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4AAD"/>
                  </a:solidFill>
                  <a:latin typeface="Barlow"/>
                  <a:ea typeface="Barlow"/>
                  <a:cs typeface="Barlow"/>
                  <a:sym typeface="Barlow"/>
                </a:rPr>
                <a:t>CONSULTARE INC. GROUP</a:t>
              </a:r>
              <a:r>
                <a:rPr lang="en-US" sz="71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2774576" y="2480546"/>
              <a:ext cx="13601700" cy="10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i="0" u="none" strike="noStrike" cap="none" dirty="0">
                  <a:solidFill>
                    <a:srgbClr val="00B0F0"/>
                  </a:solidFill>
                  <a:latin typeface="Barlow"/>
                  <a:ea typeface="Barlow"/>
                  <a:cs typeface="Barlow"/>
                  <a:sym typeface="Barlow"/>
                </a:rPr>
                <a:t>A Compliance Co.</a:t>
              </a:r>
              <a:endParaRPr sz="400" b="0" i="0" u="none" strike="noStrike" cap="none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"/>
          <p:cNvSpPr txBox="1"/>
          <p:nvPr/>
        </p:nvSpPr>
        <p:spPr>
          <a:xfrm>
            <a:off x="1256432" y="4841879"/>
            <a:ext cx="1124036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6000" b="1" dirty="0">
                <a:solidFill>
                  <a:srgbClr val="0070C0"/>
                </a:solidFill>
                <a:latin typeface="Songti SC" panose="02010600040101010101" pitchFamily="2" charset="-122"/>
                <a:ea typeface="Songti SC" panose="02010600040101010101" pitchFamily="2" charset="-122"/>
                <a:cs typeface="Malayalam MN" pitchFamily="2" charset="0"/>
              </a:rPr>
              <a:t>HOW TO CREATE MEETING MINUTES</a:t>
            </a:r>
            <a:endParaRPr sz="6000" b="1" u="none" strike="noStrike" cap="none" dirty="0">
              <a:solidFill>
                <a:srgbClr val="0070C0"/>
              </a:solidFill>
              <a:latin typeface="Songti SC" panose="02010600040101010101" pitchFamily="2" charset="-122"/>
              <a:ea typeface="Songti SC" panose="02010600040101010101" pitchFamily="2" charset="-122"/>
              <a:cs typeface="Malayalam MN" pitchFamily="2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40674FEC-7262-C77B-E16A-60F77E5B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816EA52D-AAEF-7C51-CD6A-C12A86EA005F}"/>
              </a:ext>
            </a:extLst>
          </p:cNvPr>
          <p:cNvSpPr/>
          <p:nvPr/>
        </p:nvSpPr>
        <p:spPr>
          <a:xfrm rot="-1111642">
            <a:off x="11967780" y="899566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2E760027-840F-1DB1-63BE-D910AE59979A}"/>
              </a:ext>
            </a:extLst>
          </p:cNvPr>
          <p:cNvSpPr/>
          <p:nvPr/>
        </p:nvSpPr>
        <p:spPr>
          <a:xfrm>
            <a:off x="3741972" y="8556500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523C5A55-30EE-2D02-F2C2-553A2C85A628}"/>
              </a:ext>
            </a:extLst>
          </p:cNvPr>
          <p:cNvGrpSpPr/>
          <p:nvPr/>
        </p:nvGrpSpPr>
        <p:grpSpPr>
          <a:xfrm>
            <a:off x="0" y="669979"/>
            <a:ext cx="19005175" cy="2316723"/>
            <a:chOff x="0" y="1281242"/>
            <a:chExt cx="19005175" cy="2913049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123199E5-E6D8-EE27-2B48-57F5AAFAB00D}"/>
                </a:ext>
              </a:extLst>
            </p:cNvPr>
            <p:cNvSpPr txBox="1"/>
            <p:nvPr/>
          </p:nvSpPr>
          <p:spPr>
            <a:xfrm>
              <a:off x="2774575" y="1578190"/>
              <a:ext cx="16230600" cy="20470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7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WHAT IS MEETING MINUTES?</a:t>
              </a:r>
              <a:r>
                <a:rPr lang="en-US" sz="71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sz="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67F89385-87FE-C58A-AF5C-86C0E7E4664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56429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1">
            <a:extLst>
              <a:ext uri="{FF2B5EF4-FFF2-40B4-BE49-F238E27FC236}">
                <a16:creationId xmlns="" xmlns:a16="http://schemas.microsoft.com/office/drawing/2014/main" id="{B2FF9714-47C2-8FD4-528F-3C91AE3B85B2}"/>
              </a:ext>
            </a:extLst>
          </p:cNvPr>
          <p:cNvSpPr txBox="1"/>
          <p:nvPr/>
        </p:nvSpPr>
        <p:spPr>
          <a:xfrm>
            <a:off x="1311964" y="3419061"/>
            <a:ext cx="12599493" cy="512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320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  <a:cs typeface="Malayalam MN" pitchFamily="2" charset="0"/>
              </a:rPr>
              <a:t>Meeting minutes are a written record of the discussions, decisions, and actions that take place during a meeting. They serve as an official and structured document that helps participants, as well as those who were unable to attend, understand what transpired during the meeting. Meeting minutes provide a comprehensive overview of key points, outcomes, and action items, ensuring accountability and facilitating communication among team members.</a:t>
            </a:r>
            <a:endParaRPr lang="en-US" sz="3200" dirty="0">
              <a:latin typeface="Songti SC" panose="02010600040101010101" pitchFamily="2" charset="-122"/>
              <a:ea typeface="Songti SC" panose="02010600040101010101" pitchFamily="2" charset="-122"/>
              <a:cs typeface="Malayalam MN" pitchFamily="2" charset="0"/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8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2E593E8E-86F5-19A5-DF1E-FAED6C5A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23EDC0D5-E646-E70E-F53D-90BE3D7D2E98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B0EE7C95-9FCF-21F9-6B92-0FD12B48A6FA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534DC628-C70D-CFBD-C9D5-3AFA59A3D86B}"/>
              </a:ext>
            </a:extLst>
          </p:cNvPr>
          <p:cNvGrpSpPr/>
          <p:nvPr/>
        </p:nvGrpSpPr>
        <p:grpSpPr>
          <a:xfrm>
            <a:off x="415235" y="655255"/>
            <a:ext cx="16207251" cy="2913049"/>
            <a:chOff x="0" y="1281242"/>
            <a:chExt cx="16207251" cy="2913049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A880008D-A0C8-2344-F59F-9935475CEFD7}"/>
                </a:ext>
              </a:extLst>
            </p:cNvPr>
            <p:cNvSpPr txBox="1"/>
            <p:nvPr/>
          </p:nvSpPr>
          <p:spPr>
            <a:xfrm>
              <a:off x="2774575" y="1578190"/>
              <a:ext cx="13432676" cy="23945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 smtClean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IMPORTANCE </a:t>
              </a: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OF MEETING MINUTES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2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Creating well-organized and clear meeting minutes is crucial for their effectiveness in </a:t>
              </a:r>
              <a:r>
                <a:rPr lang="en-US" sz="3200" b="0" i="0" dirty="0" smtClean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conveying </a:t>
              </a:r>
              <a:r>
                <a:rPr lang="en-US" sz="32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the information discussed during the meeting.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44F7FBF6-B1FD-EC62-FCF3-DA0548D63721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9130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FA62BC9-B988-B094-8EC1-F0E24B920FD8}"/>
              </a:ext>
            </a:extLst>
          </p:cNvPr>
          <p:cNvSpPr txBox="1"/>
          <p:nvPr/>
        </p:nvSpPr>
        <p:spPr>
          <a:xfrm>
            <a:off x="846667" y="3568304"/>
            <a:ext cx="154262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provide a historical record of what was discussed and decided upon in meetings.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Reference: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refer back to the minutes to recall details and commitments.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Accountability: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Action items and responsibilities are clearly documented, holding individuals accountable for their tasks.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Communication: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means of communication to those who couldn't attend the meeting.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1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Legal and Compliance: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In some cases, meeting minutes may be required for legal or compliance reasons.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9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CC4F51FC-2241-AAFE-C8A4-6C9E3358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AEDB4A93-D0F0-0460-896B-80F35732D838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BDE3B0FE-8D10-D90F-5F1D-8B295B5EE732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B6AF8860-3A67-253C-838E-209FCEED5DB1}"/>
              </a:ext>
            </a:extLst>
          </p:cNvPr>
          <p:cNvGrpSpPr/>
          <p:nvPr/>
        </p:nvGrpSpPr>
        <p:grpSpPr>
          <a:xfrm>
            <a:off x="0" y="-159026"/>
            <a:ext cx="17005845" cy="2961861"/>
            <a:chOff x="0" y="1281242"/>
            <a:chExt cx="16691594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BFC6DF85-5528-83B8-6675-67A87D5AB6A0}"/>
                </a:ext>
              </a:extLst>
            </p:cNvPr>
            <p:cNvSpPr txBox="1"/>
            <p:nvPr/>
          </p:nvSpPr>
          <p:spPr>
            <a:xfrm>
              <a:off x="2731532" y="1749666"/>
              <a:ext cx="13960062" cy="13252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8F8AC640-7B57-E21A-A110-47D5C61CE595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AB69348-406D-B8D5-A40F-A3A7692184C1}"/>
              </a:ext>
            </a:extLst>
          </p:cNvPr>
          <p:cNvSpPr txBox="1"/>
          <p:nvPr/>
        </p:nvSpPr>
        <p:spPr>
          <a:xfrm>
            <a:off x="1013790" y="2937266"/>
            <a:ext cx="1441173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Document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ation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Record of Discussions: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provide a written record of what was discussed during the meeting, ensuring that important details are documented.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Decision Tracking: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capture decisions made during the meeting, including the rationale behind those decisions.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Reference Material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Historical Record: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historical reference, allowing participants to recall past discussions, decisions, and actions.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Context for Future Meetings: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provide context for future meetings, helping participants understand the progression of topics and decisions.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Accountability</a:t>
            </a:r>
            <a:endParaRPr lang="en-US" sz="2800" b="0" i="0" dirty="0">
              <a:solidFill>
                <a:schemeClr val="tx1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Action Items: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clearly outline action items assigned to specific individuals, ensuring accountability and follow-through.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Responsibility Allocation: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refer to the minutes to confirm their responsibilities and commitments.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76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EBF35FED-813F-C63D-66FA-CE7369C35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DAA8DD03-70B7-A4CD-0350-CFA67DE6E4E9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971F832C-7255-FF95-4C02-FCFA1FAA712F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05057AFE-8866-C1AC-E244-2302F017A5B2}"/>
              </a:ext>
            </a:extLst>
          </p:cNvPr>
          <p:cNvGrpSpPr/>
          <p:nvPr/>
        </p:nvGrpSpPr>
        <p:grpSpPr>
          <a:xfrm>
            <a:off x="0" y="-159026"/>
            <a:ext cx="17389928" cy="2961861"/>
            <a:chOff x="0" y="1281242"/>
            <a:chExt cx="17068580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5B86D2A5-0FFB-A1F7-37D9-200C65B54A90}"/>
                </a:ext>
              </a:extLst>
            </p:cNvPr>
            <p:cNvSpPr txBox="1"/>
            <p:nvPr/>
          </p:nvSpPr>
          <p:spPr>
            <a:xfrm>
              <a:off x="3007110" y="1749666"/>
              <a:ext cx="14061470" cy="1361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FF04EA50-B2A9-CCA0-7363-588D72DE52C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6D992DB-E16D-7350-AE65-6A7C8A6AD168}"/>
              </a:ext>
            </a:extLst>
          </p:cNvPr>
          <p:cNvSpPr txBox="1"/>
          <p:nvPr/>
        </p:nvSpPr>
        <p:spPr>
          <a:xfrm>
            <a:off x="1073426" y="2802835"/>
            <a:ext cx="14829183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4. Communication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Information Sharing: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serve as a communication tool for those who couldn't attend the meeting, keeping everyone informed about what transpired.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Consistency: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help maintain consistency in communication by ensuring that all participants receive the same information.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5. Legal Protection and Compliance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Documentation for Legal Purposes: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In certain situations, meeting minutes can serve as legal documents, providing evidence of discussions, decisions, and actions.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Compliance Requirements: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Some organizations, especially in regulated industries, may be required to maintain meeting minutes as part of compliance with legal or industry standards.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6. Efficiency and Focus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Guidance for Future Meetings: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help structure and guide future meetings by providing a clear agenda and action items from previous meetings.</a:t>
            </a:r>
          </a:p>
          <a:p>
            <a:pPr marL="457200" lvl="1"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Time Management: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quickly review minutes to get a concise overview of the meeting without rehashing all discussions.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5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16AB0D0A-3FFE-A13C-53F3-E793F32E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C07A2462-17A5-3777-7249-CD4A30E3892D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0BE1699C-23BA-46A6-A206-FEBF953D830E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87BD43F1-21CA-85EE-D48B-00A2943D0711}"/>
              </a:ext>
            </a:extLst>
          </p:cNvPr>
          <p:cNvGrpSpPr/>
          <p:nvPr/>
        </p:nvGrpSpPr>
        <p:grpSpPr>
          <a:xfrm>
            <a:off x="0" y="-159026"/>
            <a:ext cx="17005847" cy="2961861"/>
            <a:chOff x="0" y="1281242"/>
            <a:chExt cx="1669159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B92E24EF-81E9-B71F-85BA-B9EC112D52E0}"/>
                </a:ext>
              </a:extLst>
            </p:cNvPr>
            <p:cNvSpPr txBox="1"/>
            <p:nvPr/>
          </p:nvSpPr>
          <p:spPr>
            <a:xfrm>
              <a:off x="2731532" y="1749666"/>
              <a:ext cx="13960063" cy="13252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BENEFITS OF MEETING MINUTES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36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Meeting minutes offer several benefits, both during and after the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18590317-A469-4684-906F-42D9F012BB0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F98D481-112C-65D6-E15A-1EF8C439D540}"/>
              </a:ext>
            </a:extLst>
          </p:cNvPr>
          <p:cNvSpPr txBox="1"/>
          <p:nvPr/>
        </p:nvSpPr>
        <p:spPr>
          <a:xfrm>
            <a:off x="1073426" y="2802835"/>
            <a:ext cx="15385774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7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 Strategic Planning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Strategic Insights: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Over time, reviewing meeting minutes can offer insights into long-term strategies, goals, and challenges.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Trend Analysis: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Consistent documentation allows for trend analysis, helping organizations identify recurring themes and issues.</a:t>
            </a:r>
          </a:p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8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Facilitates Decision-Making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-Informed Decision-Making: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Participants can make more informed decisions by referring to the documented information in meeting minutes.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-Context for Decision Rationale: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 minutes provide the context and rationale behind decisions, aiding understanding.</a:t>
            </a:r>
          </a:p>
          <a:p>
            <a:pPr algn="l"/>
            <a:r>
              <a:rPr lang="en-US" sz="2800" b="1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9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. Team Collaboration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Shared Understanding: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Minutes contribute to a shared understanding among team members, fostering collaboration and alignment.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Reduced Miscommunication: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They help reduce miscommunication by providing a written record of discussions and decisions.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3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0A280FE1-9E3E-BC12-32B2-CF488654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8F2849A6-B129-1B7F-384E-16A73295BA7B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E2605D89-2EED-BF86-F536-E00C7260A576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054462A8-9914-4C40-2840-E894A07F90D0}"/>
              </a:ext>
            </a:extLst>
          </p:cNvPr>
          <p:cNvGrpSpPr/>
          <p:nvPr/>
        </p:nvGrpSpPr>
        <p:grpSpPr>
          <a:xfrm>
            <a:off x="0" y="-159026"/>
            <a:ext cx="18075729" cy="2961861"/>
            <a:chOff x="0" y="1281242"/>
            <a:chExt cx="17741707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465DA3C8-0607-9557-32E2-A3BE5660F87D}"/>
                </a:ext>
              </a:extLst>
            </p:cNvPr>
            <p:cNvSpPr txBox="1"/>
            <p:nvPr/>
          </p:nvSpPr>
          <p:spPr>
            <a:xfrm>
              <a:off x="2926976" y="1749666"/>
              <a:ext cx="14814731" cy="1457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</a:t>
              </a:r>
              <a:r>
                <a:rPr lang="en-US" sz="4000" b="1" dirty="0" smtClean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CREATE </a:t>
              </a: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1" i="0" u="none" strike="noStrike" cap="none" dirty="0">
                  <a:solidFill>
                    <a:srgbClr val="004AA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Creating effective meeting minutes is crucial for documenting discussions, decisions, and </a:t>
              </a:r>
              <a:r>
                <a:rPr lang="en-US" sz="2800" b="0" i="0" dirty="0" smtClean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action items </a:t>
              </a: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during a meeting</a:t>
              </a:r>
              <a:r>
                <a:rPr lang="en-US" sz="40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.</a:t>
              </a:r>
              <a:endParaRPr lang="en-US" sz="32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CE239F4A-A8B1-7AB2-DD61-062EE13CDABE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1372DE8-48F3-81F6-541D-9167A0F28908}"/>
              </a:ext>
            </a:extLst>
          </p:cNvPr>
          <p:cNvSpPr txBox="1"/>
          <p:nvPr/>
        </p:nvSpPr>
        <p:spPr>
          <a:xfrm>
            <a:off x="650092" y="3035872"/>
            <a:ext cx="1538577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Header Information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Title: Clearly state that the document is the minutes of the meeting.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Date and Time: Specify when the meeting took place.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Location: Mention the venue or the platform used for the meeting.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Attendance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List the names of all attendees.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Differentiate between those physically present and those attending virtually.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Agenda Review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Briefly outline the agenda items that were discussed during the meeting.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 Meeting Start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the time the meeting officially started.</a:t>
            </a:r>
          </a:p>
          <a:p>
            <a:pPr algn="l"/>
            <a:r>
              <a:rPr lang="en-US" sz="2800" dirty="0">
                <a:solidFill>
                  <a:srgbClr val="0D0D0D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5. 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Note-Taker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Identify the person responsible for taking the minutes.</a:t>
            </a:r>
          </a:p>
          <a:p>
            <a:pPr marL="457200" lvl="1"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6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E9C66DAA-FC9A-8CCB-B75C-410009EAD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6A094FF7-4235-0C86-C7DC-625092A474ED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8AD11385-1D19-8E77-1F7E-09F228BF077D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C9D0E772-5E59-104E-6C0A-3647002DF79B}"/>
              </a:ext>
            </a:extLst>
          </p:cNvPr>
          <p:cNvGrpSpPr/>
          <p:nvPr/>
        </p:nvGrpSpPr>
        <p:grpSpPr>
          <a:xfrm>
            <a:off x="0" y="-159026"/>
            <a:ext cx="16476134" cy="2961861"/>
            <a:chOff x="0" y="1281242"/>
            <a:chExt cx="16171671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67853F29-D1A3-F95B-E96E-BC58AB9C3C7F}"/>
                </a:ext>
              </a:extLst>
            </p:cNvPr>
            <p:cNvSpPr txBox="1"/>
            <p:nvPr/>
          </p:nvSpPr>
          <p:spPr>
            <a:xfrm>
              <a:off x="2926976" y="1749666"/>
              <a:ext cx="13244695" cy="1320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Writing effective meeting minutes involves capturing key information in a clear and concise manner.</a:t>
              </a:r>
              <a:endParaRPr sz="28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B69BB96A-6062-BE16-B170-433C2D92643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825707C-272C-F4DE-A9C8-2083961EDE9E}"/>
              </a:ext>
            </a:extLst>
          </p:cNvPr>
          <p:cNvSpPr txBox="1"/>
          <p:nvPr/>
        </p:nvSpPr>
        <p:spPr>
          <a:xfrm>
            <a:off x="1337734" y="3066533"/>
            <a:ext cx="151384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6. Approval of Previous Minutes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applicable, note whether the minutes from the previous meeting were approved.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7. Discussion and Decisions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key points and decisions made during the meeting.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Note any important discussions, arguments, or suggestions.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8. Action Items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List specific tasks assigned to individuals or groups.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deadlines and responsible parties for each action item.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9. Follow-Up on Previous Action Items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457200" lvl="1"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there were action items from the previous meeting, provide updates on their status.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10. New Business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Document any new topics or issues that were discussed.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137B29FF-8C2F-1878-F17E-F1A85B59D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0F51AE12-DFE6-8DC3-A850-E96CC4B92F79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D2A05199-FD68-7D9E-C624-903DF107F9A5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0E4A4AF3-337B-8579-C798-CE2E5F4AF732}"/>
              </a:ext>
            </a:extLst>
          </p:cNvPr>
          <p:cNvGrpSpPr/>
          <p:nvPr/>
        </p:nvGrpSpPr>
        <p:grpSpPr>
          <a:xfrm>
            <a:off x="0" y="-159026"/>
            <a:ext cx="16573500" cy="2961861"/>
            <a:chOff x="0" y="1281242"/>
            <a:chExt cx="16267238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160AE209-2952-7677-B7A8-3E2C168EE947}"/>
                </a:ext>
              </a:extLst>
            </p:cNvPr>
            <p:cNvSpPr txBox="1"/>
            <p:nvPr/>
          </p:nvSpPr>
          <p:spPr>
            <a:xfrm>
              <a:off x="2926976" y="1749666"/>
              <a:ext cx="13340262" cy="1416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CREAT MEETING MINUTES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The goal is to capture the essential information and actions without including unnecessary details. </a:t>
              </a:r>
            </a:p>
            <a:p>
              <a:pPr marR="0" lvl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</a:pPr>
              <a:r>
                <a:rPr lang="en-US" sz="2800" b="0" i="0" dirty="0">
                  <a:solidFill>
                    <a:srgbClr val="0D0D0D"/>
                  </a:solidFill>
                  <a:effectLst/>
                  <a:latin typeface="Songti SC" panose="02010600040101010101" pitchFamily="2" charset="-122"/>
                  <a:ea typeface="Songti SC" panose="02010600040101010101" pitchFamily="2" charset="-122"/>
                </a:rPr>
                <a:t>Be objective and focus on what is relevant to the purpose of the meeting.</a:t>
              </a:r>
              <a:endParaRPr sz="2800" b="0" i="0" u="none" strike="noStrike" cap="none" dirty="0">
                <a:solidFill>
                  <a:srgbClr val="000000"/>
                </a:solidFill>
                <a:latin typeface="Songti SC" panose="02010600040101010101" pitchFamily="2" charset="-122"/>
                <a:ea typeface="Songti SC" panose="02010600040101010101" pitchFamily="2" charset="-122"/>
                <a:sym typeface="Arial"/>
              </a:endParaRP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D516DAC4-F2C0-731F-8A7B-CF27BC4ACF3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96898D2-C54A-2762-55D7-CF0E5E6B3F59}"/>
              </a:ext>
            </a:extLst>
          </p:cNvPr>
          <p:cNvSpPr txBox="1"/>
          <p:nvPr/>
        </p:nvSpPr>
        <p:spPr>
          <a:xfrm>
            <a:off x="1354667" y="2590800"/>
            <a:ext cx="15697199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11. Announcements: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any relevant announcements made during the meeting.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12. Next Meeting Date and Agenda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known, specify the date and tentative agenda for the next meeting.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13. Adjournment Time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Record the time the meeting officially ended.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14. Signature/Approval Section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If required, provide a space for the chairperson or another authorized person to sign and approve the minutes.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15. </a:t>
            </a:r>
            <a:r>
              <a:rPr lang="en-US" sz="2800" b="1" i="0" dirty="0" smtClean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Formatting and Clarity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Use clear and concise language.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Organize information in a logical order.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Include headings and subheadings for different sections.</a:t>
            </a:r>
          </a:p>
          <a:p>
            <a:pPr algn="l"/>
            <a:r>
              <a:rPr lang="en-US" sz="2800" b="1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16. Review and Distribute</a:t>
            </a:r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Review the minutes for accuracy.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Distribute the finalized minutes to all participants.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8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="" xmlns:a16="http://schemas.microsoft.com/office/drawing/2014/main" id="{F5D962D0-BF66-76E3-C6D8-241149A77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>
            <a:extLst>
              <a:ext uri="{FF2B5EF4-FFF2-40B4-BE49-F238E27FC236}">
                <a16:creationId xmlns="" xmlns:a16="http://schemas.microsoft.com/office/drawing/2014/main" id="{BBD8CDA3-80DD-DBE7-2B7D-3BA7AAA5BE55}"/>
              </a:ext>
            </a:extLst>
          </p:cNvPr>
          <p:cNvSpPr/>
          <p:nvPr/>
        </p:nvSpPr>
        <p:spPr>
          <a:xfrm rot="-1111642">
            <a:off x="11784004" y="899567"/>
            <a:ext cx="10443683" cy="8487866"/>
          </a:xfrm>
          <a:custGeom>
            <a:avLst/>
            <a:gdLst/>
            <a:ahLst/>
            <a:cxnLst/>
            <a:rect l="l" t="t" r="r" b="b"/>
            <a:pathLst>
              <a:path w="10443683" h="8487866" extrusionOk="0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">
            <a:extLst>
              <a:ext uri="{FF2B5EF4-FFF2-40B4-BE49-F238E27FC236}">
                <a16:creationId xmlns="" xmlns:a16="http://schemas.microsoft.com/office/drawing/2014/main" id="{80F5EFC3-C46C-A7C8-98EB-759531183BC3}"/>
              </a:ext>
            </a:extLst>
          </p:cNvPr>
          <p:cNvSpPr/>
          <p:nvPr/>
        </p:nvSpPr>
        <p:spPr>
          <a:xfrm>
            <a:off x="4280340" y="9273278"/>
            <a:ext cx="9727319" cy="3106962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7" name="Google Shape;87;p1">
            <a:extLst>
              <a:ext uri="{FF2B5EF4-FFF2-40B4-BE49-F238E27FC236}">
                <a16:creationId xmlns="" xmlns:a16="http://schemas.microsoft.com/office/drawing/2014/main" id="{E3FF1AB3-34BD-3CC5-5DFB-6D206E19AD6C}"/>
              </a:ext>
            </a:extLst>
          </p:cNvPr>
          <p:cNvGrpSpPr/>
          <p:nvPr/>
        </p:nvGrpSpPr>
        <p:grpSpPr>
          <a:xfrm>
            <a:off x="0" y="-159026"/>
            <a:ext cx="19362984" cy="2961861"/>
            <a:chOff x="0" y="1281242"/>
            <a:chExt cx="19005175" cy="2198842"/>
          </a:xfrm>
        </p:grpSpPr>
        <p:sp>
          <p:nvSpPr>
            <p:cNvPr id="88" name="Google Shape;88;p1">
              <a:extLst>
                <a:ext uri="{FF2B5EF4-FFF2-40B4-BE49-F238E27FC236}">
                  <a16:creationId xmlns="" xmlns:a16="http://schemas.microsoft.com/office/drawing/2014/main" id="{B5217DAB-7B85-01AB-FEF2-EE7CFCF91CAA}"/>
                </a:ext>
              </a:extLst>
            </p:cNvPr>
            <p:cNvSpPr txBox="1"/>
            <p:nvPr/>
          </p:nvSpPr>
          <p:spPr>
            <a:xfrm>
              <a:off x="2926976" y="1749666"/>
              <a:ext cx="16078199" cy="680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0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HOW TO </a:t>
              </a:r>
              <a:r>
                <a:rPr lang="en-US" sz="4000" b="1" dirty="0" smtClean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CREATE </a:t>
              </a:r>
              <a:r>
                <a:rPr lang="en-US" sz="4000" b="1" dirty="0">
                  <a:solidFill>
                    <a:srgbClr val="004AAD"/>
                  </a:solidFill>
                  <a:latin typeface="Barlow"/>
                  <a:ea typeface="Montserrat"/>
                  <a:cs typeface="Montserrat"/>
                  <a:sym typeface="Barlow"/>
                </a:rPr>
                <a:t>MEETING MINUTES</a:t>
              </a:r>
            </a:p>
          </p:txBody>
        </p:sp>
        <p:pic>
          <p:nvPicPr>
            <p:cNvPr id="90" name="Google Shape;90;p1">
              <a:extLst>
                <a:ext uri="{FF2B5EF4-FFF2-40B4-BE49-F238E27FC236}">
                  <a16:creationId xmlns="" xmlns:a16="http://schemas.microsoft.com/office/drawing/2014/main" id="{47C5BB63-F95E-48FB-7AF4-E7320284D3B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r="67343"/>
            <a:stretch/>
          </p:blipFill>
          <p:spPr>
            <a:xfrm>
              <a:off x="0" y="1281242"/>
              <a:ext cx="2926976" cy="21988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55BFD7A-5D94-67A1-433B-B7CB30FC3C3E}"/>
              </a:ext>
            </a:extLst>
          </p:cNvPr>
          <p:cNvSpPr txBox="1"/>
          <p:nvPr/>
        </p:nvSpPr>
        <p:spPr>
          <a:xfrm>
            <a:off x="1354667" y="2590800"/>
            <a:ext cx="156971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dirty="0">
              <a:solidFill>
                <a:srgbClr val="0D0D0D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Remember that the goal is to create a document that is easy to understand and serves as a reliable reference for participants. Tailor the level of detail to the nature of the meeting and the needs of your organization or team.</a:t>
            </a:r>
          </a:p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dirty="0">
              <a:solidFill>
                <a:srgbClr val="0D0D0D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algn="l"/>
            <a:r>
              <a:rPr lang="en-US" sz="2800" b="0" i="0" dirty="0">
                <a:solidFill>
                  <a:srgbClr val="0D0D0D"/>
                </a:solidFill>
                <a:effectLst/>
                <a:latin typeface="Songti SC" panose="02010600040101010101" pitchFamily="2" charset="-122"/>
                <a:ea typeface="Songti SC" panose="02010600040101010101" pitchFamily="2" charset="-122"/>
              </a:rPr>
              <a:t>Overall, meeting minutes are a valuable tool for effective communication, decision-making, accountability, and organizational memory. They contribute to the overall efficiency and success of teams and organizations by ensuring that important information is captured and shared appropriately.</a:t>
            </a:r>
            <a:endParaRPr lang="en-US" sz="2800" dirty="0"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644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1160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Montserrat</vt:lpstr>
      <vt:lpstr>Malayalam MN</vt:lpstr>
      <vt:lpstr>Calibri</vt:lpstr>
      <vt:lpstr>Songti SC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lenovo</cp:lastModifiedBy>
  <cp:revision>9</cp:revision>
  <dcterms:created xsi:type="dcterms:W3CDTF">2006-08-16T00:00:00Z</dcterms:created>
  <dcterms:modified xsi:type="dcterms:W3CDTF">2024-02-21T15:47:13Z</dcterms:modified>
</cp:coreProperties>
</file>